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12"/>
    <p:sldId id="271" r:id="rId11"/>
    <p:sldId id="272" r:id="rId10"/>
    <p:sldId id="273" r:id="rId9"/>
    <p:sldId id="274" r:id="rId8"/>
    <p:sldId id="275" r:id="rId31"/>
    <p:sldId id="276" r:id="rId32"/>
    <p:sldId id="277" r:id="rId33"/>
    <p:sldId id="278" r:id="rId34"/>
    <p:sldId id="279" r:id="rId35"/>
    <p:sldId id="280" r:id="rId36"/>
    <p:sldId id="281" r:id="rId37"/>
  </p:sldIdLst>
  <p:sldSz cy="6858000" cx="9144000"/>
  <p:notesSz cx="6858000" cy="9144000"/>
  <p:embeddedFontLst>
    <p:embeddedFont>
      <p:font typeface="Book Antiqua"/>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hoZRXoOoGcVadkX3hcW+HQNfZY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1F2ABE-EC29-40DC-8FD3-53A35952C46C}">
  <a:tblStyle styleId="{6C1F2ABE-EC29-40DC-8FD3-53A35952C46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19.xml"/><Relationship Id="rId9" Type="http://schemas.openxmlformats.org/officeDocument/2006/relationships/slide" Target="slides/slide18.xml"/><Relationship Id="rId10" Type="http://schemas.openxmlformats.org/officeDocument/2006/relationships/slide" Target="slides/slide17.xml"/><Relationship Id="rId11" Type="http://schemas.openxmlformats.org/officeDocument/2006/relationships/slide" Target="slides/slide16.xml"/><Relationship Id="rId12" Type="http://schemas.openxmlformats.org/officeDocument/2006/relationships/slide" Target="slides/slide15.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font" Target="fonts/BookAntiqua-regular.fntdata"/><Relationship Id="rId27" Type="http://schemas.openxmlformats.org/officeDocument/2006/relationships/font" Target="fonts/BookAntiqua-bold.fntdata"/><Relationship Id="rId28" Type="http://schemas.openxmlformats.org/officeDocument/2006/relationships/font" Target="fonts/BookAntiqua-italic.fntdata"/><Relationship Id="rId29" Type="http://schemas.openxmlformats.org/officeDocument/2006/relationships/font" Target="fonts/BookAntiqua-boldItalic.fntdata"/><Relationship Id="rId30" Type="http://customschemas.google.com/relationships/presentationmetadata" Target="metadata"/><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91425" lIns="91425" spcFirstLastPara="1" rIns="91425" wrap="square" tIns="914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1:notes"/>
          <p:cNvSpPr txBox="1"/>
          <p:nvPr>
            <p:ph idx="1" type="body"/>
          </p:nvPr>
        </p:nvSpPr>
        <p:spPr>
          <a:xfrm>
            <a:off x="685800" y="4400550"/>
            <a:ext cx="5486400" cy="3600450"/>
          </a:xfrm>
          <a:prstGeom prst="rect">
            <a:avLst/>
          </a:prstGeom>
          <a:noFill/>
          <a:ln>
            <a:noFill/>
          </a:ln>
        </p:spPr>
        <p:txBody>
          <a:bodyPr anchorCtr="0" anchor="ctr" bIns="91425" lIns="91425" spcFirstLastPara="1" rIns="91425" wrap="square" tIns="91425">
            <a:noAutofit/>
          </a:bodyPr>
          <a:lstStyle/>
          <a:p>
            <a:r>
              <a:t>Good morning. We are presenting the second review of our capstone project on explainable employee burnout detection.</a:t>
            </a:r>
          </a:p>
        </p:txBody>
      </p:sp>
      <p:sp>
        <p:nvSpPr>
          <p:cNvPr id="71" name="Google Shape;71;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Rather than make the panel hunt for evidence, we have mapped the deck directly onto the five evaluation criteria. Each slide carries a tag in the top right showing which criterion it answers.</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we committed to at topic approval is finished, and we have added two workstreams beyond the approved scope: document ingestion with OCR, and a quantum machine-learning comparative study.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Burnout is recognised by the WHO as an occupational phenomenon, but organisations detect it late because they rely on periodic surveys. Workplace communication carries the signal continuously. The problem is that existing ML approaches give you a number with no reason, and language models give you a fluent reason that may be invented.</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aim is one sentence: detect burnout risk from communication, and explain every decision using only the evidence that produced it. We broke that into six objectives, each with a measurable outcome. All six are complete.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literature review covers three threads. The first is burnout measurement itself — the WHO classification and the Maslach inventory. The key finding is that the ML literature overwhelmingly uses self-report and HR data rather than natural language. The second thread is the transformer line that gives us our sentiment classifier.</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third thread is retrieval-augmented generation. Lewis and colleagues showed that combining model weights with an external index improves both accuracy and provenance. Sentence-BERT is what makes it fast enough to be interactive — it turns hours of pairwise comparison into seconds.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surveyed the commercial landscape. Survey tools are auditable but infrequent. Workplace analytics is continuous but only reads metadata — who mailed whom, not what they said. A generic chatbot explains fluently but cannot be audited. Nothing occupies the intersection: continuous, content-aware, and evidence-backed.</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gives us our gap. Prior work treats detection and explanation as one problem, which forces a choice between accuracy and explainability. Our contribution is architectural: we separate them, and we enforce the separation with a contract. That is the novelty we are claiming — not a bigger model.</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complete system. Four sequential stages, colour-coded by owner, joined by a single contract in the centre. Stage one is data. Stage two is the machine-learning pipeline. The gold box is the contract. Stage three is the RAG backend. Stage four is the dashboard. On the right is the quantum study, which reads the same contract independently.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single most important design decision is the contract. The whole system meets at one file. Because risk level is echoed rather than regenerated, the language model is structurally incapable of changing someone's risk band — that is not a prompt instruction, it is an architectural guarantee. We verified the read-only property with git diff and MD5 checksums.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Zooming into stage three. Seven modules, each with one responsibility. Two choices worth calling out: embeddings are L2-normalised so cosine similarity becomes a dot product, which is cheaper; and the LLM client is a registry behind an abstract base, so switching from OpenAI to a local Llama model is a one-line change in the .env file with no code modification.</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designed for failure explicitly. Every layer degrades rather than failing. If the language model is unreachable the system returns a rule-based analysis flagged as degraded, and the dashboard keeps working. The confidence note is a mandatory output section, and in the PDF it is placed before the recommendations, not buried at the bottom.</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Just under fourteen thousand lines of code across forty-five files, with a hundred and fifty-one automated tests passing. The line worth emphasising is the last one: we integrated two new subsystems without modifying a single line of the earlier stages.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Seven endpoints. Two are worth noting. Health reports whether the provider is actually reachable and masks the credentials, so it is safe to expose. Ingest accepts a PDF or even a screenshot of a chat, runs OCR, splits it into messages, and scores them using the original pipeline's own functions.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dashboard is the HR-facing surface. Seven charts, search and filtering, and light and dark themes. The panel that matters most is the explainability panel: every answer is shown together with the records it came from, so the reader checks the reasoning instead of trusting it. We will demonstrate this live.</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 results. The pipeline runs end to end across all three corpora and produces a twenty-column table in which every single record carries a human-readable reason. A hundred and fifty-one automated tests pass. And importantly, those tests found seventeen real defects in our own code before the review — we will show the two most serious.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are reporting our own defects deliberately. The first one is the most instructive: a version difference in the vector database combined with a bare exception handler meant the system reported zero records after a completely successful write. The second is the one we care about most ethically — six of ten records were being labelled angry when no emotion word was present at all.</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faculty mentor asked us to investigate quantum machine learning, so we implemented it twice — in PennyLane and in Qiskit — and benchmarked both against four classical baselines. The honest result: the quantum kernel exactly reproduces the classical RBF accuracy at up to fifteen thousand times the compute cost. We report this as a negative result, and the agreement between the two independent frameworks tells us the implementation is correct rather than broken.</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interim report is drafted in full IEEE conference format — nine sections, fourteen references and eleven figures. Two sections are unusual for a student report and we included them deliberately: a verification section, and a defects section that records every problem we found and how it was resolved.</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our timeline from topic approval to today. Sixteen workstreams across eight weeks, colour-coded by owner, all complete. The overlap between rows is deliberate — because stages three and four consume a file rather than calling code, they could be built in parallel with the pipeline still being tuned.</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 want to be explicit about limitations. We have no clinically labelled ground truth, so we report risk bands and never a diagnosis. And there is a real surveillance risk in a system like this, which is why the evidence is visible to the person being described rather than only to HR.</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Between now and the final review, the priority is validation — correlating our risk bands against a recognised instrument on a consenting sample. Second is temporal modelling: a trajectory over weeks is a much stronger signal than any single message. Third is deployment with role-based access.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conclude. Every objective from topic approval is complete, the system runs end to end, and the interim report is written. If the panel takes one thing from this review, we would like it to be the contract: prediction and explanation are two different problems, and keeping them separate is what makes the output something an HR partner can actually defend.</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Our references.</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Thank you. We are happy to take questions, and we can demonstrate the running system now if the panel would like.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91425" lIns="91425" spcFirstLastPara="1" rIns="91425" wrap="square" tIns="91425">
            <a:noAutofit/>
          </a:bodyPr>
          <a:lstStyle>
            <a:lvl1pPr lvl="0" marR="0" algn="ctr">
              <a:lnSpc>
                <a:spcPct val="100000"/>
              </a:lnSpc>
              <a:spcBef>
                <a:spcPts val="480"/>
              </a:spcBef>
              <a:spcAft>
                <a:spcPts val="0"/>
              </a:spcAft>
              <a:buClr>
                <a:srgbClr val="888888"/>
              </a:buClr>
              <a:buSzPts val="2400"/>
              <a:buFont typeface="Noto Sans Symbols"/>
              <a:buNone/>
              <a:defRPr b="0" i="0" sz="2400" u="none" cap="none" strike="noStrike">
                <a:solidFill>
                  <a:srgbClr val="888888"/>
                </a:solidFill>
                <a:latin typeface="Calibri"/>
                <a:ea typeface="Calibri"/>
                <a:cs typeface="Calibri"/>
                <a:sym typeface="Calibri"/>
              </a:defRPr>
            </a:lvl1pPr>
            <a:lvl2pPr lvl="1" marR="0" algn="ctr">
              <a:lnSpc>
                <a:spcPct val="100000"/>
              </a:lnSpc>
              <a:spcBef>
                <a:spcPts val="400"/>
              </a:spcBef>
              <a:spcAft>
                <a:spcPts val="0"/>
              </a:spcAft>
              <a:buClr>
                <a:srgbClr val="888888"/>
              </a:buClr>
              <a:buSzPts val="2000"/>
              <a:buFont typeface="Noto Sans Symbols"/>
              <a:buNone/>
              <a:defRPr b="0" i="0" sz="2000" u="none" cap="none" strike="noStrike">
                <a:solidFill>
                  <a:srgbClr val="888888"/>
                </a:solidFill>
                <a:latin typeface="Calibri"/>
                <a:ea typeface="Calibri"/>
                <a:cs typeface="Calibri"/>
                <a:sym typeface="Calibri"/>
              </a:defRPr>
            </a:lvl2pPr>
            <a:lvl3pPr lvl="2" marR="0" algn="ctr">
              <a:lnSpc>
                <a:spcPct val="100000"/>
              </a:lnSpc>
              <a:spcBef>
                <a:spcPts val="360"/>
              </a:spcBef>
              <a:spcAft>
                <a:spcPts val="0"/>
              </a:spcAft>
              <a:buClr>
                <a:srgbClr val="888888"/>
              </a:buClr>
              <a:buSzPts val="1800"/>
              <a:buFont typeface="Noto Sans Symbols"/>
              <a:buNone/>
              <a:defRPr b="0" i="0" sz="1800" u="none" cap="none" strike="noStrike">
                <a:solidFill>
                  <a:srgbClr val="888888"/>
                </a:solidFill>
                <a:latin typeface="Calibri"/>
                <a:ea typeface="Calibri"/>
                <a:cs typeface="Calibri"/>
                <a:sym typeface="Calibri"/>
              </a:defRPr>
            </a:lvl3pPr>
            <a:lvl4pPr lvl="3" marR="0" algn="ctr">
              <a:lnSpc>
                <a:spcPct val="100000"/>
              </a:lnSpc>
              <a:spcBef>
                <a:spcPts val="320"/>
              </a:spcBef>
              <a:spcAft>
                <a:spcPts val="0"/>
              </a:spcAft>
              <a:buClr>
                <a:srgbClr val="888888"/>
              </a:buClr>
              <a:buSzPts val="1600"/>
              <a:buFont typeface="Noto Sans Symbols"/>
              <a:buNone/>
              <a:defRPr b="0" i="0" sz="1600" u="none" cap="none" strike="noStrike">
                <a:solidFill>
                  <a:srgbClr val="888888"/>
                </a:solidFill>
                <a:latin typeface="Calibri"/>
                <a:ea typeface="Calibri"/>
                <a:cs typeface="Calibri"/>
                <a:sym typeface="Calibri"/>
              </a:defRPr>
            </a:lvl4pPr>
            <a:lvl5pPr lvl="4" marR="0" algn="ctr">
              <a:lnSpc>
                <a:spcPct val="100000"/>
              </a:lnSpc>
              <a:spcBef>
                <a:spcPts val="320"/>
              </a:spcBef>
              <a:spcAft>
                <a:spcPts val="0"/>
              </a:spcAft>
              <a:buClr>
                <a:srgbClr val="888888"/>
              </a:buClr>
              <a:buSzPts val="1600"/>
              <a:buFont typeface="Noto Sans Symbols"/>
              <a:buNone/>
              <a:defRPr b="0" i="0" sz="1600" u="none" cap="none" strike="noStrike">
                <a:solidFill>
                  <a:srgbClr val="888888"/>
                </a:solidFill>
                <a:latin typeface="Calibri"/>
                <a:ea typeface="Calibri"/>
                <a:cs typeface="Calibri"/>
                <a:sym typeface="Calibri"/>
              </a:defRPr>
            </a:lvl5pPr>
            <a:lvl6pPr lvl="5"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algn="ctr">
              <a:lnSpc>
                <a:spcPct val="100000"/>
              </a:lnSpc>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8" name="Google Shape;18;p19"/>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 name="Google Shape;19;p19"/>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 name="Google Shape;20;p19"/>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1"/>
          <p:cNvSpPr txBox="1"/>
          <p:nvPr>
            <p:ph type="title"/>
          </p:nvPr>
        </p:nvSpPr>
        <p:spPr>
          <a:xfrm>
            <a:off x="722313" y="4406900"/>
            <a:ext cx="7772400" cy="1362075"/>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3" name="Google Shape;23;p21"/>
          <p:cNvSpPr txBox="1"/>
          <p:nvPr>
            <p:ph idx="1" type="body"/>
          </p:nvPr>
        </p:nvSpPr>
        <p:spPr>
          <a:xfrm>
            <a:off x="722313" y="2906713"/>
            <a:ext cx="7772400" cy="1500187"/>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400"/>
              </a:spcBef>
              <a:spcAft>
                <a:spcPts val="0"/>
              </a:spcAft>
              <a:buClr>
                <a:srgbClr val="888888"/>
              </a:buClr>
              <a:buSzPts val="2000"/>
              <a:buFont typeface="Noto Sans Symbols"/>
              <a:buNone/>
              <a:defRPr b="0" i="0" sz="2000" u="none" cap="none" strike="noStrike">
                <a:solidFill>
                  <a:srgbClr val="888888"/>
                </a:solidFill>
                <a:latin typeface="Calibri"/>
                <a:ea typeface="Calibri"/>
                <a:cs typeface="Calibri"/>
                <a:sym typeface="Calibri"/>
              </a:defRPr>
            </a:lvl1pPr>
            <a:lvl2pPr indent="-228600" lvl="1" marL="914400" marR="0" algn="l">
              <a:lnSpc>
                <a:spcPct val="100000"/>
              </a:lnSpc>
              <a:spcBef>
                <a:spcPts val="360"/>
              </a:spcBef>
              <a:spcAft>
                <a:spcPts val="0"/>
              </a:spcAft>
              <a:buClr>
                <a:srgbClr val="888888"/>
              </a:buClr>
              <a:buSzPts val="1800"/>
              <a:buFont typeface="Noto Sans Symbols"/>
              <a:buNone/>
              <a:defRPr b="0" i="0" sz="1800" u="none" cap="none" strike="noStrike">
                <a:solidFill>
                  <a:srgbClr val="888888"/>
                </a:solidFill>
                <a:latin typeface="Calibri"/>
                <a:ea typeface="Calibri"/>
                <a:cs typeface="Calibri"/>
                <a:sym typeface="Calibri"/>
              </a:defRPr>
            </a:lvl2pPr>
            <a:lvl3pPr indent="-228600" lvl="2" marL="1371600" marR="0" algn="l">
              <a:lnSpc>
                <a:spcPct val="100000"/>
              </a:lnSpc>
              <a:spcBef>
                <a:spcPts val="320"/>
              </a:spcBef>
              <a:spcAft>
                <a:spcPts val="0"/>
              </a:spcAft>
              <a:buClr>
                <a:srgbClr val="888888"/>
              </a:buClr>
              <a:buSzPts val="1600"/>
              <a:buFont typeface="Noto Sans Symbols"/>
              <a:buNone/>
              <a:defRPr b="0" i="0" sz="1600" u="none" cap="none" strike="noStrike">
                <a:solidFill>
                  <a:srgbClr val="888888"/>
                </a:solidFill>
                <a:latin typeface="Calibri"/>
                <a:ea typeface="Calibri"/>
                <a:cs typeface="Calibri"/>
                <a:sym typeface="Calibri"/>
              </a:defRPr>
            </a:lvl3pPr>
            <a:lvl4pPr indent="-228600" lvl="3" marL="1828800" marR="0" algn="l">
              <a:lnSpc>
                <a:spcPct val="100000"/>
              </a:lnSpc>
              <a:spcBef>
                <a:spcPts val="280"/>
              </a:spcBef>
              <a:spcAft>
                <a:spcPts val="0"/>
              </a:spcAft>
              <a:buClr>
                <a:srgbClr val="888888"/>
              </a:buClr>
              <a:buSzPts val="1400"/>
              <a:buFont typeface="Noto Sans Symbols"/>
              <a:buNone/>
              <a:defRPr b="0" i="0" sz="1400" u="none" cap="none" strike="noStrike">
                <a:solidFill>
                  <a:srgbClr val="888888"/>
                </a:solidFill>
                <a:latin typeface="Calibri"/>
                <a:ea typeface="Calibri"/>
                <a:cs typeface="Calibri"/>
                <a:sym typeface="Calibri"/>
              </a:defRPr>
            </a:lvl4pPr>
            <a:lvl5pPr indent="-228600" lvl="4" marL="2286000" marR="0" algn="l">
              <a:lnSpc>
                <a:spcPct val="100000"/>
              </a:lnSpc>
              <a:spcBef>
                <a:spcPts val="280"/>
              </a:spcBef>
              <a:spcAft>
                <a:spcPts val="0"/>
              </a:spcAft>
              <a:buClr>
                <a:srgbClr val="888888"/>
              </a:buClr>
              <a:buSzPts val="1400"/>
              <a:buFont typeface="Noto Sans Symbols"/>
              <a:buNone/>
              <a:defRPr b="0" i="0" sz="1400" u="none" cap="none" strike="noStrike">
                <a:solidFill>
                  <a:srgbClr val="888888"/>
                </a:solidFill>
                <a:latin typeface="Calibri"/>
                <a:ea typeface="Calibri"/>
                <a:cs typeface="Calibri"/>
                <a:sym typeface="Calibri"/>
              </a:defRPr>
            </a:lvl5pPr>
            <a:lvl6pPr indent="-228600" lvl="5" marL="2743200" marR="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algn="l">
              <a:lnSpc>
                <a:spcPct val="100000"/>
              </a:lnSpc>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24" name="Google Shape;24;p21"/>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5" name="Google Shape;25;p21"/>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 name="Google Shape;26;p21"/>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2"/>
          <p:cNvSpPr txBox="1"/>
          <p:nvPr>
            <p:ph type="title"/>
          </p:nvPr>
        </p:nvSpPr>
        <p:spPr>
          <a:xfrm>
            <a:off x="457200" y="1295400"/>
            <a:ext cx="8229600" cy="914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22"/>
          <p:cNvSpPr txBox="1"/>
          <p:nvPr>
            <p:ph idx="1" type="body"/>
          </p:nvPr>
        </p:nvSpPr>
        <p:spPr>
          <a:xfrm>
            <a:off x="457200" y="1600200"/>
            <a:ext cx="4038600" cy="4525963"/>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22"/>
          <p:cNvSpPr txBox="1"/>
          <p:nvPr>
            <p:ph idx="2" type="body"/>
          </p:nvPr>
        </p:nvSpPr>
        <p:spPr>
          <a:xfrm>
            <a:off x="4648200" y="1600200"/>
            <a:ext cx="4038600" cy="4525963"/>
          </a:xfrm>
          <a:prstGeom prst="rect">
            <a:avLst/>
          </a:prstGeom>
          <a:noFill/>
          <a:ln>
            <a:noFill/>
          </a:ln>
        </p:spPr>
        <p:txBody>
          <a:bodyPr anchorCtr="0" anchor="t" bIns="91425" lIns="91425" spcFirstLastPara="1" rIns="91425" wrap="square" tIns="91425">
            <a:noAutofit/>
          </a:bodyPr>
          <a:lstStyle>
            <a:lvl1pPr indent="-406400" lvl="0" marL="4572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2pPr>
            <a:lvl3pPr indent="-355600" lvl="2" marL="13716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3pPr>
            <a:lvl4pPr indent="-342900" lvl="3" marL="18288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4pPr>
            <a:lvl5pPr indent="-342900" lvl="4" marL="22860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5pPr>
            <a:lvl6pPr indent="-342900" lvl="5" marL="27432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22"/>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22"/>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 name="Google Shape;33;p22"/>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3"/>
          <p:cNvSpPr txBox="1"/>
          <p:nvPr>
            <p:ph type="title"/>
          </p:nvPr>
        </p:nvSpPr>
        <p:spPr>
          <a:xfrm>
            <a:off x="457200" y="1295400"/>
            <a:ext cx="8229600" cy="914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23"/>
          <p:cNvSpPr txBox="1"/>
          <p:nvPr>
            <p:ph idx="1" type="body"/>
          </p:nvPr>
        </p:nvSpPr>
        <p:spPr>
          <a:xfrm>
            <a:off x="457200" y="1535113"/>
            <a:ext cx="4040188" cy="639762"/>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480"/>
              </a:spcBef>
              <a:spcAft>
                <a:spcPts val="0"/>
              </a:spcAft>
              <a:buClr>
                <a:schemeClr val="dk1"/>
              </a:buClr>
              <a:buSzPts val="2400"/>
              <a:buFont typeface="Noto Sans Symbols"/>
              <a:buNone/>
              <a:defRPr b="1" i="0" sz="2400" u="none" cap="none" strike="noStrike">
                <a:solidFill>
                  <a:schemeClr val="dk1"/>
                </a:solidFill>
                <a:latin typeface="Calibri"/>
                <a:ea typeface="Calibri"/>
                <a:cs typeface="Calibri"/>
                <a:sym typeface="Calibri"/>
              </a:defRPr>
            </a:lvl1pPr>
            <a:lvl2pPr indent="-228600" lvl="1" marL="914400" marR="0" algn="l">
              <a:lnSpc>
                <a:spcPct val="100000"/>
              </a:lnSpc>
              <a:spcBef>
                <a:spcPts val="400"/>
              </a:spcBef>
              <a:spcAft>
                <a:spcPts val="0"/>
              </a:spcAft>
              <a:buClr>
                <a:schemeClr val="dk1"/>
              </a:buClr>
              <a:buSzPts val="2000"/>
              <a:buFont typeface="Noto Sans Symbols"/>
              <a:buNone/>
              <a:defRPr b="1" i="0" sz="2000" u="none" cap="none" strike="noStrike">
                <a:solidFill>
                  <a:schemeClr val="dk1"/>
                </a:solidFill>
                <a:latin typeface="Calibri"/>
                <a:ea typeface="Calibri"/>
                <a:cs typeface="Calibri"/>
                <a:sym typeface="Calibri"/>
              </a:defRPr>
            </a:lvl2pPr>
            <a:lvl3pPr indent="-228600" lvl="2" marL="1371600" marR="0" algn="l">
              <a:lnSpc>
                <a:spcPct val="100000"/>
              </a:lnSpc>
              <a:spcBef>
                <a:spcPts val="360"/>
              </a:spcBef>
              <a:spcAft>
                <a:spcPts val="0"/>
              </a:spcAft>
              <a:buClr>
                <a:schemeClr val="dk1"/>
              </a:buClr>
              <a:buSzPts val="1800"/>
              <a:buFont typeface="Noto Sans Symbols"/>
              <a:buNone/>
              <a:defRPr b="1" i="0" sz="1800" u="none" cap="none" strike="noStrike">
                <a:solidFill>
                  <a:schemeClr val="dk1"/>
                </a:solidFill>
                <a:latin typeface="Calibri"/>
                <a:ea typeface="Calibri"/>
                <a:cs typeface="Calibri"/>
                <a:sym typeface="Calibri"/>
              </a:defRPr>
            </a:lvl3pPr>
            <a:lvl4pPr indent="-228600" lvl="3" marL="18288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4pPr>
            <a:lvl5pPr indent="-228600" lvl="4" marL="22860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5pPr>
            <a:lvl6pPr indent="-228600" lvl="5" marL="27432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7" name="Google Shape;37;p23"/>
          <p:cNvSpPr txBox="1"/>
          <p:nvPr>
            <p:ph idx="2" type="body"/>
          </p:nvPr>
        </p:nvSpPr>
        <p:spPr>
          <a:xfrm>
            <a:off x="457200" y="2174875"/>
            <a:ext cx="4040188" cy="395128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8" name="Google Shape;38;p23"/>
          <p:cNvSpPr txBox="1"/>
          <p:nvPr>
            <p:ph idx="3" type="body"/>
          </p:nvPr>
        </p:nvSpPr>
        <p:spPr>
          <a:xfrm>
            <a:off x="4645025" y="1535113"/>
            <a:ext cx="4041775" cy="639762"/>
          </a:xfrm>
          <a:prstGeom prst="rect">
            <a:avLst/>
          </a:prstGeom>
          <a:noFill/>
          <a:ln>
            <a:noFill/>
          </a:ln>
        </p:spPr>
        <p:txBody>
          <a:bodyPr anchorCtr="0" anchor="b" bIns="91425" lIns="91425" spcFirstLastPara="1" rIns="91425" wrap="square" tIns="91425">
            <a:noAutofit/>
          </a:bodyPr>
          <a:lstStyle>
            <a:lvl1pPr indent="-228600" lvl="0" marL="457200" marR="0" algn="l">
              <a:lnSpc>
                <a:spcPct val="100000"/>
              </a:lnSpc>
              <a:spcBef>
                <a:spcPts val="480"/>
              </a:spcBef>
              <a:spcAft>
                <a:spcPts val="0"/>
              </a:spcAft>
              <a:buClr>
                <a:schemeClr val="dk1"/>
              </a:buClr>
              <a:buSzPts val="2400"/>
              <a:buFont typeface="Noto Sans Symbols"/>
              <a:buNone/>
              <a:defRPr b="1" i="0" sz="2400" u="none" cap="none" strike="noStrike">
                <a:solidFill>
                  <a:schemeClr val="dk1"/>
                </a:solidFill>
                <a:latin typeface="Calibri"/>
                <a:ea typeface="Calibri"/>
                <a:cs typeface="Calibri"/>
                <a:sym typeface="Calibri"/>
              </a:defRPr>
            </a:lvl1pPr>
            <a:lvl2pPr indent="-228600" lvl="1" marL="914400" marR="0" algn="l">
              <a:lnSpc>
                <a:spcPct val="100000"/>
              </a:lnSpc>
              <a:spcBef>
                <a:spcPts val="400"/>
              </a:spcBef>
              <a:spcAft>
                <a:spcPts val="0"/>
              </a:spcAft>
              <a:buClr>
                <a:schemeClr val="dk1"/>
              </a:buClr>
              <a:buSzPts val="2000"/>
              <a:buFont typeface="Noto Sans Symbols"/>
              <a:buNone/>
              <a:defRPr b="1" i="0" sz="2000" u="none" cap="none" strike="noStrike">
                <a:solidFill>
                  <a:schemeClr val="dk1"/>
                </a:solidFill>
                <a:latin typeface="Calibri"/>
                <a:ea typeface="Calibri"/>
                <a:cs typeface="Calibri"/>
                <a:sym typeface="Calibri"/>
              </a:defRPr>
            </a:lvl2pPr>
            <a:lvl3pPr indent="-228600" lvl="2" marL="1371600" marR="0" algn="l">
              <a:lnSpc>
                <a:spcPct val="100000"/>
              </a:lnSpc>
              <a:spcBef>
                <a:spcPts val="360"/>
              </a:spcBef>
              <a:spcAft>
                <a:spcPts val="0"/>
              </a:spcAft>
              <a:buClr>
                <a:schemeClr val="dk1"/>
              </a:buClr>
              <a:buSzPts val="1800"/>
              <a:buFont typeface="Noto Sans Symbols"/>
              <a:buNone/>
              <a:defRPr b="1" i="0" sz="1800" u="none" cap="none" strike="noStrike">
                <a:solidFill>
                  <a:schemeClr val="dk1"/>
                </a:solidFill>
                <a:latin typeface="Calibri"/>
                <a:ea typeface="Calibri"/>
                <a:cs typeface="Calibri"/>
                <a:sym typeface="Calibri"/>
              </a:defRPr>
            </a:lvl3pPr>
            <a:lvl4pPr indent="-228600" lvl="3" marL="18288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4pPr>
            <a:lvl5pPr indent="-228600" lvl="4" marL="2286000" marR="0" algn="l">
              <a:lnSpc>
                <a:spcPct val="100000"/>
              </a:lnSpc>
              <a:spcBef>
                <a:spcPts val="320"/>
              </a:spcBef>
              <a:spcAft>
                <a:spcPts val="0"/>
              </a:spcAft>
              <a:buClr>
                <a:schemeClr val="dk1"/>
              </a:buClr>
              <a:buSzPts val="1600"/>
              <a:buFont typeface="Noto Sans Symbols"/>
              <a:buNone/>
              <a:defRPr b="1" i="0" sz="1600" u="none" cap="none" strike="noStrike">
                <a:solidFill>
                  <a:schemeClr val="dk1"/>
                </a:solidFill>
                <a:latin typeface="Calibri"/>
                <a:ea typeface="Calibri"/>
                <a:cs typeface="Calibri"/>
                <a:sym typeface="Calibri"/>
              </a:defRPr>
            </a:lvl5pPr>
            <a:lvl6pPr indent="-228600" lvl="5" marL="27432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algn="l">
              <a:lnSpc>
                <a:spcPct val="100000"/>
              </a:lnSpc>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9" name="Google Shape;39;p23"/>
          <p:cNvSpPr txBox="1"/>
          <p:nvPr>
            <p:ph idx="4" type="body"/>
          </p:nvPr>
        </p:nvSpPr>
        <p:spPr>
          <a:xfrm>
            <a:off x="4645025" y="2174875"/>
            <a:ext cx="4041775" cy="3951288"/>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40" name="Google Shape;40;p23"/>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1" name="Google Shape;41;p23"/>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2" name="Google Shape;42;p23"/>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3" name="Shape 43"/>
        <p:cNvGrpSpPr/>
        <p:nvPr/>
      </p:nvGrpSpPr>
      <p:grpSpPr>
        <a:xfrm>
          <a:off x="0" y="0"/>
          <a:ext cx="0" cy="0"/>
          <a:chOff x="0" y="0"/>
          <a:chExt cx="0" cy="0"/>
        </a:xfrm>
      </p:grpSpPr>
      <p:sp>
        <p:nvSpPr>
          <p:cNvPr id="44" name="Google Shape;44;p24"/>
          <p:cNvSpPr txBox="1"/>
          <p:nvPr>
            <p:ph type="title"/>
          </p:nvPr>
        </p:nvSpPr>
        <p:spPr>
          <a:xfrm>
            <a:off x="457200" y="273050"/>
            <a:ext cx="3008313" cy="1162050"/>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5" name="Google Shape;45;p24"/>
          <p:cNvSpPr txBox="1"/>
          <p:nvPr>
            <p:ph idx="1" type="body"/>
          </p:nvPr>
        </p:nvSpPr>
        <p:spPr>
          <a:xfrm>
            <a:off x="3575050" y="273050"/>
            <a:ext cx="5111750" cy="5853113"/>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640"/>
              </a:spcBef>
              <a:spcAft>
                <a:spcPts val="0"/>
              </a:spcAft>
              <a:buClr>
                <a:schemeClr val="dk1"/>
              </a:buClr>
              <a:buSzPts val="3200"/>
              <a:buFont typeface="Noto Sans Symbols"/>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Noto Sans Symbols"/>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6" name="Google Shape;46;p24"/>
          <p:cNvSpPr txBox="1"/>
          <p:nvPr>
            <p:ph idx="2" type="body"/>
          </p:nvPr>
        </p:nvSpPr>
        <p:spPr>
          <a:xfrm>
            <a:off x="457200" y="1435100"/>
            <a:ext cx="3008313" cy="4691063"/>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Calibri"/>
                <a:ea typeface="Calibri"/>
                <a:cs typeface="Calibri"/>
                <a:sym typeface="Calibri"/>
              </a:defRPr>
            </a:lvl1pPr>
            <a:lvl2pPr indent="-228600" lvl="1" marL="914400" marR="0" algn="l">
              <a:lnSpc>
                <a:spcPct val="100000"/>
              </a:lnSpc>
              <a:spcBef>
                <a:spcPts val="240"/>
              </a:spcBef>
              <a:spcAft>
                <a:spcPts val="0"/>
              </a:spcAft>
              <a:buClr>
                <a:schemeClr val="dk1"/>
              </a:buClr>
              <a:buSzPts val="1200"/>
              <a:buFont typeface="Noto Sans Symbols"/>
              <a:buNone/>
              <a:defRPr b="0" i="0" sz="1200" u="none" cap="none" strike="noStrike">
                <a:solidFill>
                  <a:schemeClr val="dk1"/>
                </a:solidFill>
                <a:latin typeface="Calibri"/>
                <a:ea typeface="Calibri"/>
                <a:cs typeface="Calibri"/>
                <a:sym typeface="Calibri"/>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Calibri"/>
                <a:ea typeface="Calibri"/>
                <a:cs typeface="Calibri"/>
                <a:sym typeface="Calibri"/>
              </a:defRPr>
            </a:lvl3pPr>
            <a:lvl4pPr indent="-228600" lvl="3" marL="18288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4pPr>
            <a:lvl5pPr indent="-228600" lvl="4" marL="22860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47" name="Google Shape;47;p24"/>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24"/>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24"/>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 name="Shape 50"/>
        <p:cNvGrpSpPr/>
        <p:nvPr/>
      </p:nvGrpSpPr>
      <p:grpSpPr>
        <a:xfrm>
          <a:off x="0" y="0"/>
          <a:ext cx="0" cy="0"/>
          <a:chOff x="0" y="0"/>
          <a:chExt cx="0" cy="0"/>
        </a:xfrm>
      </p:grpSpPr>
      <p:sp>
        <p:nvSpPr>
          <p:cNvPr id="51" name="Google Shape;51;p25"/>
          <p:cNvSpPr txBox="1"/>
          <p:nvPr>
            <p:ph type="title"/>
          </p:nvPr>
        </p:nvSpPr>
        <p:spPr>
          <a:xfrm>
            <a:off x="1792288" y="4800600"/>
            <a:ext cx="5486400" cy="566738"/>
          </a:xfrm>
          <a:prstGeom prst="rect">
            <a:avLst/>
          </a:prstGeom>
          <a:noFill/>
          <a:ln>
            <a:noFill/>
          </a:ln>
        </p:spPr>
        <p:txBody>
          <a:bodyPr anchorCtr="0" anchor="b" bIns="91425" lIns="91425" spcFirstLastPara="1" rIns="91425" wrap="square" tIns="91425">
            <a:noAutofit/>
          </a:bodyPr>
          <a:lstStyle>
            <a:lvl1pPr lvl="0" marR="0" algn="l">
              <a:lnSpc>
                <a:spcPct val="100000"/>
              </a:lnSpc>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25"/>
          <p:cNvSpPr/>
          <p:nvPr>
            <p:ph idx="2" type="pic"/>
          </p:nvPr>
        </p:nvSpPr>
        <p:spPr>
          <a:xfrm>
            <a:off x="1792288" y="612775"/>
            <a:ext cx="5486400" cy="4114800"/>
          </a:xfrm>
          <a:prstGeom prst="rect">
            <a:avLst/>
          </a:prstGeom>
          <a:noFill/>
          <a:ln>
            <a:noFill/>
          </a:ln>
        </p:spPr>
      </p:sp>
      <p:sp>
        <p:nvSpPr>
          <p:cNvPr id="53" name="Google Shape;53;p25"/>
          <p:cNvSpPr txBox="1"/>
          <p:nvPr>
            <p:ph idx="1" type="body"/>
          </p:nvPr>
        </p:nvSpPr>
        <p:spPr>
          <a:xfrm>
            <a:off x="1792288" y="5367338"/>
            <a:ext cx="5486400" cy="804862"/>
          </a:xfrm>
          <a:prstGeom prst="rect">
            <a:avLst/>
          </a:prstGeom>
          <a:noFill/>
          <a:ln>
            <a:noFill/>
          </a:ln>
        </p:spPr>
        <p:txBody>
          <a:bodyPr anchorCtr="0" anchor="t" bIns="91425" lIns="91425" spcFirstLastPara="1" rIns="91425" wrap="square" tIns="91425">
            <a:noAutofit/>
          </a:bodyPr>
          <a:lstStyle>
            <a:lvl1pPr indent="-228600" lvl="0" marL="457200" marR="0" algn="l">
              <a:lnSpc>
                <a:spcPct val="100000"/>
              </a:lnSpc>
              <a:spcBef>
                <a:spcPts val="280"/>
              </a:spcBef>
              <a:spcAft>
                <a:spcPts val="0"/>
              </a:spcAft>
              <a:buClr>
                <a:schemeClr val="dk1"/>
              </a:buClr>
              <a:buSzPts val="1400"/>
              <a:buFont typeface="Noto Sans Symbols"/>
              <a:buNone/>
              <a:defRPr b="0" i="0" sz="1400" u="none" cap="none" strike="noStrike">
                <a:solidFill>
                  <a:schemeClr val="dk1"/>
                </a:solidFill>
                <a:latin typeface="Calibri"/>
                <a:ea typeface="Calibri"/>
                <a:cs typeface="Calibri"/>
                <a:sym typeface="Calibri"/>
              </a:defRPr>
            </a:lvl1pPr>
            <a:lvl2pPr indent="-228600" lvl="1" marL="914400" marR="0" algn="l">
              <a:lnSpc>
                <a:spcPct val="100000"/>
              </a:lnSpc>
              <a:spcBef>
                <a:spcPts val="240"/>
              </a:spcBef>
              <a:spcAft>
                <a:spcPts val="0"/>
              </a:spcAft>
              <a:buClr>
                <a:schemeClr val="dk1"/>
              </a:buClr>
              <a:buSzPts val="1200"/>
              <a:buFont typeface="Noto Sans Symbols"/>
              <a:buNone/>
              <a:defRPr b="0" i="0" sz="1200" u="none" cap="none" strike="noStrike">
                <a:solidFill>
                  <a:schemeClr val="dk1"/>
                </a:solidFill>
                <a:latin typeface="Calibri"/>
                <a:ea typeface="Calibri"/>
                <a:cs typeface="Calibri"/>
                <a:sym typeface="Calibri"/>
              </a:defRPr>
            </a:lvl2pPr>
            <a:lvl3pPr indent="-228600" lvl="2" marL="1371600" marR="0" algn="l">
              <a:lnSpc>
                <a:spcPct val="100000"/>
              </a:lnSpc>
              <a:spcBef>
                <a:spcPts val="200"/>
              </a:spcBef>
              <a:spcAft>
                <a:spcPts val="0"/>
              </a:spcAft>
              <a:buClr>
                <a:schemeClr val="dk1"/>
              </a:buClr>
              <a:buSzPts val="1000"/>
              <a:buFont typeface="Noto Sans Symbols"/>
              <a:buNone/>
              <a:defRPr b="0" i="0" sz="1000" u="none" cap="none" strike="noStrike">
                <a:solidFill>
                  <a:schemeClr val="dk1"/>
                </a:solidFill>
                <a:latin typeface="Calibri"/>
                <a:ea typeface="Calibri"/>
                <a:cs typeface="Calibri"/>
                <a:sym typeface="Calibri"/>
              </a:defRPr>
            </a:lvl3pPr>
            <a:lvl4pPr indent="-228600" lvl="3" marL="18288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4pPr>
            <a:lvl5pPr indent="-228600" lvl="4" marL="2286000" marR="0" algn="l">
              <a:lnSpc>
                <a:spcPct val="100000"/>
              </a:lnSpc>
              <a:spcBef>
                <a:spcPts val="180"/>
              </a:spcBef>
              <a:spcAft>
                <a:spcPts val="0"/>
              </a:spcAft>
              <a:buClr>
                <a:schemeClr val="dk1"/>
              </a:buClr>
              <a:buSzPts val="900"/>
              <a:buFont typeface="Noto Sans Symbols"/>
              <a:buNone/>
              <a:defRPr b="0" i="0" sz="900" u="none" cap="none" strike="noStrike">
                <a:solidFill>
                  <a:schemeClr val="dk1"/>
                </a:solidFill>
                <a:latin typeface="Calibri"/>
                <a:ea typeface="Calibri"/>
                <a:cs typeface="Calibri"/>
                <a:sym typeface="Calibri"/>
              </a:defRPr>
            </a:lvl5pPr>
            <a:lvl6pPr indent="-228600" lvl="5" marL="27432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algn="l">
              <a:lnSpc>
                <a:spcPct val="100000"/>
              </a:lnSpc>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25"/>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25"/>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25"/>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7" name="Shape 57"/>
        <p:cNvGrpSpPr/>
        <p:nvPr/>
      </p:nvGrpSpPr>
      <p:grpSpPr>
        <a:xfrm>
          <a:off x="0" y="0"/>
          <a:ext cx="0" cy="0"/>
          <a:chOff x="0" y="0"/>
          <a:chExt cx="0" cy="0"/>
        </a:xfrm>
      </p:grpSpPr>
      <p:sp>
        <p:nvSpPr>
          <p:cNvPr id="58" name="Google Shape;58;p26"/>
          <p:cNvSpPr txBox="1"/>
          <p:nvPr>
            <p:ph type="title"/>
          </p:nvPr>
        </p:nvSpPr>
        <p:spPr>
          <a:xfrm>
            <a:off x="457200" y="1295400"/>
            <a:ext cx="8229600" cy="914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9" name="Google Shape;59;p26"/>
          <p:cNvSpPr txBox="1"/>
          <p:nvPr>
            <p:ph idx="1" type="body"/>
          </p:nvPr>
        </p:nvSpPr>
        <p:spPr>
          <a:xfrm rot="5400000">
            <a:off x="2536824" y="206375"/>
            <a:ext cx="4070351" cy="82296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0" name="Google Shape;60;p26"/>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1" name="Google Shape;61;p26"/>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26"/>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3" name="Shape 63"/>
        <p:cNvGrpSpPr/>
        <p:nvPr/>
      </p:nvGrpSpPr>
      <p:grpSpPr>
        <a:xfrm>
          <a:off x="0" y="0"/>
          <a:ext cx="0" cy="0"/>
          <a:chOff x="0" y="0"/>
          <a:chExt cx="0" cy="0"/>
        </a:xfrm>
      </p:grpSpPr>
      <p:sp>
        <p:nvSpPr>
          <p:cNvPr id="64" name="Google Shape;64;p27"/>
          <p:cNvSpPr txBox="1"/>
          <p:nvPr>
            <p:ph type="title"/>
          </p:nvPr>
        </p:nvSpPr>
        <p:spPr>
          <a:xfrm rot="5400000">
            <a:off x="4732337" y="2171700"/>
            <a:ext cx="5851525" cy="2057400"/>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27"/>
          <p:cNvSpPr txBox="1"/>
          <p:nvPr>
            <p:ph idx="1" type="body"/>
          </p:nvPr>
        </p:nvSpPr>
        <p:spPr>
          <a:xfrm rot="5400000">
            <a:off x="541338" y="190501"/>
            <a:ext cx="5851525" cy="6019800"/>
          </a:xfrm>
          <a:prstGeom prst="rect">
            <a:avLst/>
          </a:prstGeom>
          <a:noFill/>
          <a:ln>
            <a:noFill/>
          </a:ln>
        </p:spPr>
        <p:txBody>
          <a:bodyPr anchorCtr="0" anchor="t" bIns="91425" lIns="91425" spcFirstLastPara="1" rIns="91425" wrap="square" tIns="91425">
            <a:noAutofit/>
          </a:bodyPr>
          <a:lstStyle>
            <a:lvl1pPr indent="-381000" lvl="0" marL="457200" marR="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6" name="Google Shape;66;p27"/>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7" name="Google Shape;67;p27"/>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27"/>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457200" y="1295400"/>
            <a:ext cx="8229600" cy="9144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chemeClr val="dk1"/>
              </a:buClr>
              <a:buSzPts val="3600"/>
              <a:buFont typeface="Calibri"/>
              <a:buNone/>
              <a:defRPr b="1" i="0" sz="36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457200" y="2286000"/>
            <a:ext cx="8229600" cy="4070351"/>
          </a:xfrm>
          <a:prstGeom prst="rect">
            <a:avLst/>
          </a:prstGeom>
          <a:noFill/>
          <a:ln>
            <a:noFill/>
          </a:ln>
        </p:spPr>
        <p:txBody>
          <a:bodyPr anchorCtr="0" anchor="t" bIns="91425" lIns="91425" spcFirstLastPara="1" rIns="91425" wrap="square" tIns="91425">
            <a:noAutofit/>
          </a:bodyPr>
          <a:lstStyle>
            <a:lvl1pPr indent="-381000" lvl="0" marL="457200" marR="0" rtl="0" algn="l">
              <a:lnSpc>
                <a:spcPct val="100000"/>
              </a:lnSpc>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55600" lvl="1" marL="914400" marR="0" rtl="0" algn="l">
              <a:lnSpc>
                <a:spcPct val="100000"/>
              </a:lnSpc>
              <a:spcBef>
                <a:spcPts val="4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6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457200" y="6381396"/>
            <a:ext cx="2133600" cy="365125"/>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3122488" y="6373546"/>
            <a:ext cx="2895600" cy="365125"/>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05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6553200" y="6373546"/>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50"/>
              <a:buFont typeface="Arial"/>
              <a:buNone/>
              <a:defRPr b="0" i="0" sz="105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
          <p:cNvSpPr txBox="1"/>
          <p:nvPr>
            <p:ph type="ctrTitle"/>
          </p:nvPr>
        </p:nvSpPr>
        <p:spPr>
          <a:xfrm>
            <a:off x="566928" y="1426464"/>
            <a:ext cx="8010144" cy="213969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Calibri"/>
              <a:buNone/>
            </a:pPr>
            <a:r>
              <a:rPr sz="2200" b="1">
                <a:solidFill>
                  <a:srgbClr val="1B3A5C"/>
                </a:solidFill>
                <a:latin typeface="Times New Roman"/>
              </a:rPr>
              <a:t>Capstone Project</a:t>
            </a:r>
            <a:endParaRPr b="0" sz="2300">
              <a:latin typeface="Times New Roman"/>
              <a:ea typeface="Times New Roman"/>
              <a:cs typeface="Times New Roman"/>
              <a:sym typeface="Times New Roman"/>
            </a:endParaRPr>
          </a:p>
          <a:p>
            <a:pPr algn="ctr"/>
            <a:r>
              <a:rPr sz="2200" b="1">
                <a:solidFill>
                  <a:srgbClr val="1B3A5C"/>
                </a:solidFill>
                <a:latin typeface="Times New Roman"/>
              </a:rPr>
              <a:t>Second Review Presentation</a:t>
            </a:r>
          </a:p>
          <a:p>
            <a:pPr algn="ctr"/>
            <a:r>
              <a:rPr sz="1800" b="0">
                <a:solidFill>
                  <a:srgbClr val="1A1A1A"/>
                </a:solidFill>
                <a:latin typeface="Times New Roman"/>
              </a:rPr>
              <a:t>A.Y. 2026-2027</a:t>
            </a:r>
          </a:p>
          <a:p>
            <a:pPr algn="ctr"/>
            <a:r>
              <a:rPr sz="800" b="0">
                <a:solidFill>
                  <a:srgbClr val="1A1A1A"/>
                </a:solidFill>
                <a:latin typeface="Times New Roman"/>
              </a:rPr>
              <a:t/>
            </a:r>
          </a:p>
          <a:p>
            <a:pPr algn="ctr"/>
            <a:r>
              <a:rPr sz="1800" b="1">
                <a:solidFill>
                  <a:srgbClr val="1B3A5C"/>
                </a:solidFill>
                <a:latin typeface="Times New Roman"/>
              </a:rPr>
              <a:t>Project Title:</a:t>
            </a:r>
          </a:p>
          <a:p>
            <a:pPr algn="ctr"/>
            <a:r>
              <a:rPr sz="1900" b="1">
                <a:solidFill>
                  <a:srgbClr val="1B3A5C"/>
                </a:solidFill>
                <a:latin typeface="Times New Roman"/>
              </a:rPr>
              <a:t>Explainable Employee Burnout Detection from Workplace Communication using Sentiment Analysis and Retrieval-Augmented Generation</a:t>
            </a:r>
          </a:p>
        </p:txBody>
      </p:sp>
      <p:sp>
        <p:nvSpPr>
          <p:cNvPr id="74" name="TextBox 73"/>
          <p:cNvSpPr txBox="1"/>
          <p:nvPr/>
        </p:nvSpPr>
        <p:spPr>
          <a:xfrm>
            <a:off x="566928" y="3621024"/>
            <a:ext cx="8010144" cy="292608"/>
          </a:xfrm>
          <a:prstGeom prst="rect">
            <a:avLst/>
          </a:prstGeom>
          <a:noFill/>
        </p:spPr>
        <p:txBody>
          <a:bodyPr wrap="none">
            <a:spAutoFit/>
          </a:bodyPr>
          <a:lstStyle/>
          <a:p>
            <a:pPr algn="ctr"/>
            <a:r>
              <a:rPr sz="1500" b="1">
                <a:solidFill>
                  <a:srgbClr val="1B3A5C"/>
                </a:solidFill>
                <a:latin typeface="Times New Roman"/>
              </a:rPr>
              <a:t>Presented by</a:t>
            </a:r>
          </a:p>
        </p:txBody>
      </p:sp>
      <p:graphicFrame>
        <p:nvGraphicFramePr>
          <p:cNvPr id="75" name="Table 74"/>
          <p:cNvGraphicFramePr>
            <a:graphicFrameLocks noGrp="1"/>
          </p:cNvGraphicFramePr>
          <p:nvPr/>
        </p:nvGraphicFramePr>
        <p:xfrm>
          <a:off x="502920" y="3968496"/>
          <a:ext cx="8138160" cy="822960"/>
        </p:xfrm>
        <a:graphic>
          <a:graphicData uri="http://schemas.openxmlformats.org/drawingml/2006/table">
            <a:tbl>
              <a:tblPr firstRow="1" bandRow="1">
                <a:tableStyleId>{5C22544A-7EE6-4342-B048-85BDC9FD1C3A}</a:tableStyleId>
              </a:tblPr>
              <a:tblGrid>
                <a:gridCol w="2034540"/>
                <a:gridCol w="2034540"/>
                <a:gridCol w="2034540"/>
                <a:gridCol w="2034540"/>
              </a:tblGrid>
              <a:tr h="274320">
                <a:tc>
                  <a:txBody>
                    <a:bodyPr/>
                    <a:lstStyle/>
                    <a:p>
                      <a:pPr algn="ctr"/>
                      <a:r>
                        <a:rPr sz="1250" b="1">
                          <a:solidFill>
                            <a:srgbClr val="1A1A1A"/>
                          </a:solidFill>
                          <a:latin typeface="Times New Roman"/>
                        </a:rPr>
                        <a:t>Saumya Shah</a:t>
                      </a:r>
                    </a:p>
                  </a:txBody>
                  <a:tcPr marL="18288" marR="18288" marT="9144" marB="9144" anchor="ctr">
                    <a:noFill/>
                    <a:lnL>
                      <a:noFill/>
                    </a:lnL>
                    <a:lnR>
                      <a:noFill/>
                    </a:lnR>
                    <a:lnT>
                      <a:noFill/>
                    </a:lnT>
                    <a:lnB>
                      <a:noFill/>
                    </a:lnB>
                  </a:tcPr>
                </a:tc>
                <a:tc>
                  <a:txBody>
                    <a:bodyPr/>
                    <a:lstStyle/>
                    <a:p>
                      <a:pPr algn="ctr"/>
                      <a:r>
                        <a:rPr sz="1250" b="1">
                          <a:solidFill>
                            <a:srgbClr val="1A1A1A"/>
                          </a:solidFill>
                          <a:latin typeface="Times New Roman"/>
                        </a:rPr>
                        <a:t>Swara Wairkar</a:t>
                      </a:r>
                    </a:p>
                  </a:txBody>
                  <a:tcPr marL="18288" marR="18288" marT="9144" marB="9144" anchor="ctr">
                    <a:noFill/>
                    <a:lnL>
                      <a:noFill/>
                    </a:lnL>
                    <a:lnR>
                      <a:noFill/>
                    </a:lnR>
                    <a:lnT>
                      <a:noFill/>
                    </a:lnT>
                    <a:lnB>
                      <a:noFill/>
                    </a:lnB>
                  </a:tcPr>
                </a:tc>
                <a:tc>
                  <a:txBody>
                    <a:bodyPr/>
                    <a:lstStyle/>
                    <a:p>
                      <a:pPr algn="ctr"/>
                      <a:r>
                        <a:rPr sz="1250" b="1">
                          <a:solidFill>
                            <a:srgbClr val="1A1A1A"/>
                          </a:solidFill>
                          <a:latin typeface="Times New Roman"/>
                        </a:rPr>
                        <a:t>Aryaman Giri</a:t>
                      </a:r>
                    </a:p>
                  </a:txBody>
                  <a:tcPr marL="18288" marR="18288" marT="9144" marB="9144" anchor="ctr">
                    <a:noFill/>
                    <a:lnL>
                      <a:noFill/>
                    </a:lnL>
                    <a:lnR>
                      <a:noFill/>
                    </a:lnR>
                    <a:lnT>
                      <a:noFill/>
                    </a:lnT>
                    <a:lnB>
                      <a:noFill/>
                    </a:lnB>
                  </a:tcPr>
                </a:tc>
                <a:tc>
                  <a:txBody>
                    <a:bodyPr/>
                    <a:lstStyle/>
                    <a:p>
                      <a:pPr algn="ctr"/>
                      <a:r>
                        <a:rPr sz="1250" b="1">
                          <a:solidFill>
                            <a:srgbClr val="1A1A1A"/>
                          </a:solidFill>
                          <a:latin typeface="Times New Roman"/>
                        </a:rPr>
                        <a:t>Anushree Devarashetty</a:t>
                      </a:r>
                    </a:p>
                  </a:txBody>
                  <a:tcPr marL="18288" marR="18288" marT="9144" marB="9144" anchor="ctr">
                    <a:noFill/>
                    <a:lnL>
                      <a:noFill/>
                    </a:lnL>
                    <a:lnR>
                      <a:noFill/>
                    </a:lnR>
                    <a:lnT>
                      <a:noFill/>
                    </a:lnT>
                    <a:lnB>
                      <a:noFill/>
                    </a:lnB>
                  </a:tcPr>
                </a:tc>
              </a:tr>
              <a:tr h="274320">
                <a:tc>
                  <a:txBody>
                    <a:bodyPr/>
                    <a:lstStyle/>
                    <a:p>
                      <a:pPr algn="ctr"/>
                      <a:r>
                        <a:rPr sz="1150" b="0">
                          <a:solidFill>
                            <a:srgbClr val="555F6B"/>
                          </a:solidFill>
                          <a:latin typeface="Times New Roman"/>
                        </a:rPr>
                        <a:t>70322100115</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70322100201</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70322100043</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7032100175</a:t>
                      </a:r>
                    </a:p>
                  </a:txBody>
                  <a:tcPr marL="18288" marR="18288" marT="9144" marB="9144" anchor="ctr">
                    <a:noFill/>
                    <a:lnL>
                      <a:noFill/>
                    </a:lnL>
                    <a:lnR>
                      <a:noFill/>
                    </a:lnR>
                    <a:lnT>
                      <a:noFill/>
                    </a:lnT>
                    <a:lnB>
                      <a:noFill/>
                    </a:lnB>
                  </a:tcPr>
                </a:tc>
              </a:tr>
              <a:tr h="274320">
                <a:tc>
                  <a:txBody>
                    <a:bodyPr/>
                    <a:lstStyle/>
                    <a:p>
                      <a:pPr algn="ctr"/>
                      <a:r>
                        <a:rPr sz="1150" b="0">
                          <a:solidFill>
                            <a:srgbClr val="555F6B"/>
                          </a:solidFill>
                          <a:latin typeface="Times New Roman"/>
                        </a:rPr>
                        <a:t>C040</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C048</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C026</a:t>
                      </a:r>
                    </a:p>
                  </a:txBody>
                  <a:tcPr marL="18288" marR="18288" marT="9144" marB="9144" anchor="ctr">
                    <a:noFill/>
                    <a:lnL>
                      <a:noFill/>
                    </a:lnL>
                    <a:lnR>
                      <a:noFill/>
                    </a:lnR>
                    <a:lnT>
                      <a:noFill/>
                    </a:lnT>
                    <a:lnB>
                      <a:noFill/>
                    </a:lnB>
                  </a:tcPr>
                </a:tc>
                <a:tc>
                  <a:txBody>
                    <a:bodyPr/>
                    <a:lstStyle/>
                    <a:p>
                      <a:pPr algn="ctr"/>
                      <a:r>
                        <a:rPr sz="1150" b="0">
                          <a:solidFill>
                            <a:srgbClr val="555F6B"/>
                          </a:solidFill>
                          <a:latin typeface="Times New Roman"/>
                        </a:rPr>
                        <a:t>C038</a:t>
                      </a:r>
                    </a:p>
                  </a:txBody>
                  <a:tcPr marL="18288" marR="18288" marT="9144" marB="9144" anchor="ctr">
                    <a:noFill/>
                    <a:lnL>
                      <a:noFill/>
                    </a:lnL>
                    <a:lnR>
                      <a:noFill/>
                    </a:lnR>
                    <a:lnT>
                      <a:noFill/>
                    </a:lnT>
                    <a:lnB>
                      <a:noFill/>
                    </a:lnB>
                  </a:tcPr>
                </a:tc>
              </a:tr>
            </a:tbl>
          </a:graphicData>
        </a:graphic>
      </p:graphicFrame>
      <p:sp>
        <p:nvSpPr>
          <p:cNvPr id="76" name="TextBox 75"/>
          <p:cNvSpPr txBox="1"/>
          <p:nvPr/>
        </p:nvSpPr>
        <p:spPr>
          <a:xfrm>
            <a:off x="566928" y="4956048"/>
            <a:ext cx="8010144" cy="731520"/>
          </a:xfrm>
          <a:prstGeom prst="rect">
            <a:avLst/>
          </a:prstGeom>
          <a:noFill/>
        </p:spPr>
        <p:txBody>
          <a:bodyPr wrap="square">
            <a:spAutoFit/>
          </a:bodyPr>
          <a:lstStyle/>
          <a:p>
            <a:pPr algn="ctr"/>
            <a:r>
              <a:rPr sz="1600" b="1">
                <a:solidFill>
                  <a:srgbClr val="1B3A5C"/>
                </a:solidFill>
                <a:latin typeface="Times New Roman"/>
              </a:rPr>
              <a:t>Under the guidance of : Dr. Shubha Puthran</a:t>
            </a:r>
          </a:p>
          <a:p>
            <a:pPr algn="ctr"/>
            <a:r>
              <a:rPr sz="1200" b="0">
                <a:solidFill>
                  <a:srgbClr val="555F6B"/>
                </a:solidFill>
                <a:latin typeface="Times New Roman"/>
              </a:rPr>
              <a:t>Computer Engineering Department, MPSTME, Mumbai Campus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Agenda — Mapped to the Review Rubric</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2011680"/>
          <a:ext cx="8101584" cy="3401568"/>
        </p:xfrm>
        <a:graphic>
          <a:graphicData uri="http://schemas.openxmlformats.org/drawingml/2006/table">
            <a:tbl>
              <a:tblPr firstRow="1" bandRow="1">
                <a:tableStyleId>{5C22544A-7EE6-4342-B048-85BDC9FD1C3A}</a:tableStyleId>
              </a:tblPr>
              <a:tblGrid>
                <a:gridCol w="384048"/>
                <a:gridCol w="2834640"/>
                <a:gridCol w="1417320"/>
                <a:gridCol w="3465576"/>
              </a:tblGrid>
              <a:tr h="566928">
                <a:tc>
                  <a:txBody>
                    <a:bodyPr/>
                    <a:lstStyle/>
                    <a:p>
                      <a:r>
                        <a:rPr sz="1250" b="1">
                          <a:solidFill>
                            <a:srgbClr val="FFFFFF"/>
                          </a:solidFill>
                          <a:latin typeface="Times New Roman"/>
                        </a:rPr>
                        <a:t>#</a:t>
                      </a:r>
                    </a:p>
                  </a:txBody>
                  <a:tcPr marL="54864" marR="54864" marT="27432" marB="27432" anchor="ctr">
                    <a:solidFill>
                      <a:srgbClr val="1B3A5C"/>
                    </a:solidFill>
                  </a:tcPr>
                </a:tc>
                <a:tc>
                  <a:txBody>
                    <a:bodyPr/>
                    <a:lstStyle/>
                    <a:p>
                      <a:r>
                        <a:rPr sz="1250" b="1">
                          <a:solidFill>
                            <a:srgbClr val="FFFFFF"/>
                          </a:solidFill>
                          <a:latin typeface="Times New Roman"/>
                        </a:rPr>
                        <a:t>Evaluation criterion</a:t>
                      </a:r>
                    </a:p>
                  </a:txBody>
                  <a:tcPr marL="54864" marR="54864" marT="27432" marB="27432" anchor="ctr">
                    <a:solidFill>
                      <a:srgbClr val="1B3A5C"/>
                    </a:solidFill>
                  </a:tcPr>
                </a:tc>
                <a:tc>
                  <a:txBody>
                    <a:bodyPr/>
                    <a:lstStyle/>
                    <a:p>
                      <a:r>
                        <a:rPr sz="1250" b="1">
                          <a:solidFill>
                            <a:srgbClr val="FFFFFF"/>
                          </a:solidFill>
                          <a:latin typeface="Times New Roman"/>
                        </a:rPr>
                        <a:t>Addressed on slides</a:t>
                      </a:r>
                    </a:p>
                  </a:txBody>
                  <a:tcPr marL="54864" marR="54864" marT="27432" marB="27432" anchor="ctr">
                    <a:solidFill>
                      <a:srgbClr val="1B3A5C"/>
                    </a:solidFill>
                  </a:tcPr>
                </a:tc>
                <a:tc>
                  <a:txBody>
                    <a:bodyPr/>
                    <a:lstStyle/>
                    <a:p>
                      <a:r>
                        <a:rPr sz="1250" b="1">
                          <a:solidFill>
                            <a:srgbClr val="FFFFFF"/>
                          </a:solidFill>
                          <a:latin typeface="Times New Roman"/>
                        </a:rPr>
                        <a:t>Evidence we present</a:t>
                      </a:r>
                    </a:p>
                  </a:txBody>
                  <a:tcPr marL="54864" marR="54864" marT="27432" marB="27432" anchor="ctr">
                    <a:solidFill>
                      <a:srgbClr val="1B3A5C"/>
                    </a:solidFill>
                  </a:tcPr>
                </a:tc>
              </a:tr>
              <a:tr h="566928">
                <a:tc>
                  <a:txBody>
                    <a:bodyPr/>
                    <a:lstStyle/>
                    <a:p>
                      <a:r>
                        <a:rPr sz="1200" b="0">
                          <a:solidFill>
                            <a:srgbClr val="1A1A1A"/>
                          </a:solidFill>
                          <a:latin typeface="Times New Roman"/>
                        </a:rPr>
                        <a:t>A</a:t>
                      </a:r>
                    </a:p>
                  </a:txBody>
                  <a:tcPr marL="54864" marR="54864" marT="22860" marB="22860" anchor="ctr">
                    <a:solidFill>
                      <a:srgbClr val="E8EEF5"/>
                    </a:solidFill>
                  </a:tcPr>
                </a:tc>
                <a:tc>
                  <a:txBody>
                    <a:bodyPr/>
                    <a:lstStyle/>
                    <a:p>
                      <a:r>
                        <a:rPr sz="1200" b="1">
                          <a:solidFill>
                            <a:srgbClr val="1A1A1A"/>
                          </a:solidFill>
                          <a:latin typeface="Times New Roman"/>
                        </a:rPr>
                        <a:t>Literature Review / Market Survey</a:t>
                      </a:r>
                    </a:p>
                  </a:txBody>
                  <a:tcPr marL="54864" marR="54864" marT="22860" marB="22860" anchor="ctr">
                    <a:solidFill>
                      <a:srgbClr val="E8EEF5"/>
                    </a:solidFill>
                  </a:tcPr>
                </a:tc>
                <a:tc>
                  <a:txBody>
                    <a:bodyPr/>
                    <a:lstStyle/>
                    <a:p>
                      <a:r>
                        <a:rPr sz="1200" b="0">
                          <a:solidFill>
                            <a:srgbClr val="1A1A1A"/>
                          </a:solidFill>
                          <a:latin typeface="Times New Roman"/>
                        </a:rPr>
                        <a:t>6 – 9</a:t>
                      </a:r>
                    </a:p>
                  </a:txBody>
                  <a:tcPr marL="54864" marR="54864" marT="22860" marB="22860" anchor="ctr">
                    <a:solidFill>
                      <a:srgbClr val="E8EEF5"/>
                    </a:solidFill>
                  </a:tcPr>
                </a:tc>
                <a:tc>
                  <a:txBody>
                    <a:bodyPr/>
                    <a:lstStyle/>
                    <a:p>
                      <a:r>
                        <a:rPr sz="1200" b="0">
                          <a:solidFill>
                            <a:srgbClr val="1A1A1A"/>
                          </a:solidFill>
                          <a:latin typeface="Times New Roman"/>
                        </a:rPr>
                        <a:t>14 peer-reviewed references; tool comparison</a:t>
                      </a:r>
                    </a:p>
                  </a:txBody>
                  <a:tcPr marL="54864" marR="54864" marT="22860" marB="22860" anchor="ctr">
                    <a:solidFill>
                      <a:srgbClr val="E8EEF5"/>
                    </a:solidFill>
                  </a:tcPr>
                </a:tc>
              </a:tr>
              <a:tr h="566928">
                <a:tc>
                  <a:txBody>
                    <a:bodyPr/>
                    <a:lstStyle/>
                    <a:p>
                      <a:r>
                        <a:rPr sz="1200" b="0">
                          <a:solidFill>
                            <a:srgbClr val="1A1A1A"/>
                          </a:solidFill>
                          <a:latin typeface="Times New Roman"/>
                        </a:rPr>
                        <a:t>B</a:t>
                      </a:r>
                    </a:p>
                  </a:txBody>
                  <a:tcPr marL="54864" marR="54864" marT="22860" marB="22860" anchor="ctr">
                    <a:solidFill>
                      <a:srgbClr val="FFFFFF"/>
                    </a:solidFill>
                  </a:tcPr>
                </a:tc>
                <a:tc>
                  <a:txBody>
                    <a:bodyPr/>
                    <a:lstStyle/>
                    <a:p>
                      <a:r>
                        <a:rPr sz="1200" b="1">
                          <a:solidFill>
                            <a:srgbClr val="1A1A1A"/>
                          </a:solidFill>
                          <a:latin typeface="Times New Roman"/>
                        </a:rPr>
                        <a:t>Clarity of problem statement</a:t>
                      </a:r>
                    </a:p>
                  </a:txBody>
                  <a:tcPr marL="54864" marR="54864" marT="22860" marB="22860" anchor="ctr">
                    <a:solidFill>
                      <a:srgbClr val="FFFFFF"/>
                    </a:solidFill>
                  </a:tcPr>
                </a:tc>
                <a:tc>
                  <a:txBody>
                    <a:bodyPr/>
                    <a:lstStyle/>
                    <a:p>
                      <a:r>
                        <a:rPr sz="1200" b="0">
                          <a:solidFill>
                            <a:srgbClr val="1A1A1A"/>
                          </a:solidFill>
                          <a:latin typeface="Times New Roman"/>
                        </a:rPr>
                        <a:t>4 – 5</a:t>
                      </a:r>
                    </a:p>
                  </a:txBody>
                  <a:tcPr marL="54864" marR="54864" marT="22860" marB="22860" anchor="ctr">
                    <a:solidFill>
                      <a:srgbClr val="FFFFFF"/>
                    </a:solidFill>
                  </a:tcPr>
                </a:tc>
                <a:tc>
                  <a:txBody>
                    <a:bodyPr/>
                    <a:lstStyle/>
                    <a:p>
                      <a:r>
                        <a:rPr sz="1200" b="0">
                          <a:solidFill>
                            <a:srgbClr val="1A1A1A"/>
                          </a:solidFill>
                          <a:latin typeface="Times New Roman"/>
                        </a:rPr>
                        <a:t>Gap statement + 6 measurable objectives</a:t>
                      </a:r>
                    </a:p>
                  </a:txBody>
                  <a:tcPr marL="54864" marR="54864" marT="22860" marB="22860" anchor="ctr">
                    <a:solidFill>
                      <a:srgbClr val="FFFFFF"/>
                    </a:solidFill>
                  </a:tcPr>
                </a:tc>
              </a:tr>
              <a:tr h="566928">
                <a:tc>
                  <a:txBody>
                    <a:bodyPr/>
                    <a:lstStyle/>
                    <a:p>
                      <a:r>
                        <a:rPr sz="1200" b="0">
                          <a:solidFill>
                            <a:srgbClr val="1A1A1A"/>
                          </a:solidFill>
                          <a:latin typeface="Times New Roman"/>
                        </a:rPr>
                        <a:t>C</a:t>
                      </a:r>
                    </a:p>
                  </a:txBody>
                  <a:tcPr marL="54864" marR="54864" marT="22860" marB="22860" anchor="ctr">
                    <a:solidFill>
                      <a:srgbClr val="E8EEF5"/>
                    </a:solidFill>
                  </a:tcPr>
                </a:tc>
                <a:tc>
                  <a:txBody>
                    <a:bodyPr/>
                    <a:lstStyle/>
                    <a:p>
                      <a:r>
                        <a:rPr sz="1200" b="1">
                          <a:solidFill>
                            <a:srgbClr val="1A1A1A"/>
                          </a:solidFill>
                          <a:latin typeface="Times New Roman"/>
                        </a:rPr>
                        <a:t>Design / System level representation</a:t>
                      </a:r>
                    </a:p>
                  </a:txBody>
                  <a:tcPr marL="54864" marR="54864" marT="22860" marB="22860" anchor="ctr">
                    <a:solidFill>
                      <a:srgbClr val="E8EEF5"/>
                    </a:solidFill>
                  </a:tcPr>
                </a:tc>
                <a:tc>
                  <a:txBody>
                    <a:bodyPr/>
                    <a:lstStyle/>
                    <a:p>
                      <a:r>
                        <a:rPr sz="1200" b="0">
                          <a:solidFill>
                            <a:srgbClr val="1A1A1A"/>
                          </a:solidFill>
                          <a:latin typeface="Times New Roman"/>
                        </a:rPr>
                        <a:t>10 – 13</a:t>
                      </a:r>
                    </a:p>
                  </a:txBody>
                  <a:tcPr marL="54864" marR="54864" marT="22860" marB="22860" anchor="ctr">
                    <a:solidFill>
                      <a:srgbClr val="E8EEF5"/>
                    </a:solidFill>
                  </a:tcPr>
                </a:tc>
                <a:tc>
                  <a:txBody>
                    <a:bodyPr/>
                    <a:lstStyle/>
                    <a:p>
                      <a:r>
                        <a:rPr sz="1200" b="0">
                          <a:solidFill>
                            <a:srgbClr val="1A1A1A"/>
                          </a:solidFill>
                          <a:latin typeface="Times New Roman"/>
                        </a:rPr>
                        <a:t>Full architecture; the integration contract</a:t>
                      </a:r>
                    </a:p>
                  </a:txBody>
                  <a:tcPr marL="54864" marR="54864" marT="22860" marB="22860" anchor="ctr">
                    <a:solidFill>
                      <a:srgbClr val="E8EEF5"/>
                    </a:solidFill>
                  </a:tcPr>
                </a:tc>
              </a:tr>
              <a:tr h="566928">
                <a:tc>
                  <a:txBody>
                    <a:bodyPr/>
                    <a:lstStyle/>
                    <a:p>
                      <a:r>
                        <a:rPr sz="1200" b="0">
                          <a:solidFill>
                            <a:srgbClr val="1A1A1A"/>
                          </a:solidFill>
                          <a:latin typeface="Times New Roman"/>
                        </a:rPr>
                        <a:t>D</a:t>
                      </a:r>
                    </a:p>
                  </a:txBody>
                  <a:tcPr marL="54864" marR="54864" marT="22860" marB="22860" anchor="ctr">
                    <a:solidFill>
                      <a:srgbClr val="FFFFFF"/>
                    </a:solidFill>
                  </a:tcPr>
                </a:tc>
                <a:tc>
                  <a:txBody>
                    <a:bodyPr/>
                    <a:lstStyle/>
                    <a:p>
                      <a:r>
                        <a:rPr sz="1200" b="1">
                          <a:solidFill>
                            <a:srgbClr val="1A1A1A"/>
                          </a:solidFill>
                          <a:latin typeface="Times New Roman"/>
                        </a:rPr>
                        <a:t>Implementation / Results</a:t>
                      </a:r>
                    </a:p>
                  </a:txBody>
                  <a:tcPr marL="54864" marR="54864" marT="22860" marB="22860" anchor="ctr">
                    <a:solidFill>
                      <a:srgbClr val="FFFFFF"/>
                    </a:solidFill>
                  </a:tcPr>
                </a:tc>
                <a:tc>
                  <a:txBody>
                    <a:bodyPr/>
                    <a:lstStyle/>
                    <a:p>
                      <a:r>
                        <a:rPr sz="1200" b="0">
                          <a:solidFill>
                            <a:srgbClr val="1A1A1A"/>
                          </a:solidFill>
                          <a:latin typeface="Times New Roman"/>
                        </a:rPr>
                        <a:t>14 – 19</a:t>
                      </a:r>
                    </a:p>
                  </a:txBody>
                  <a:tcPr marL="54864" marR="54864" marT="22860" marB="22860" anchor="ctr">
                    <a:solidFill>
                      <a:srgbClr val="FFFFFF"/>
                    </a:solidFill>
                  </a:tcPr>
                </a:tc>
                <a:tc>
                  <a:txBody>
                    <a:bodyPr/>
                    <a:lstStyle/>
                    <a:p>
                      <a:r>
                        <a:rPr sz="1200" b="0">
                          <a:solidFill>
                            <a:srgbClr val="1A1A1A"/>
                          </a:solidFill>
                          <a:latin typeface="Times New Roman"/>
                        </a:rPr>
                        <a:t>13,900 lines of code; working system; benchmark</a:t>
                      </a:r>
                    </a:p>
                  </a:txBody>
                  <a:tcPr marL="54864" marR="54864" marT="22860" marB="22860" anchor="ctr">
                    <a:solidFill>
                      <a:srgbClr val="FFFFFF"/>
                    </a:solidFill>
                  </a:tcPr>
                </a:tc>
              </a:tr>
              <a:tr h="566928">
                <a:tc>
                  <a:txBody>
                    <a:bodyPr/>
                    <a:lstStyle/>
                    <a:p>
                      <a:r>
                        <a:rPr sz="1200" b="0">
                          <a:solidFill>
                            <a:srgbClr val="1A1A1A"/>
                          </a:solidFill>
                          <a:latin typeface="Times New Roman"/>
                        </a:rPr>
                        <a:t>E</a:t>
                      </a:r>
                    </a:p>
                  </a:txBody>
                  <a:tcPr marL="54864" marR="54864" marT="22860" marB="22860" anchor="ctr">
                    <a:solidFill>
                      <a:srgbClr val="E8EEF5"/>
                    </a:solidFill>
                  </a:tcPr>
                </a:tc>
                <a:tc>
                  <a:txBody>
                    <a:bodyPr/>
                    <a:lstStyle/>
                    <a:p>
                      <a:r>
                        <a:rPr sz="1200" b="1">
                          <a:solidFill>
                            <a:srgbClr val="1A1A1A"/>
                          </a:solidFill>
                          <a:latin typeface="Times New Roman"/>
                        </a:rPr>
                        <a:t>Interim Report</a:t>
                      </a:r>
                    </a:p>
                  </a:txBody>
                  <a:tcPr marL="54864" marR="54864" marT="22860" marB="22860" anchor="ctr">
                    <a:solidFill>
                      <a:srgbClr val="E8EEF5"/>
                    </a:solidFill>
                  </a:tcPr>
                </a:tc>
                <a:tc>
                  <a:txBody>
                    <a:bodyPr/>
                    <a:lstStyle/>
                    <a:p>
                      <a:r>
                        <a:rPr sz="1200" b="0">
                          <a:solidFill>
                            <a:srgbClr val="1A1A1A"/>
                          </a:solidFill>
                          <a:latin typeface="Times New Roman"/>
                        </a:rPr>
                        <a:t>20 – 21</a:t>
                      </a:r>
                    </a:p>
                  </a:txBody>
                  <a:tcPr marL="54864" marR="54864" marT="22860" marB="22860" anchor="ctr">
                    <a:solidFill>
                      <a:srgbClr val="E8EEF5"/>
                    </a:solidFill>
                  </a:tcPr>
                </a:tc>
                <a:tc>
                  <a:txBody>
                    <a:bodyPr/>
                    <a:lstStyle/>
                    <a:p>
                      <a:r>
                        <a:rPr sz="1200" b="0">
                          <a:solidFill>
                            <a:srgbClr val="1A1A1A"/>
                          </a:solidFill>
                          <a:latin typeface="Times New Roman"/>
                        </a:rPr>
                        <a:t>IEEE-format draft complete; timeline on track</a:t>
                      </a:r>
                    </a:p>
                  </a:txBody>
                  <a:tcPr marL="54864" marR="54864" marT="22860" marB="22860" anchor="ctr">
                    <a:solidFill>
                      <a:srgbClr val="E8EEF5"/>
                    </a:solidFill>
                  </a:tcPr>
                </a:tc>
              </a:tr>
            </a:tbl>
          </a:graphicData>
        </a:graphic>
      </p:graphicFrame>
      <p:sp>
        <p:nvSpPr>
          <p:cNvPr id="5" name="TextBox 4"/>
          <p:cNvSpPr txBox="1"/>
          <p:nvPr/>
        </p:nvSpPr>
        <p:spPr>
          <a:xfrm>
            <a:off x="566928" y="5532120"/>
            <a:ext cx="8101583" cy="502920"/>
          </a:xfrm>
          <a:prstGeom prst="rect">
            <a:avLst/>
          </a:prstGeom>
          <a:noFill/>
        </p:spPr>
        <p:txBody>
          <a:bodyPr wrap="square">
            <a:spAutoFit/>
          </a:bodyPr>
          <a:lstStyle/>
          <a:p>
            <a:r>
              <a:rPr sz="1200" i="1" b="1">
                <a:solidFill>
                  <a:srgbClr val="8A6D12"/>
                </a:solidFill>
                <a:latin typeface="Times New Roman"/>
              </a:rPr>
              <a:t>Every slide in this deck is tagged in the bottom-left corner with the rubric criterion it answers.</a:t>
            </a:r>
          </a:p>
        </p:txBody>
      </p:sp>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Progress Since Topic Approval</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975104"/>
          <a:ext cx="8101584" cy="3657600"/>
        </p:xfrm>
        <a:graphic>
          <a:graphicData uri="http://schemas.openxmlformats.org/drawingml/2006/table">
            <a:tbl>
              <a:tblPr firstRow="1" bandRow="1">
                <a:tableStyleId>{5C22544A-7EE6-4342-B048-85BDC9FD1C3A}</a:tableStyleId>
              </a:tblPr>
              <a:tblGrid>
                <a:gridCol w="3063240"/>
                <a:gridCol w="960120"/>
                <a:gridCol w="4078224"/>
              </a:tblGrid>
              <a:tr h="457200">
                <a:tc>
                  <a:txBody>
                    <a:bodyPr/>
                    <a:lstStyle/>
                    <a:p>
                      <a:r>
                        <a:rPr sz="1250" b="1">
                          <a:solidFill>
                            <a:srgbClr val="FFFFFF"/>
                          </a:solidFill>
                          <a:latin typeface="Times New Roman"/>
                        </a:rPr>
                        <a:t>Committed at topic approval</a:t>
                      </a:r>
                    </a:p>
                  </a:txBody>
                  <a:tcPr marL="54864" marR="54864" marT="27432" marB="27432" anchor="ctr">
                    <a:solidFill>
                      <a:srgbClr val="1B3A5C"/>
                    </a:solidFill>
                  </a:tcPr>
                </a:tc>
                <a:tc>
                  <a:txBody>
                    <a:bodyPr/>
                    <a:lstStyle/>
                    <a:p>
                      <a:r>
                        <a:rPr sz="1250" b="1">
                          <a:solidFill>
                            <a:srgbClr val="FFFFFF"/>
                          </a:solidFill>
                          <a:latin typeface="Times New Roman"/>
                        </a:rPr>
                        <a:t>Status</a:t>
                      </a:r>
                    </a:p>
                  </a:txBody>
                  <a:tcPr marL="54864" marR="54864" marT="27432" marB="27432" anchor="ctr">
                    <a:solidFill>
                      <a:srgbClr val="1B3A5C"/>
                    </a:solidFill>
                  </a:tcPr>
                </a:tc>
                <a:tc>
                  <a:txBody>
                    <a:bodyPr/>
                    <a:lstStyle/>
                    <a:p>
                      <a:r>
                        <a:rPr sz="1250" b="1">
                          <a:solidFill>
                            <a:srgbClr val="FFFFFF"/>
                          </a:solidFill>
                          <a:latin typeface="Times New Roman"/>
                        </a:rPr>
                        <a:t>Delivered</a:t>
                      </a:r>
                    </a:p>
                  </a:txBody>
                  <a:tcPr marL="54864" marR="54864" marT="27432" marB="27432" anchor="ctr">
                    <a:solidFill>
                      <a:srgbClr val="1B3A5C"/>
                    </a:solidFill>
                  </a:tcPr>
                </a:tc>
              </a:tr>
              <a:tr h="457200">
                <a:tc>
                  <a:txBody>
                    <a:bodyPr/>
                    <a:lstStyle/>
                    <a:p>
                      <a:r>
                        <a:rPr sz="1150" b="0">
                          <a:solidFill>
                            <a:srgbClr val="1A1A1A"/>
                          </a:solidFill>
                          <a:latin typeface="Times New Roman"/>
                        </a:rPr>
                        <a:t>Acquire and clean workplace communication data</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c>
                  <a:txBody>
                    <a:bodyPr/>
                    <a:lstStyle/>
                    <a:p>
                      <a:r>
                        <a:rPr sz="1150" b="0">
                          <a:solidFill>
                            <a:srgbClr val="1A1A1A"/>
                          </a:solidFill>
                          <a:latin typeface="Times New Roman"/>
                        </a:rPr>
                        <a:t>3 corpora, 542,151 records, unified schema</a:t>
                      </a:r>
                    </a:p>
                  </a:txBody>
                  <a:tcPr marL="54864" marR="54864" marT="22860" marB="22860" anchor="ctr">
                    <a:solidFill>
                      <a:srgbClr val="E8EEF5"/>
                    </a:solidFill>
                  </a:tcPr>
                </a:tc>
              </a:tr>
              <a:tr h="457200">
                <a:tc>
                  <a:txBody>
                    <a:bodyPr/>
                    <a:lstStyle/>
                    <a:p>
                      <a:r>
                        <a:rPr sz="1150" b="0">
                          <a:solidFill>
                            <a:srgbClr val="1A1A1A"/>
                          </a:solidFill>
                          <a:latin typeface="Times New Roman"/>
                        </a:rPr>
                        <a:t>Sentiment and emotion analysis pipeline</a:t>
                      </a:r>
                    </a:p>
                  </a:txBody>
                  <a:tcPr marL="54864" marR="54864" marT="22860" marB="22860" anchor="ctr">
                    <a:solidFill>
                      <a:srgbClr val="FFFFFF"/>
                    </a:solidFill>
                  </a:tcPr>
                </a:tc>
                <a:tc>
                  <a:txBody>
                    <a:bodyPr/>
                    <a:lstStyle/>
                    <a:p>
                      <a:r>
                        <a:rPr sz="1150" b="1">
                          <a:solidFill>
                            <a:srgbClr val="1A1A1A"/>
                          </a:solidFill>
                          <a:latin typeface="Times New Roman"/>
                        </a:rPr>
                        <a:t>Complete</a:t>
                      </a:r>
                    </a:p>
                  </a:txBody>
                  <a:tcPr marL="54864" marR="54864" marT="22860" marB="22860" anchor="ctr">
                    <a:solidFill>
                      <a:srgbClr val="FFFFFF"/>
                    </a:solidFill>
                  </a:tcPr>
                </a:tc>
                <a:tc>
                  <a:txBody>
                    <a:bodyPr/>
                    <a:lstStyle/>
                    <a:p>
                      <a:r>
                        <a:rPr sz="1150" b="0">
                          <a:solidFill>
                            <a:srgbClr val="1A1A1A"/>
                          </a:solidFill>
                          <a:latin typeface="Times New Roman"/>
                        </a:rPr>
                        <a:t>RoBERTa + NRC lexicon, 20-column output</a:t>
                      </a:r>
                    </a:p>
                  </a:txBody>
                  <a:tcPr marL="54864" marR="54864" marT="22860" marB="22860" anchor="ctr">
                    <a:solidFill>
                      <a:srgbClr val="FFFFFF"/>
                    </a:solidFill>
                  </a:tcPr>
                </a:tc>
              </a:tr>
              <a:tr h="457200">
                <a:tc>
                  <a:txBody>
                    <a:bodyPr/>
                    <a:lstStyle/>
                    <a:p>
                      <a:r>
                        <a:rPr sz="1150" b="0">
                          <a:solidFill>
                            <a:srgbClr val="1A1A1A"/>
                          </a:solidFill>
                          <a:latin typeface="Times New Roman"/>
                        </a:rPr>
                        <a:t>Transparent burnout scoring</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c>
                  <a:txBody>
                    <a:bodyPr/>
                    <a:lstStyle/>
                    <a:p>
                      <a:r>
                        <a:rPr sz="1150" b="0">
                          <a:solidFill>
                            <a:srgbClr val="1A1A1A"/>
                          </a:solidFill>
                          <a:latin typeface="Times New Roman"/>
                        </a:rPr>
                        <a:t>Additive rule, 3 risk bands, per-record reason</a:t>
                      </a:r>
                    </a:p>
                  </a:txBody>
                  <a:tcPr marL="54864" marR="54864" marT="22860" marB="22860" anchor="ctr">
                    <a:solidFill>
                      <a:srgbClr val="E8EEF5"/>
                    </a:solidFill>
                  </a:tcPr>
                </a:tc>
              </a:tr>
              <a:tr h="457200">
                <a:tc>
                  <a:txBody>
                    <a:bodyPr/>
                    <a:lstStyle/>
                    <a:p>
                      <a:r>
                        <a:rPr sz="1150" b="0">
                          <a:solidFill>
                            <a:srgbClr val="1A1A1A"/>
                          </a:solidFill>
                          <a:latin typeface="Times New Roman"/>
                        </a:rPr>
                        <a:t>Retrieval-Augmented Generation backend</a:t>
                      </a:r>
                    </a:p>
                  </a:txBody>
                  <a:tcPr marL="54864" marR="54864" marT="22860" marB="22860" anchor="ctr">
                    <a:solidFill>
                      <a:srgbClr val="FFFFFF"/>
                    </a:solidFill>
                  </a:tcPr>
                </a:tc>
                <a:tc>
                  <a:txBody>
                    <a:bodyPr/>
                    <a:lstStyle/>
                    <a:p>
                      <a:r>
                        <a:rPr sz="1150" b="1">
                          <a:solidFill>
                            <a:srgbClr val="1A1A1A"/>
                          </a:solidFill>
                          <a:latin typeface="Times New Roman"/>
                        </a:rPr>
                        <a:t>Complete</a:t>
                      </a:r>
                    </a:p>
                  </a:txBody>
                  <a:tcPr marL="54864" marR="54864" marT="22860" marB="22860" anchor="ctr">
                    <a:solidFill>
                      <a:srgbClr val="FFFFFF"/>
                    </a:solidFill>
                  </a:tcPr>
                </a:tc>
                <a:tc>
                  <a:txBody>
                    <a:bodyPr/>
                    <a:lstStyle/>
                    <a:p>
                      <a:r>
                        <a:rPr sz="1150" b="0">
                          <a:solidFill>
                            <a:srgbClr val="1A1A1A"/>
                          </a:solidFill>
                          <a:latin typeface="Times New Roman"/>
                        </a:rPr>
                        <a:t>14 modules, FastAPI, 7 endpoints</a:t>
                      </a:r>
                    </a:p>
                  </a:txBody>
                  <a:tcPr marL="54864" marR="54864" marT="22860" marB="22860" anchor="ctr">
                    <a:solidFill>
                      <a:srgbClr val="FFFFFF"/>
                    </a:solidFill>
                  </a:tcPr>
                </a:tc>
              </a:tr>
              <a:tr h="457200">
                <a:tc>
                  <a:txBody>
                    <a:bodyPr/>
                    <a:lstStyle/>
                    <a:p>
                      <a:r>
                        <a:rPr sz="1150" b="0">
                          <a:solidFill>
                            <a:srgbClr val="1A1A1A"/>
                          </a:solidFill>
                          <a:latin typeface="Times New Roman"/>
                        </a:rPr>
                        <a:t>Interactive dashboard</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c>
                  <a:txBody>
                    <a:bodyPr/>
                    <a:lstStyle/>
                    <a:p>
                      <a:r>
                        <a:rPr sz="1150" b="0">
                          <a:solidFill>
                            <a:srgbClr val="1A1A1A"/>
                          </a:solidFill>
                          <a:latin typeface="Times New Roman"/>
                        </a:rPr>
                        <a:t>Streamlit, 7 charts, PDF export</a:t>
                      </a:r>
                    </a:p>
                  </a:txBody>
                  <a:tcPr marL="54864" marR="54864" marT="22860" marB="22860" anchor="ctr">
                    <a:solidFill>
                      <a:srgbClr val="E8EEF5"/>
                    </a:solidFill>
                  </a:tcPr>
                </a:tc>
              </a:tr>
              <a:tr h="457200">
                <a:tc>
                  <a:txBody>
                    <a:bodyPr/>
                    <a:lstStyle/>
                    <a:p>
                      <a:r>
                        <a:rPr sz="1150" b="0">
                          <a:solidFill>
                            <a:srgbClr val="1A1A1A"/>
                          </a:solidFill>
                          <a:latin typeface="Times New Roman"/>
                        </a:rPr>
                        <a:t>— (added after approval)</a:t>
                      </a:r>
                    </a:p>
                  </a:txBody>
                  <a:tcPr marL="54864" marR="54864" marT="22860" marB="22860" anchor="ctr">
                    <a:solidFill>
                      <a:srgbClr val="FFFFFF"/>
                    </a:solidFill>
                  </a:tcPr>
                </a:tc>
                <a:tc>
                  <a:txBody>
                    <a:bodyPr/>
                    <a:lstStyle/>
                    <a:p>
                      <a:r>
                        <a:rPr sz="1150" b="1">
                          <a:solidFill>
                            <a:srgbClr val="1A1A1A"/>
                          </a:solidFill>
                          <a:latin typeface="Times New Roman"/>
                        </a:rPr>
                        <a:t>Bonus</a:t>
                      </a:r>
                    </a:p>
                  </a:txBody>
                  <a:tcPr marL="54864" marR="54864" marT="22860" marB="22860" anchor="ctr">
                    <a:solidFill>
                      <a:srgbClr val="FFFFFF"/>
                    </a:solidFill>
                  </a:tcPr>
                </a:tc>
                <a:tc>
                  <a:txBody>
                    <a:bodyPr/>
                    <a:lstStyle/>
                    <a:p>
                      <a:r>
                        <a:rPr sz="1150" b="0">
                          <a:solidFill>
                            <a:srgbClr val="1A1A1A"/>
                          </a:solidFill>
                          <a:latin typeface="Times New Roman"/>
                        </a:rPr>
                        <a:t>Document/image ingestion with OCR</a:t>
                      </a:r>
                    </a:p>
                  </a:txBody>
                  <a:tcPr marL="54864" marR="54864" marT="22860" marB="22860" anchor="ctr">
                    <a:solidFill>
                      <a:srgbClr val="FFFFFF"/>
                    </a:solidFill>
                  </a:tcPr>
                </a:tc>
              </a:tr>
              <a:tr h="457200">
                <a:tc>
                  <a:txBody>
                    <a:bodyPr/>
                    <a:lstStyle/>
                    <a:p>
                      <a:r>
                        <a:rPr sz="1150" b="0">
                          <a:solidFill>
                            <a:srgbClr val="1A1A1A"/>
                          </a:solidFill>
                          <a:latin typeface="Times New Roman"/>
                        </a:rPr>
                        <a:t>— (added after approval)</a:t>
                      </a:r>
                    </a:p>
                  </a:txBody>
                  <a:tcPr marL="54864" marR="54864" marT="22860" marB="22860" anchor="ctr">
                    <a:solidFill>
                      <a:srgbClr val="E8EEF5"/>
                    </a:solidFill>
                  </a:tcPr>
                </a:tc>
                <a:tc>
                  <a:txBody>
                    <a:bodyPr/>
                    <a:lstStyle/>
                    <a:p>
                      <a:r>
                        <a:rPr sz="1150" b="1">
                          <a:solidFill>
                            <a:srgbClr val="1A1A1A"/>
                          </a:solidFill>
                          <a:latin typeface="Times New Roman"/>
                        </a:rPr>
                        <a:t>Bonus</a:t>
                      </a:r>
                    </a:p>
                  </a:txBody>
                  <a:tcPr marL="54864" marR="54864" marT="22860" marB="22860" anchor="ctr">
                    <a:solidFill>
                      <a:srgbClr val="E8EEF5"/>
                    </a:solidFill>
                  </a:tcPr>
                </a:tc>
                <a:tc>
                  <a:txBody>
                    <a:bodyPr/>
                    <a:lstStyle/>
                    <a:p>
                      <a:r>
                        <a:rPr sz="1150" b="0">
                          <a:solidFill>
                            <a:srgbClr val="1A1A1A"/>
                          </a:solidFill>
                          <a:latin typeface="Times New Roman"/>
                        </a:rPr>
                        <a:t>Quantum ML comparative study — PennyLane + Qiskit</a:t>
                      </a:r>
                    </a:p>
                  </a:txBody>
                  <a:tcPr marL="54864" marR="54864" marT="22860" marB="22860" anchor="ctr">
                    <a:solidFill>
                      <a:srgbClr val="E8EEF5"/>
                    </a:solidFill>
                  </a:tcPr>
                </a:tc>
              </a:tr>
            </a:tbl>
          </a:graphicData>
        </a:graphic>
      </p:graphicFrame>
      <p:sp>
        <p:nvSpPr>
          <p:cNvPr id="5" name="TextBox 4"/>
          <p:cNvSpPr txBox="1"/>
          <p:nvPr/>
        </p:nvSpPr>
        <p:spPr>
          <a:xfrm>
            <a:off x="566928" y="5724144"/>
            <a:ext cx="8101583" cy="502920"/>
          </a:xfrm>
          <a:prstGeom prst="rect">
            <a:avLst/>
          </a:prstGeom>
          <a:noFill/>
        </p:spPr>
        <p:txBody>
          <a:bodyPr wrap="square">
            <a:spAutoFit/>
          </a:bodyPr>
          <a:lstStyle/>
          <a:p>
            <a:r>
              <a:rPr sz="1200" i="1" b="1">
                <a:solidFill>
                  <a:srgbClr val="8A6D12"/>
                </a:solidFill>
                <a:latin typeface="Times New Roman"/>
              </a:rPr>
              <a:t>All approved deliverables are complete. Two additional workstreams were undertaken beyond the approved scope.</a:t>
            </a:r>
          </a:p>
        </p:txBody>
      </p:sp>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Problem Statement</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B · PROBLEM STATEMENT</a:t>
            </a:r>
          </a:p>
        </p:txBody>
      </p:sp>
      <p:sp>
        <p:nvSpPr>
          <p:cNvPr id="5" name="TextBox 4"/>
          <p:cNvSpPr txBox="1"/>
          <p:nvPr/>
        </p:nvSpPr>
        <p:spPr>
          <a:xfrm>
            <a:off x="566928" y="1938528"/>
            <a:ext cx="8101583" cy="4389120"/>
          </a:xfrm>
          <a:prstGeom prst="rect">
            <a:avLst/>
          </a:prstGeom>
          <a:noFill/>
        </p:spPr>
        <p:txBody>
          <a:bodyPr wrap="square">
            <a:spAutoFit/>
          </a:bodyPr>
          <a:lstStyle/>
          <a:p>
            <a:pPr>
              <a:spcBef>
                <a:spcPts val="200"/>
              </a:spcBef>
              <a:spcAft>
                <a:spcPts val="700"/>
              </a:spcAft>
            </a:pPr>
            <a:r>
              <a:rPr sz="1550" b="1">
                <a:solidFill>
                  <a:srgbClr val="1A1A1A"/>
                </a:solidFill>
                <a:latin typeface="Times New Roman"/>
              </a:rPr>
              <a:t>▪  Burnout is an occupational phenomenon recognised by the WHO, yet it is detected late.</a:t>
            </a:r>
          </a:p>
          <a:p>
            <a:pPr lvl="1">
              <a:spcBef>
                <a:spcPts val="0"/>
              </a:spcBef>
              <a:spcAft>
                <a:spcPts val="700"/>
              </a:spcAft>
            </a:pPr>
            <a:r>
              <a:rPr sz="1420" b="0">
                <a:solidFill>
                  <a:srgbClr val="555F6B"/>
                </a:solidFill>
                <a:latin typeface="Times New Roman"/>
              </a:rPr>
              <a:t>     –  Organisations rely on periodic self-report surveys — low frequency, low response rates, and vulnerable to under-reporting.</a:t>
            </a:r>
          </a:p>
          <a:p>
            <a:pPr lvl="1">
              <a:spcBef>
                <a:spcPts val="0"/>
              </a:spcBef>
              <a:spcAft>
                <a:spcPts val="700"/>
              </a:spcAft>
            </a:pPr>
            <a:r>
              <a:rPr sz="1420" b="0">
                <a:solidFill>
                  <a:srgbClr val="555F6B"/>
                </a:solidFill>
                <a:latin typeface="Times New Roman"/>
              </a:rPr>
              <a:t>     –  By the time a survey registers distress, the disengagement has usually already happened.</a:t>
            </a:r>
          </a:p>
          <a:p>
            <a:pPr>
              <a:spcBef>
                <a:spcPts val="200"/>
              </a:spcBef>
              <a:spcAft>
                <a:spcPts val="700"/>
              </a:spcAft>
            </a:pPr>
            <a:r>
              <a:rPr sz="1550" b="1">
                <a:solidFill>
                  <a:srgbClr val="1A1A1A"/>
                </a:solidFill>
                <a:latin typeface="Times New Roman"/>
              </a:rPr>
              <a:t>▪  Workplace communication carries the signal continuously, but is not used.</a:t>
            </a:r>
          </a:p>
          <a:p>
            <a:pPr lvl="1">
              <a:spcBef>
                <a:spcPts val="0"/>
              </a:spcBef>
              <a:spcAft>
                <a:spcPts val="700"/>
              </a:spcAft>
            </a:pPr>
            <a:r>
              <a:rPr sz="1420" b="0">
                <a:solidFill>
                  <a:srgbClr val="555F6B"/>
                </a:solidFill>
                <a:latin typeface="Times New Roman"/>
              </a:rPr>
              <a:t>     –  Email and chat are generated daily and reflect emotional state as it changes, not months later.</a:t>
            </a:r>
          </a:p>
          <a:p>
            <a:pPr>
              <a:spcBef>
                <a:spcPts val="200"/>
              </a:spcBef>
              <a:spcAft>
                <a:spcPts val="700"/>
              </a:spcAft>
            </a:pPr>
            <a:r>
              <a:rPr sz="1550" b="1">
                <a:solidFill>
                  <a:srgbClr val="1A1A1A"/>
                </a:solidFill>
                <a:latin typeface="Times New Roman"/>
              </a:rPr>
              <a:t>▪  Existing machine-learning approaches produce a number, not a reason.</a:t>
            </a:r>
          </a:p>
          <a:p>
            <a:pPr lvl="1">
              <a:spcBef>
                <a:spcPts val="0"/>
              </a:spcBef>
              <a:spcAft>
                <a:spcPts val="700"/>
              </a:spcAft>
            </a:pPr>
            <a:r>
              <a:rPr sz="1420" b="0">
                <a:solidFill>
                  <a:srgbClr val="555F6B"/>
                </a:solidFill>
                <a:latin typeface="Times New Roman"/>
              </a:rPr>
              <a:t>     –  A score of 7 tells an HR partner nothing about what to do, who to talk to, or why the employee was flagged.</a:t>
            </a:r>
          </a:p>
          <a:p>
            <a:pPr lvl="1">
              <a:spcBef>
                <a:spcPts val="0"/>
              </a:spcBef>
              <a:spcAft>
                <a:spcPts val="700"/>
              </a:spcAft>
            </a:pPr>
            <a:r>
              <a:rPr sz="1420" b="0">
                <a:solidFill>
                  <a:srgbClr val="555F6B"/>
                </a:solidFill>
                <a:latin typeface="Times New Roman"/>
              </a:rPr>
              <a:t>     –  An unexplained score is not actionable, and cannot be audited or contested by the person it describes.</a:t>
            </a:r>
          </a:p>
          <a:p>
            <a:pPr>
              <a:spcBef>
                <a:spcPts val="200"/>
              </a:spcBef>
              <a:spcAft>
                <a:spcPts val="700"/>
              </a:spcAft>
            </a:pPr>
            <a:r>
              <a:rPr sz="1550" b="1">
                <a:solidFill>
                  <a:srgbClr val="1A1A1A"/>
                </a:solidFill>
                <a:latin typeface="Times New Roman"/>
              </a:rPr>
              <a:t>▪  Language models can explain fluently — but they also hallucinate.</a:t>
            </a:r>
          </a:p>
          <a:p>
            <a:pPr lvl="1">
              <a:spcBef>
                <a:spcPts val="0"/>
              </a:spcBef>
              <a:spcAft>
                <a:spcPts val="700"/>
              </a:spcAft>
            </a:pPr>
            <a:r>
              <a:rPr sz="1420" b="0">
                <a:solidFill>
                  <a:srgbClr val="555F6B"/>
                </a:solidFill>
                <a:latin typeface="Times New Roman"/>
              </a:rPr>
              <a:t>     –  Left unconstrained, a language model will invent evidence and silently overrule the measured result.</a:t>
            </a:r>
          </a:p>
        </p:txBody>
      </p:sp>
      <p:sp>
        <p:nvSpPr>
          <p:cNvPr id="6" name="TextBox 5"/>
          <p:cNvSpPr txBox="1"/>
          <p:nvPr/>
        </p:nvSpPr>
        <p:spPr>
          <a:xfrm>
            <a:off x="566928" y="5980176"/>
            <a:ext cx="8101583" cy="502920"/>
          </a:xfrm>
          <a:prstGeom prst="rect">
            <a:avLst/>
          </a:prstGeom>
          <a:noFill/>
        </p:spPr>
        <p:txBody>
          <a:bodyPr wrap="square">
            <a:spAutoFit/>
          </a:bodyPr>
          <a:lstStyle/>
          <a:p>
            <a:r>
              <a:rPr sz="1250" i="1" b="1">
                <a:solidFill>
                  <a:srgbClr val="8A6D12"/>
                </a:solidFill>
                <a:latin typeface="Times New Roman"/>
              </a:rPr>
              <a:t>The gap: detection and explanation are treated as one problem, so systems are either accurate but opaque, or fluent but unreliable.</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Aim and Objectives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B · PROBLEM STATEMENT</a:t>
            </a:r>
          </a:p>
        </p:txBody>
      </p:sp>
      <p:sp>
        <p:nvSpPr>
          <p:cNvPr id="5" name="TextBox 4"/>
          <p:cNvSpPr txBox="1"/>
          <p:nvPr/>
        </p:nvSpPr>
        <p:spPr>
          <a:xfrm>
            <a:off x="566928" y="1938528"/>
            <a:ext cx="8101583" cy="777240"/>
          </a:xfrm>
          <a:prstGeom prst="rect">
            <a:avLst/>
          </a:prstGeom>
          <a:noFill/>
        </p:spPr>
        <p:txBody>
          <a:bodyPr wrap="square">
            <a:spAutoFit/>
          </a:bodyPr>
          <a:lstStyle/>
          <a:p>
            <a:pPr>
              <a:spcBef>
                <a:spcPts val="200"/>
              </a:spcBef>
              <a:spcAft>
                <a:spcPts val="700"/>
              </a:spcAft>
            </a:pPr>
            <a:r>
              <a:rPr sz="1600" b="1">
                <a:solidFill>
                  <a:srgbClr val="1A1A1A"/>
                </a:solidFill>
                <a:latin typeface="Times New Roman"/>
              </a:rPr>
              <a:t>▪  Aim — to build a system that detects burnout risk from workplace communication and explains every decision using only the evidence that produced it.</a:t>
            </a:r>
          </a:p>
        </p:txBody>
      </p:sp>
      <p:graphicFrame>
        <p:nvGraphicFramePr>
          <p:cNvPr id="6" name="Table 5"/>
          <p:cNvGraphicFramePr>
            <a:graphicFrameLocks noGrp="1"/>
          </p:cNvGraphicFramePr>
          <p:nvPr/>
        </p:nvGraphicFramePr>
        <p:xfrm>
          <a:off x="768095" y="2761488"/>
          <a:ext cx="7607808" cy="2944368"/>
        </p:xfrm>
        <a:graphic>
          <a:graphicData uri="http://schemas.openxmlformats.org/drawingml/2006/table">
            <a:tbl>
              <a:tblPr firstRow="1" bandRow="1">
                <a:tableStyleId>{5C22544A-7EE6-4342-B048-85BDC9FD1C3A}</a:tableStyleId>
              </a:tblPr>
              <a:tblGrid>
                <a:gridCol w="310896"/>
                <a:gridCol w="3063240"/>
                <a:gridCol w="3520440"/>
                <a:gridCol w="713232"/>
              </a:tblGrid>
              <a:tr h="420624">
                <a:tc>
                  <a:txBody>
                    <a:bodyPr/>
                    <a:lstStyle/>
                    <a:p>
                      <a:r>
                        <a:rPr sz="1250" b="1">
                          <a:solidFill>
                            <a:srgbClr val="FFFFFF"/>
                          </a:solidFill>
                          <a:latin typeface="Times New Roman"/>
                        </a:rPr>
                        <a:t>#</a:t>
                      </a:r>
                    </a:p>
                  </a:txBody>
                  <a:tcPr marL="54864" marR="54864" marT="27432" marB="27432" anchor="ctr">
                    <a:solidFill>
                      <a:srgbClr val="1B3A5C"/>
                    </a:solidFill>
                  </a:tcPr>
                </a:tc>
                <a:tc>
                  <a:txBody>
                    <a:bodyPr/>
                    <a:lstStyle/>
                    <a:p>
                      <a:r>
                        <a:rPr sz="1250" b="1">
                          <a:solidFill>
                            <a:srgbClr val="FFFFFF"/>
                          </a:solidFill>
                          <a:latin typeface="Times New Roman"/>
                        </a:rPr>
                        <a:t>Objective</a:t>
                      </a:r>
                    </a:p>
                  </a:txBody>
                  <a:tcPr marL="54864" marR="54864" marT="27432" marB="27432" anchor="ctr">
                    <a:solidFill>
                      <a:srgbClr val="1B3A5C"/>
                    </a:solidFill>
                  </a:tcPr>
                </a:tc>
                <a:tc>
                  <a:txBody>
                    <a:bodyPr/>
                    <a:lstStyle/>
                    <a:p>
                      <a:r>
                        <a:rPr sz="1250" b="1">
                          <a:solidFill>
                            <a:srgbClr val="FFFFFF"/>
                          </a:solidFill>
                          <a:latin typeface="Times New Roman"/>
                        </a:rPr>
                        <a:t>Measurable outcome</a:t>
                      </a:r>
                    </a:p>
                  </a:txBody>
                  <a:tcPr marL="54864" marR="54864" marT="27432" marB="27432" anchor="ctr">
                    <a:solidFill>
                      <a:srgbClr val="1B3A5C"/>
                    </a:solidFill>
                  </a:tcPr>
                </a:tc>
                <a:tc>
                  <a:txBody>
                    <a:bodyPr/>
                    <a:lstStyle/>
                    <a:p>
                      <a:r>
                        <a:rPr sz="1250" b="1">
                          <a:solidFill>
                            <a:srgbClr val="FFFFFF"/>
                          </a:solidFill>
                          <a:latin typeface="Times New Roman"/>
                        </a:rPr>
                        <a:t>Status</a:t>
                      </a:r>
                    </a:p>
                  </a:txBody>
                  <a:tcPr marL="54864" marR="54864" marT="27432" marB="27432" anchor="ctr">
                    <a:solidFill>
                      <a:srgbClr val="1B3A5C"/>
                    </a:solidFill>
                  </a:tcPr>
                </a:tc>
              </a:tr>
              <a:tr h="420624">
                <a:tc>
                  <a:txBody>
                    <a:bodyPr/>
                    <a:lstStyle/>
                    <a:p>
                      <a:r>
                        <a:rPr sz="1150" b="0">
                          <a:solidFill>
                            <a:srgbClr val="1A1A1A"/>
                          </a:solidFill>
                          <a:latin typeface="Times New Roman"/>
                        </a:rPr>
                        <a:t>1</a:t>
                      </a:r>
                    </a:p>
                  </a:txBody>
                  <a:tcPr marL="54864" marR="54864" marT="22860" marB="22860" anchor="ctr">
                    <a:solidFill>
                      <a:srgbClr val="E8EEF5"/>
                    </a:solidFill>
                  </a:tcPr>
                </a:tc>
                <a:tc>
                  <a:txBody>
                    <a:bodyPr/>
                    <a:lstStyle/>
                    <a:p>
                      <a:r>
                        <a:rPr sz="1150" b="0">
                          <a:solidFill>
                            <a:srgbClr val="1A1A1A"/>
                          </a:solidFill>
                          <a:latin typeface="Times New Roman"/>
                        </a:rPr>
                        <a:t>Build a reproducible preprocessing pipeline</a:t>
                      </a:r>
                    </a:p>
                  </a:txBody>
                  <a:tcPr marL="54864" marR="54864" marT="22860" marB="22860" anchor="ctr">
                    <a:solidFill>
                      <a:srgbClr val="E8EEF5"/>
                    </a:solidFill>
                  </a:tcPr>
                </a:tc>
                <a:tc>
                  <a:txBody>
                    <a:bodyPr/>
                    <a:lstStyle/>
                    <a:p>
                      <a:r>
                        <a:rPr sz="1150" b="0">
                          <a:solidFill>
                            <a:srgbClr val="1A1A1A"/>
                          </a:solidFill>
                          <a:latin typeface="Times New Roman"/>
                        </a:rPr>
                        <a:t>Single clean_text contract across 3 corpora</a:t>
                      </a:r>
                    </a:p>
                  </a:txBody>
                  <a:tcPr marL="54864" marR="54864" marT="22860" marB="22860" anchor="ctr">
                    <a:solidFill>
                      <a:srgbClr val="E8EEF5"/>
                    </a:solidFill>
                  </a:tcPr>
                </a:tc>
                <a:tc>
                  <a:txBody>
                    <a:bodyPr/>
                    <a:lstStyle/>
                    <a:p>
                      <a:r>
                        <a:rPr sz="1150" b="1">
                          <a:solidFill>
                            <a:srgbClr val="1A1A1A"/>
                          </a:solidFill>
                          <a:latin typeface="Times New Roman"/>
                        </a:rPr>
                        <a:t>Done</a:t>
                      </a:r>
                    </a:p>
                  </a:txBody>
                  <a:tcPr marL="54864" marR="54864" marT="22860" marB="22860" anchor="ctr">
                    <a:solidFill>
                      <a:srgbClr val="E8EEF5"/>
                    </a:solidFill>
                  </a:tcPr>
                </a:tc>
              </a:tr>
              <a:tr h="420624">
                <a:tc>
                  <a:txBody>
                    <a:bodyPr/>
                    <a:lstStyle/>
                    <a:p>
                      <a:r>
                        <a:rPr sz="1150" b="0">
                          <a:solidFill>
                            <a:srgbClr val="1A1A1A"/>
                          </a:solidFill>
                          <a:latin typeface="Times New Roman"/>
                        </a:rPr>
                        <a:t>2</a:t>
                      </a:r>
                    </a:p>
                  </a:txBody>
                  <a:tcPr marL="54864" marR="54864" marT="22860" marB="22860" anchor="ctr">
                    <a:solidFill>
                      <a:srgbClr val="FFFFFF"/>
                    </a:solidFill>
                  </a:tcPr>
                </a:tc>
                <a:tc>
                  <a:txBody>
                    <a:bodyPr/>
                    <a:lstStyle/>
                    <a:p>
                      <a:r>
                        <a:rPr sz="1150" b="0">
                          <a:solidFill>
                            <a:srgbClr val="1A1A1A"/>
                          </a:solidFill>
                          <a:latin typeface="Times New Roman"/>
                        </a:rPr>
                        <a:t>Classify sentiment and emotion per message</a:t>
                      </a:r>
                    </a:p>
                  </a:txBody>
                  <a:tcPr marL="54864" marR="54864" marT="22860" marB="22860" anchor="ctr">
                    <a:solidFill>
                      <a:srgbClr val="FFFFFF"/>
                    </a:solidFill>
                  </a:tcPr>
                </a:tc>
                <a:tc>
                  <a:txBody>
                    <a:bodyPr/>
                    <a:lstStyle/>
                    <a:p>
                      <a:r>
                        <a:rPr sz="1150" b="0">
                          <a:solidFill>
                            <a:srgbClr val="1A1A1A"/>
                          </a:solidFill>
                          <a:latin typeface="Times New Roman"/>
                        </a:rPr>
                        <a:t>RoBERTa + 8-category NRC lexicon</a:t>
                      </a:r>
                    </a:p>
                  </a:txBody>
                  <a:tcPr marL="54864" marR="54864" marT="22860" marB="22860" anchor="ctr">
                    <a:solidFill>
                      <a:srgbClr val="FFFFFF"/>
                    </a:solidFill>
                  </a:tcPr>
                </a:tc>
                <a:tc>
                  <a:txBody>
                    <a:bodyPr/>
                    <a:lstStyle/>
                    <a:p>
                      <a:r>
                        <a:rPr sz="1150" b="1">
                          <a:solidFill>
                            <a:srgbClr val="1A1A1A"/>
                          </a:solidFill>
                          <a:latin typeface="Times New Roman"/>
                        </a:rPr>
                        <a:t>Done</a:t>
                      </a:r>
                    </a:p>
                  </a:txBody>
                  <a:tcPr marL="54864" marR="54864" marT="22860" marB="22860" anchor="ctr">
                    <a:solidFill>
                      <a:srgbClr val="FFFFFF"/>
                    </a:solidFill>
                  </a:tcPr>
                </a:tc>
              </a:tr>
              <a:tr h="420624">
                <a:tc>
                  <a:txBody>
                    <a:bodyPr/>
                    <a:lstStyle/>
                    <a:p>
                      <a:r>
                        <a:rPr sz="1150" b="0">
                          <a:solidFill>
                            <a:srgbClr val="1A1A1A"/>
                          </a:solidFill>
                          <a:latin typeface="Times New Roman"/>
                        </a:rPr>
                        <a:t>3</a:t>
                      </a:r>
                    </a:p>
                  </a:txBody>
                  <a:tcPr marL="54864" marR="54864" marT="22860" marB="22860" anchor="ctr">
                    <a:solidFill>
                      <a:srgbClr val="E8EEF5"/>
                    </a:solidFill>
                  </a:tcPr>
                </a:tc>
                <a:tc>
                  <a:txBody>
                    <a:bodyPr/>
                    <a:lstStyle/>
                    <a:p>
                      <a:r>
                        <a:rPr sz="1150" b="0">
                          <a:solidFill>
                            <a:srgbClr val="1A1A1A"/>
                          </a:solidFill>
                          <a:latin typeface="Times New Roman"/>
                        </a:rPr>
                        <a:t>Produce an auditable burnout score</a:t>
                      </a:r>
                    </a:p>
                  </a:txBody>
                  <a:tcPr marL="54864" marR="54864" marT="22860" marB="22860" anchor="ctr">
                    <a:solidFill>
                      <a:srgbClr val="E8EEF5"/>
                    </a:solidFill>
                  </a:tcPr>
                </a:tc>
                <a:tc>
                  <a:txBody>
                    <a:bodyPr/>
                    <a:lstStyle/>
                    <a:p>
                      <a:r>
                        <a:rPr sz="1150" b="0">
                          <a:solidFill>
                            <a:srgbClr val="1A1A1A"/>
                          </a:solidFill>
                          <a:latin typeface="Times New Roman"/>
                        </a:rPr>
                        <a:t>Additive rule; every point traceable</a:t>
                      </a:r>
                    </a:p>
                  </a:txBody>
                  <a:tcPr marL="54864" marR="54864" marT="22860" marB="22860" anchor="ctr">
                    <a:solidFill>
                      <a:srgbClr val="E8EEF5"/>
                    </a:solidFill>
                  </a:tcPr>
                </a:tc>
                <a:tc>
                  <a:txBody>
                    <a:bodyPr/>
                    <a:lstStyle/>
                    <a:p>
                      <a:r>
                        <a:rPr sz="1150" b="1">
                          <a:solidFill>
                            <a:srgbClr val="1A1A1A"/>
                          </a:solidFill>
                          <a:latin typeface="Times New Roman"/>
                        </a:rPr>
                        <a:t>Done</a:t>
                      </a:r>
                    </a:p>
                  </a:txBody>
                  <a:tcPr marL="54864" marR="54864" marT="22860" marB="22860" anchor="ctr">
                    <a:solidFill>
                      <a:srgbClr val="E8EEF5"/>
                    </a:solidFill>
                  </a:tcPr>
                </a:tc>
              </a:tr>
              <a:tr h="420624">
                <a:tc>
                  <a:txBody>
                    <a:bodyPr/>
                    <a:lstStyle/>
                    <a:p>
                      <a:r>
                        <a:rPr sz="1150" b="0">
                          <a:solidFill>
                            <a:srgbClr val="1A1A1A"/>
                          </a:solidFill>
                          <a:latin typeface="Times New Roman"/>
                        </a:rPr>
                        <a:t>4</a:t>
                      </a:r>
                    </a:p>
                  </a:txBody>
                  <a:tcPr marL="54864" marR="54864" marT="22860" marB="22860" anchor="ctr">
                    <a:solidFill>
                      <a:srgbClr val="FFFFFF"/>
                    </a:solidFill>
                  </a:tcPr>
                </a:tc>
                <a:tc>
                  <a:txBody>
                    <a:bodyPr/>
                    <a:lstStyle/>
                    <a:p>
                      <a:r>
                        <a:rPr sz="1150" b="0">
                          <a:solidFill>
                            <a:srgbClr val="1A1A1A"/>
                          </a:solidFill>
                          <a:latin typeface="Times New Roman"/>
                        </a:rPr>
                        <a:t>Ground explanation in retrieved evidence</a:t>
                      </a:r>
                    </a:p>
                  </a:txBody>
                  <a:tcPr marL="54864" marR="54864" marT="22860" marB="22860" anchor="ctr">
                    <a:solidFill>
                      <a:srgbClr val="FFFFFF"/>
                    </a:solidFill>
                  </a:tcPr>
                </a:tc>
                <a:tc>
                  <a:txBody>
                    <a:bodyPr/>
                    <a:lstStyle/>
                    <a:p>
                      <a:r>
                        <a:rPr sz="1150" b="0">
                          <a:solidFill>
                            <a:srgbClr val="1A1A1A"/>
                          </a:solidFill>
                          <a:latin typeface="Times New Roman"/>
                        </a:rPr>
                        <a:t>Vector retrieval + fenced-evidence prompt</a:t>
                      </a:r>
                    </a:p>
                  </a:txBody>
                  <a:tcPr marL="54864" marR="54864" marT="22860" marB="22860" anchor="ctr">
                    <a:solidFill>
                      <a:srgbClr val="FFFFFF"/>
                    </a:solidFill>
                  </a:tcPr>
                </a:tc>
                <a:tc>
                  <a:txBody>
                    <a:bodyPr/>
                    <a:lstStyle/>
                    <a:p>
                      <a:r>
                        <a:rPr sz="1150" b="1">
                          <a:solidFill>
                            <a:srgbClr val="1A1A1A"/>
                          </a:solidFill>
                          <a:latin typeface="Times New Roman"/>
                        </a:rPr>
                        <a:t>Done</a:t>
                      </a:r>
                    </a:p>
                  </a:txBody>
                  <a:tcPr marL="54864" marR="54864" marT="22860" marB="22860" anchor="ctr">
                    <a:solidFill>
                      <a:srgbClr val="FFFFFF"/>
                    </a:solidFill>
                  </a:tcPr>
                </a:tc>
              </a:tr>
              <a:tr h="420624">
                <a:tc>
                  <a:txBody>
                    <a:bodyPr/>
                    <a:lstStyle/>
                    <a:p>
                      <a:r>
                        <a:rPr sz="1150" b="0">
                          <a:solidFill>
                            <a:srgbClr val="1A1A1A"/>
                          </a:solidFill>
                          <a:latin typeface="Times New Roman"/>
                        </a:rPr>
                        <a:t>5</a:t>
                      </a:r>
                    </a:p>
                  </a:txBody>
                  <a:tcPr marL="54864" marR="54864" marT="22860" marB="22860" anchor="ctr">
                    <a:solidFill>
                      <a:srgbClr val="E8EEF5"/>
                    </a:solidFill>
                  </a:tcPr>
                </a:tc>
                <a:tc>
                  <a:txBody>
                    <a:bodyPr/>
                    <a:lstStyle/>
                    <a:p>
                      <a:r>
                        <a:rPr sz="1150" b="0">
                          <a:solidFill>
                            <a:srgbClr val="1A1A1A"/>
                          </a:solidFill>
                          <a:latin typeface="Times New Roman"/>
                        </a:rPr>
                        <a:t>Prevent the LLM overruling the measurement</a:t>
                      </a:r>
                    </a:p>
                  </a:txBody>
                  <a:tcPr marL="54864" marR="54864" marT="22860" marB="22860" anchor="ctr">
                    <a:solidFill>
                      <a:srgbClr val="E8EEF5"/>
                    </a:solidFill>
                  </a:tcPr>
                </a:tc>
                <a:tc>
                  <a:txBody>
                    <a:bodyPr/>
                    <a:lstStyle/>
                    <a:p>
                      <a:r>
                        <a:rPr sz="1150" b="0">
                          <a:solidFill>
                            <a:srgbClr val="1A1A1A"/>
                          </a:solidFill>
                          <a:latin typeface="Times New Roman"/>
                        </a:rPr>
                        <a:t>risk_level echoed verbatim, never regenerated</a:t>
                      </a:r>
                    </a:p>
                  </a:txBody>
                  <a:tcPr marL="54864" marR="54864" marT="22860" marB="22860" anchor="ctr">
                    <a:solidFill>
                      <a:srgbClr val="E8EEF5"/>
                    </a:solidFill>
                  </a:tcPr>
                </a:tc>
                <a:tc>
                  <a:txBody>
                    <a:bodyPr/>
                    <a:lstStyle/>
                    <a:p>
                      <a:r>
                        <a:rPr sz="1150" b="1">
                          <a:solidFill>
                            <a:srgbClr val="1A1A1A"/>
                          </a:solidFill>
                          <a:latin typeface="Times New Roman"/>
                        </a:rPr>
                        <a:t>Done</a:t>
                      </a:r>
                    </a:p>
                  </a:txBody>
                  <a:tcPr marL="54864" marR="54864" marT="22860" marB="22860" anchor="ctr">
                    <a:solidFill>
                      <a:srgbClr val="E8EEF5"/>
                    </a:solidFill>
                  </a:tcPr>
                </a:tc>
              </a:tr>
              <a:tr h="420624">
                <a:tc>
                  <a:txBody>
                    <a:bodyPr/>
                    <a:lstStyle/>
                    <a:p>
                      <a:r>
                        <a:rPr sz="1150" b="0">
                          <a:solidFill>
                            <a:srgbClr val="1A1A1A"/>
                          </a:solidFill>
                          <a:latin typeface="Times New Roman"/>
                        </a:rPr>
                        <a:t>6</a:t>
                      </a:r>
                    </a:p>
                  </a:txBody>
                  <a:tcPr marL="54864" marR="54864" marT="22860" marB="22860" anchor="ctr">
                    <a:solidFill>
                      <a:srgbClr val="FFFFFF"/>
                    </a:solidFill>
                  </a:tcPr>
                </a:tc>
                <a:tc>
                  <a:txBody>
                    <a:bodyPr/>
                    <a:lstStyle/>
                    <a:p>
                      <a:r>
                        <a:rPr sz="1150" b="0">
                          <a:solidFill>
                            <a:srgbClr val="1A1A1A"/>
                          </a:solidFill>
                          <a:latin typeface="Times New Roman"/>
                        </a:rPr>
                        <a:t>Deliver an inspectable HR-facing interface</a:t>
                      </a:r>
                    </a:p>
                  </a:txBody>
                  <a:tcPr marL="54864" marR="54864" marT="22860" marB="22860" anchor="ctr">
                    <a:solidFill>
                      <a:srgbClr val="FFFFFF"/>
                    </a:solidFill>
                  </a:tcPr>
                </a:tc>
                <a:tc>
                  <a:txBody>
                    <a:bodyPr/>
                    <a:lstStyle/>
                    <a:p>
                      <a:r>
                        <a:rPr sz="1150" b="0">
                          <a:solidFill>
                            <a:srgbClr val="1A1A1A"/>
                          </a:solidFill>
                          <a:latin typeface="Times New Roman"/>
                        </a:rPr>
                        <a:t>Dashboard + PDF, evidence shown with answer</a:t>
                      </a:r>
                    </a:p>
                  </a:txBody>
                  <a:tcPr marL="54864" marR="54864" marT="22860" marB="22860" anchor="ctr">
                    <a:solidFill>
                      <a:srgbClr val="FFFFFF"/>
                    </a:solidFill>
                  </a:tcPr>
                </a:tc>
                <a:tc>
                  <a:txBody>
                    <a:bodyPr/>
                    <a:lstStyle/>
                    <a:p>
                      <a:r>
                        <a:rPr sz="1150" b="1">
                          <a:solidFill>
                            <a:srgbClr val="1A1A1A"/>
                          </a:solidFill>
                          <a:latin typeface="Times New Roman"/>
                        </a:rPr>
                        <a:t>Done</a:t>
                      </a:r>
                    </a:p>
                  </a:txBody>
                  <a:tcPr marL="54864" marR="54864" marT="22860" marB="22860" anchor="ctr">
                    <a:solidFill>
                      <a:srgbClr val="FFFFFF"/>
                    </a:solidFill>
                  </a:tcPr>
                </a:tc>
              </a:tr>
            </a:tbl>
          </a:graphicData>
        </a:graphic>
      </p:graphicFrame>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Literature Review I — Burnout and Language Models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A · LITERATURE REVIEW</a:t>
            </a:r>
          </a:p>
        </p:txBody>
      </p:sp>
      <p:graphicFrame>
        <p:nvGraphicFramePr>
          <p:cNvPr id="5" name="Table 4"/>
          <p:cNvGraphicFramePr>
            <a:graphicFrameLocks noGrp="1"/>
          </p:cNvGraphicFramePr>
          <p:nvPr/>
        </p:nvGraphicFramePr>
        <p:xfrm>
          <a:off x="566928" y="1975104"/>
          <a:ext cx="8092440" cy="4361688"/>
        </p:xfrm>
        <a:graphic>
          <a:graphicData uri="http://schemas.openxmlformats.org/drawingml/2006/table">
            <a:tbl>
              <a:tblPr firstRow="1" bandRow="1">
                <a:tableStyleId>{5C22544A-7EE6-4342-B048-85BDC9FD1C3A}</a:tableStyleId>
              </a:tblPr>
              <a:tblGrid>
                <a:gridCol w="411480"/>
                <a:gridCol w="1508760"/>
                <a:gridCol w="2880360"/>
                <a:gridCol w="3291840"/>
              </a:tblGrid>
              <a:tr h="484632">
                <a:tc>
                  <a:txBody>
                    <a:bodyPr/>
                    <a:lstStyle/>
                    <a:p>
                      <a:r>
                        <a:rPr sz="1100" b="1">
                          <a:solidFill>
                            <a:srgbClr val="FFFFFF"/>
                          </a:solidFill>
                          <a:latin typeface="Times New Roman"/>
                        </a:rPr>
                        <a:t>Ref</a:t>
                      </a:r>
                    </a:p>
                  </a:txBody>
                  <a:tcPr marL="54864" marR="54864" marT="27432" marB="27432" anchor="ctr">
                    <a:solidFill>
                      <a:srgbClr val="1B3A5C"/>
                    </a:solidFill>
                  </a:tcPr>
                </a:tc>
                <a:tc>
                  <a:txBody>
                    <a:bodyPr/>
                    <a:lstStyle/>
                    <a:p>
                      <a:r>
                        <a:rPr sz="1100" b="1">
                          <a:solidFill>
                            <a:srgbClr val="FFFFFF"/>
                          </a:solidFill>
                          <a:latin typeface="Times New Roman"/>
                        </a:rPr>
                        <a:t>Work</a:t>
                      </a:r>
                    </a:p>
                  </a:txBody>
                  <a:tcPr marL="54864" marR="54864" marT="27432" marB="27432" anchor="ctr">
                    <a:solidFill>
                      <a:srgbClr val="1B3A5C"/>
                    </a:solidFill>
                  </a:tcPr>
                </a:tc>
                <a:tc>
                  <a:txBody>
                    <a:bodyPr/>
                    <a:lstStyle/>
                    <a:p>
                      <a:r>
                        <a:rPr sz="1100" b="1">
                          <a:solidFill>
                            <a:srgbClr val="FFFFFF"/>
                          </a:solidFill>
                          <a:latin typeface="Times New Roman"/>
                        </a:rPr>
                        <a:t>Contribution</a:t>
                      </a:r>
                    </a:p>
                  </a:txBody>
                  <a:tcPr marL="54864" marR="54864" marT="27432" marB="27432" anchor="ctr">
                    <a:solidFill>
                      <a:srgbClr val="1B3A5C"/>
                    </a:solidFill>
                  </a:tcPr>
                </a:tc>
                <a:tc>
                  <a:txBody>
                    <a:bodyPr/>
                    <a:lstStyle/>
                    <a:p>
                      <a:r>
                        <a:rPr sz="1100" b="1">
                          <a:solidFill>
                            <a:srgbClr val="FFFFFF"/>
                          </a:solidFill>
                          <a:latin typeface="Times New Roman"/>
                        </a:rPr>
                        <a:t>What we take from it</a:t>
                      </a:r>
                    </a:p>
                  </a:txBody>
                  <a:tcPr marL="54864" marR="54864" marT="27432" marB="27432" anchor="ctr">
                    <a:solidFill>
                      <a:srgbClr val="1B3A5C"/>
                    </a:solidFill>
                  </a:tcPr>
                </a:tc>
              </a:tr>
              <a:tr h="484632">
                <a:tc>
                  <a:txBody>
                    <a:bodyPr/>
                    <a:lstStyle/>
                    <a:p>
                      <a:r>
                        <a:rPr sz="1050" b="0">
                          <a:solidFill>
                            <a:srgbClr val="1A1A1A"/>
                          </a:solidFill>
                          <a:latin typeface="Times New Roman"/>
                        </a:rPr>
                        <a:t>[1]</a:t>
                      </a:r>
                    </a:p>
                  </a:txBody>
                  <a:tcPr marL="54864" marR="54864" marT="22860" marB="22860" anchor="ctr">
                    <a:solidFill>
                      <a:srgbClr val="E8EEF5"/>
                    </a:solidFill>
                  </a:tcPr>
                </a:tc>
                <a:tc>
                  <a:txBody>
                    <a:bodyPr/>
                    <a:lstStyle/>
                    <a:p>
                      <a:r>
                        <a:rPr sz="1050" b="0">
                          <a:solidFill>
                            <a:srgbClr val="1A1A1A"/>
                          </a:solidFill>
                          <a:latin typeface="Times New Roman"/>
                        </a:rPr>
                        <a:t>WHO (ICD-11)</a:t>
                      </a:r>
                    </a:p>
                  </a:txBody>
                  <a:tcPr marL="54864" marR="54864" marT="22860" marB="22860" anchor="ctr">
                    <a:solidFill>
                      <a:srgbClr val="E8EEF5"/>
                    </a:solidFill>
                  </a:tcPr>
                </a:tc>
                <a:tc>
                  <a:txBody>
                    <a:bodyPr/>
                    <a:lstStyle/>
                    <a:p>
                      <a:r>
                        <a:rPr sz="1050" b="0">
                          <a:solidFill>
                            <a:srgbClr val="1A1A1A"/>
                          </a:solidFill>
                          <a:latin typeface="Times New Roman"/>
                        </a:rPr>
                        <a:t>Burnout classified as an occupational phenomenon</a:t>
                      </a:r>
                    </a:p>
                  </a:txBody>
                  <a:tcPr marL="54864" marR="54864" marT="22860" marB="22860" anchor="ctr">
                    <a:solidFill>
                      <a:srgbClr val="E8EEF5"/>
                    </a:solidFill>
                  </a:tcPr>
                </a:tc>
                <a:tc>
                  <a:txBody>
                    <a:bodyPr/>
                    <a:lstStyle/>
                    <a:p>
                      <a:r>
                        <a:rPr sz="1050" b="0">
                          <a:solidFill>
                            <a:srgbClr val="1A1A1A"/>
                          </a:solidFill>
                          <a:latin typeface="Times New Roman"/>
                        </a:rPr>
                        <a:t>Defines responsible-use boundary: not a diagnosis</a:t>
                      </a:r>
                    </a:p>
                  </a:txBody>
                  <a:tcPr marL="54864" marR="54864" marT="22860" marB="22860" anchor="ctr">
                    <a:solidFill>
                      <a:srgbClr val="E8EEF5"/>
                    </a:solidFill>
                  </a:tcPr>
                </a:tc>
              </a:tr>
              <a:tr h="484632">
                <a:tc>
                  <a:txBody>
                    <a:bodyPr/>
                    <a:lstStyle/>
                    <a:p>
                      <a:r>
                        <a:rPr sz="1050" b="0">
                          <a:solidFill>
                            <a:srgbClr val="1A1A1A"/>
                          </a:solidFill>
                          <a:latin typeface="Times New Roman"/>
                        </a:rPr>
                        <a:t>[2]</a:t>
                      </a:r>
                    </a:p>
                  </a:txBody>
                  <a:tcPr marL="54864" marR="54864" marT="22860" marB="22860" anchor="ctr">
                    <a:solidFill>
                      <a:srgbClr val="FFFFFF"/>
                    </a:solidFill>
                  </a:tcPr>
                </a:tc>
                <a:tc>
                  <a:txBody>
                    <a:bodyPr/>
                    <a:lstStyle/>
                    <a:p>
                      <a:r>
                        <a:rPr sz="1050" b="0">
                          <a:solidFill>
                            <a:srgbClr val="1A1A1A"/>
                          </a:solidFill>
                          <a:latin typeface="Times New Roman"/>
                        </a:rPr>
                        <a:t>Maslach &amp; Jackson</a:t>
                      </a:r>
                    </a:p>
                  </a:txBody>
                  <a:tcPr marL="54864" marR="54864" marT="22860" marB="22860" anchor="ctr">
                    <a:solidFill>
                      <a:srgbClr val="FFFFFF"/>
                    </a:solidFill>
                  </a:tcPr>
                </a:tc>
                <a:tc>
                  <a:txBody>
                    <a:bodyPr/>
                    <a:lstStyle/>
                    <a:p>
                      <a:r>
                        <a:rPr sz="1050" b="0">
                          <a:solidFill>
                            <a:srgbClr val="1A1A1A"/>
                          </a:solidFill>
                          <a:latin typeface="Times New Roman"/>
                        </a:rPr>
                        <a:t>Maslach Burnout Inventory — three-part schema</a:t>
                      </a:r>
                    </a:p>
                  </a:txBody>
                  <a:tcPr marL="54864" marR="54864" marT="22860" marB="22860" anchor="ctr">
                    <a:solidFill>
                      <a:srgbClr val="FFFFFF"/>
                    </a:solidFill>
                  </a:tcPr>
                </a:tc>
                <a:tc>
                  <a:txBody>
                    <a:bodyPr/>
                    <a:lstStyle/>
                    <a:p>
                      <a:r>
                        <a:rPr sz="1050" b="0">
                          <a:solidFill>
                            <a:srgbClr val="1A1A1A"/>
                          </a:solidFill>
                          <a:latin typeface="Times New Roman"/>
                        </a:rPr>
                        <a:t>Exhaustion / cynicism / efficacy framing</a:t>
                      </a:r>
                    </a:p>
                  </a:txBody>
                  <a:tcPr marL="54864" marR="54864" marT="22860" marB="22860" anchor="ctr">
                    <a:solidFill>
                      <a:srgbClr val="FFFFFF"/>
                    </a:solidFill>
                  </a:tcPr>
                </a:tc>
              </a:tr>
              <a:tr h="484632">
                <a:tc>
                  <a:txBody>
                    <a:bodyPr/>
                    <a:lstStyle/>
                    <a:p>
                      <a:r>
                        <a:rPr sz="1050" b="0">
                          <a:solidFill>
                            <a:srgbClr val="1A1A1A"/>
                          </a:solidFill>
                          <a:latin typeface="Times New Roman"/>
                        </a:rPr>
                        <a:t>[3]</a:t>
                      </a:r>
                    </a:p>
                  </a:txBody>
                  <a:tcPr marL="54864" marR="54864" marT="22860" marB="22860" anchor="ctr">
                    <a:solidFill>
                      <a:srgbClr val="E8EEF5"/>
                    </a:solidFill>
                  </a:tcPr>
                </a:tc>
                <a:tc>
                  <a:txBody>
                    <a:bodyPr/>
                    <a:lstStyle/>
                    <a:p>
                      <a:r>
                        <a:rPr sz="1050" b="0">
                          <a:solidFill>
                            <a:srgbClr val="1A1A1A"/>
                          </a:solidFill>
                          <a:latin typeface="Times New Roman"/>
                        </a:rPr>
                        <a:t>Xames et al.</a:t>
                      </a:r>
                    </a:p>
                  </a:txBody>
                  <a:tcPr marL="54864" marR="54864" marT="22860" marB="22860" anchor="ctr">
                    <a:solidFill>
                      <a:srgbClr val="E8EEF5"/>
                    </a:solidFill>
                  </a:tcPr>
                </a:tc>
                <a:tc>
                  <a:txBody>
                    <a:bodyPr/>
                    <a:lstStyle/>
                    <a:p>
                      <a:r>
                        <a:rPr sz="1050" b="0">
                          <a:solidFill>
                            <a:srgbClr val="1A1A1A"/>
                          </a:solidFill>
                          <a:latin typeface="Times New Roman"/>
                        </a:rPr>
                        <a:t>ML for burnout prediction from HR and survey data</a:t>
                      </a:r>
                    </a:p>
                  </a:txBody>
                  <a:tcPr marL="54864" marR="54864" marT="22860" marB="22860" anchor="ctr">
                    <a:solidFill>
                      <a:srgbClr val="E8EEF5"/>
                    </a:solidFill>
                  </a:tcPr>
                </a:tc>
                <a:tc>
                  <a:txBody>
                    <a:bodyPr/>
                    <a:lstStyle/>
                    <a:p>
                      <a:r>
                        <a:rPr sz="1050" b="0">
                          <a:solidFill>
                            <a:srgbClr val="1A1A1A"/>
                          </a:solidFill>
                          <a:latin typeface="Times New Roman"/>
                        </a:rPr>
                        <a:t>Confirms the field's reliance on self-report</a:t>
                      </a:r>
                    </a:p>
                  </a:txBody>
                  <a:tcPr marL="54864" marR="54864" marT="22860" marB="22860" anchor="ctr">
                    <a:solidFill>
                      <a:srgbClr val="E8EEF5"/>
                    </a:solidFill>
                  </a:tcPr>
                </a:tc>
              </a:tr>
              <a:tr h="484632">
                <a:tc>
                  <a:txBody>
                    <a:bodyPr/>
                    <a:lstStyle/>
                    <a:p>
                      <a:r>
                        <a:rPr sz="1050" b="0">
                          <a:solidFill>
                            <a:srgbClr val="1A1A1A"/>
                          </a:solidFill>
                          <a:latin typeface="Times New Roman"/>
                        </a:rPr>
                        <a:t>[4]</a:t>
                      </a:r>
                    </a:p>
                  </a:txBody>
                  <a:tcPr marL="54864" marR="54864" marT="22860" marB="22860" anchor="ctr">
                    <a:solidFill>
                      <a:srgbClr val="FFFFFF"/>
                    </a:solidFill>
                  </a:tcPr>
                </a:tc>
                <a:tc>
                  <a:txBody>
                    <a:bodyPr/>
                    <a:lstStyle/>
                    <a:p>
                      <a:r>
                        <a:rPr sz="1050" b="0">
                          <a:solidFill>
                            <a:srgbClr val="1A1A1A"/>
                          </a:solidFill>
                          <a:latin typeface="Times New Roman"/>
                        </a:rPr>
                        <a:t>Vaswani et al.</a:t>
                      </a:r>
                    </a:p>
                  </a:txBody>
                  <a:tcPr marL="54864" marR="54864" marT="22860" marB="22860" anchor="ctr">
                    <a:solidFill>
                      <a:srgbClr val="FFFFFF"/>
                    </a:solidFill>
                  </a:tcPr>
                </a:tc>
                <a:tc>
                  <a:txBody>
                    <a:bodyPr/>
                    <a:lstStyle/>
                    <a:p>
                      <a:r>
                        <a:rPr sz="1050" b="0">
                          <a:solidFill>
                            <a:srgbClr val="1A1A1A"/>
                          </a:solidFill>
                          <a:latin typeface="Times New Roman"/>
                        </a:rPr>
                        <a:t>Transformer architecture</a:t>
                      </a:r>
                    </a:p>
                  </a:txBody>
                  <a:tcPr marL="54864" marR="54864" marT="22860" marB="22860" anchor="ctr">
                    <a:solidFill>
                      <a:srgbClr val="FFFFFF"/>
                    </a:solidFill>
                  </a:tcPr>
                </a:tc>
                <a:tc>
                  <a:txBody>
                    <a:bodyPr/>
                    <a:lstStyle/>
                    <a:p>
                      <a:r>
                        <a:rPr sz="1050" b="0">
                          <a:solidFill>
                            <a:srgbClr val="1A1A1A"/>
                          </a:solidFill>
                          <a:latin typeface="Times New Roman"/>
                        </a:rPr>
                        <a:t>Basis of the sentiment encoder</a:t>
                      </a:r>
                    </a:p>
                  </a:txBody>
                  <a:tcPr marL="54864" marR="54864" marT="22860" marB="22860" anchor="ctr">
                    <a:solidFill>
                      <a:srgbClr val="FFFFFF"/>
                    </a:solidFill>
                  </a:tcPr>
                </a:tc>
              </a:tr>
              <a:tr h="484632">
                <a:tc>
                  <a:txBody>
                    <a:bodyPr/>
                    <a:lstStyle/>
                    <a:p>
                      <a:r>
                        <a:rPr sz="1050" b="0">
                          <a:solidFill>
                            <a:srgbClr val="1A1A1A"/>
                          </a:solidFill>
                          <a:latin typeface="Times New Roman"/>
                        </a:rPr>
                        <a:t>[5]</a:t>
                      </a:r>
                    </a:p>
                  </a:txBody>
                  <a:tcPr marL="54864" marR="54864" marT="22860" marB="22860" anchor="ctr">
                    <a:solidFill>
                      <a:srgbClr val="E8EEF5"/>
                    </a:solidFill>
                  </a:tcPr>
                </a:tc>
                <a:tc>
                  <a:txBody>
                    <a:bodyPr/>
                    <a:lstStyle/>
                    <a:p>
                      <a:r>
                        <a:rPr sz="1050" b="0">
                          <a:solidFill>
                            <a:srgbClr val="1A1A1A"/>
                          </a:solidFill>
                          <a:latin typeface="Times New Roman"/>
                        </a:rPr>
                        <a:t>Devlin et al.</a:t>
                      </a:r>
                    </a:p>
                  </a:txBody>
                  <a:tcPr marL="54864" marR="54864" marT="22860" marB="22860" anchor="ctr">
                    <a:solidFill>
                      <a:srgbClr val="E8EEF5"/>
                    </a:solidFill>
                  </a:tcPr>
                </a:tc>
                <a:tc>
                  <a:txBody>
                    <a:bodyPr/>
                    <a:lstStyle/>
                    <a:p>
                      <a:r>
                        <a:rPr sz="1050" b="0">
                          <a:solidFill>
                            <a:srgbClr val="1A1A1A"/>
                          </a:solidFill>
                          <a:latin typeface="Times New Roman"/>
                        </a:rPr>
                        <a:t>BERT — bidirectional pre-training</a:t>
                      </a:r>
                    </a:p>
                  </a:txBody>
                  <a:tcPr marL="54864" marR="54864" marT="22860" marB="22860" anchor="ctr">
                    <a:solidFill>
                      <a:srgbClr val="E8EEF5"/>
                    </a:solidFill>
                  </a:tcPr>
                </a:tc>
                <a:tc>
                  <a:txBody>
                    <a:bodyPr/>
                    <a:lstStyle/>
                    <a:p>
                      <a:r>
                        <a:rPr sz="1050" b="0">
                          <a:solidFill>
                            <a:srgbClr val="1A1A1A"/>
                          </a:solidFill>
                          <a:latin typeface="Times New Roman"/>
                        </a:rPr>
                        <a:t>Contextual representation of workplace text</a:t>
                      </a:r>
                    </a:p>
                  </a:txBody>
                  <a:tcPr marL="54864" marR="54864" marT="22860" marB="22860" anchor="ctr">
                    <a:solidFill>
                      <a:srgbClr val="E8EEF5"/>
                    </a:solidFill>
                  </a:tcPr>
                </a:tc>
              </a:tr>
              <a:tr h="484632">
                <a:tc>
                  <a:txBody>
                    <a:bodyPr/>
                    <a:lstStyle/>
                    <a:p>
                      <a:r>
                        <a:rPr sz="1050" b="0">
                          <a:solidFill>
                            <a:srgbClr val="1A1A1A"/>
                          </a:solidFill>
                          <a:latin typeface="Times New Roman"/>
                        </a:rPr>
                        <a:t>[6]</a:t>
                      </a:r>
                    </a:p>
                  </a:txBody>
                  <a:tcPr marL="54864" marR="54864" marT="22860" marB="22860" anchor="ctr">
                    <a:solidFill>
                      <a:srgbClr val="FFFFFF"/>
                    </a:solidFill>
                  </a:tcPr>
                </a:tc>
                <a:tc>
                  <a:txBody>
                    <a:bodyPr/>
                    <a:lstStyle/>
                    <a:p>
                      <a:r>
                        <a:rPr sz="1050" b="0">
                          <a:solidFill>
                            <a:srgbClr val="1A1A1A"/>
                          </a:solidFill>
                          <a:latin typeface="Times New Roman"/>
                        </a:rPr>
                        <a:t>Liu et al.</a:t>
                      </a:r>
                    </a:p>
                  </a:txBody>
                  <a:tcPr marL="54864" marR="54864" marT="22860" marB="22860" anchor="ctr">
                    <a:solidFill>
                      <a:srgbClr val="FFFFFF"/>
                    </a:solidFill>
                  </a:tcPr>
                </a:tc>
                <a:tc>
                  <a:txBody>
                    <a:bodyPr/>
                    <a:lstStyle/>
                    <a:p>
                      <a:r>
                        <a:rPr sz="1050" b="0">
                          <a:solidFill>
                            <a:srgbClr val="1A1A1A"/>
                          </a:solidFill>
                          <a:latin typeface="Times New Roman"/>
                        </a:rPr>
                        <a:t>RoBERTa — refined pre-training</a:t>
                      </a:r>
                    </a:p>
                  </a:txBody>
                  <a:tcPr marL="54864" marR="54864" marT="22860" marB="22860" anchor="ctr">
                    <a:solidFill>
                      <a:srgbClr val="FFFFFF"/>
                    </a:solidFill>
                  </a:tcPr>
                </a:tc>
                <a:tc>
                  <a:txBody>
                    <a:bodyPr/>
                    <a:lstStyle/>
                    <a:p>
                      <a:r>
                        <a:rPr sz="1050" b="0">
                          <a:solidFill>
                            <a:srgbClr val="1A1A1A"/>
                          </a:solidFill>
                          <a:latin typeface="Times New Roman"/>
                        </a:rPr>
                        <a:t>Backbone of our classifier</a:t>
                      </a:r>
                    </a:p>
                  </a:txBody>
                  <a:tcPr marL="54864" marR="54864" marT="22860" marB="22860" anchor="ctr">
                    <a:solidFill>
                      <a:srgbClr val="FFFFFF"/>
                    </a:solidFill>
                  </a:tcPr>
                </a:tc>
              </a:tr>
              <a:tr h="484632">
                <a:tc>
                  <a:txBody>
                    <a:bodyPr/>
                    <a:lstStyle/>
                    <a:p>
                      <a:r>
                        <a:rPr sz="1050" b="0">
                          <a:solidFill>
                            <a:srgbClr val="1A1A1A"/>
                          </a:solidFill>
                          <a:latin typeface="Times New Roman"/>
                        </a:rPr>
                        <a:t>[7]</a:t>
                      </a:r>
                    </a:p>
                  </a:txBody>
                  <a:tcPr marL="54864" marR="54864" marT="22860" marB="22860" anchor="ctr">
                    <a:solidFill>
                      <a:srgbClr val="E8EEF5"/>
                    </a:solidFill>
                  </a:tcPr>
                </a:tc>
                <a:tc>
                  <a:txBody>
                    <a:bodyPr/>
                    <a:lstStyle/>
                    <a:p>
                      <a:r>
                        <a:rPr sz="1050" b="0">
                          <a:solidFill>
                            <a:srgbClr val="1A1A1A"/>
                          </a:solidFill>
                          <a:latin typeface="Times New Roman"/>
                        </a:rPr>
                        <a:t>Barbieri et al.</a:t>
                      </a:r>
                    </a:p>
                  </a:txBody>
                  <a:tcPr marL="54864" marR="54864" marT="22860" marB="22860" anchor="ctr">
                    <a:solidFill>
                      <a:srgbClr val="E8EEF5"/>
                    </a:solidFill>
                  </a:tcPr>
                </a:tc>
                <a:tc>
                  <a:txBody>
                    <a:bodyPr/>
                    <a:lstStyle/>
                    <a:p>
                      <a:r>
                        <a:rPr sz="1050" b="0">
                          <a:solidFill>
                            <a:srgbClr val="1A1A1A"/>
                          </a:solidFill>
                          <a:latin typeface="Times New Roman"/>
                        </a:rPr>
                        <a:t>TweetEval — sentiment fine-tuning</a:t>
                      </a:r>
                    </a:p>
                  </a:txBody>
                  <a:tcPr marL="54864" marR="54864" marT="22860" marB="22860" anchor="ctr">
                    <a:solidFill>
                      <a:srgbClr val="E8EEF5"/>
                    </a:solidFill>
                  </a:tcPr>
                </a:tc>
                <a:tc>
                  <a:txBody>
                    <a:bodyPr/>
                    <a:lstStyle/>
                    <a:p>
                      <a:r>
                        <a:rPr sz="1050" b="0">
                          <a:solidFill>
                            <a:srgbClr val="1A1A1A"/>
                          </a:solidFill>
                          <a:latin typeface="Times New Roman"/>
                        </a:rPr>
                        <a:t>The exact checkpoint we deploy</a:t>
                      </a:r>
                    </a:p>
                  </a:txBody>
                  <a:tcPr marL="54864" marR="54864" marT="22860" marB="22860" anchor="ctr">
                    <a:solidFill>
                      <a:srgbClr val="E8EEF5"/>
                    </a:solidFill>
                  </a:tcPr>
                </a:tc>
              </a:tr>
              <a:tr h="484632">
                <a:tc>
                  <a:txBody>
                    <a:bodyPr/>
                    <a:lstStyle/>
                    <a:p>
                      <a:r>
                        <a:rPr sz="1050" b="0">
                          <a:solidFill>
                            <a:srgbClr val="1A1A1A"/>
                          </a:solidFill>
                          <a:latin typeface="Times New Roman"/>
                        </a:rPr>
                        <a:t>[8]</a:t>
                      </a:r>
                    </a:p>
                  </a:txBody>
                  <a:tcPr marL="54864" marR="54864" marT="22860" marB="22860" anchor="ctr">
                    <a:solidFill>
                      <a:srgbClr val="FFFFFF"/>
                    </a:solidFill>
                  </a:tcPr>
                </a:tc>
                <a:tc>
                  <a:txBody>
                    <a:bodyPr/>
                    <a:lstStyle/>
                    <a:p>
                      <a:r>
                        <a:rPr sz="1050" b="0">
                          <a:solidFill>
                            <a:srgbClr val="1A1A1A"/>
                          </a:solidFill>
                          <a:latin typeface="Times New Roman"/>
                        </a:rPr>
                        <a:t>Mohammad &amp; Turney</a:t>
                      </a:r>
                    </a:p>
                  </a:txBody>
                  <a:tcPr marL="54864" marR="54864" marT="22860" marB="22860" anchor="ctr">
                    <a:solidFill>
                      <a:srgbClr val="FFFFFF"/>
                    </a:solidFill>
                  </a:tcPr>
                </a:tc>
                <a:tc>
                  <a:txBody>
                    <a:bodyPr/>
                    <a:lstStyle/>
                    <a:p>
                      <a:r>
                        <a:rPr sz="1050" b="0">
                          <a:solidFill>
                            <a:srgbClr val="1A1A1A"/>
                          </a:solidFill>
                          <a:latin typeface="Times New Roman"/>
                        </a:rPr>
                        <a:t>NRC Word–Emotion Association Lexicon</a:t>
                      </a:r>
                    </a:p>
                  </a:txBody>
                  <a:tcPr marL="54864" marR="54864" marT="22860" marB="22860" anchor="ctr">
                    <a:solidFill>
                      <a:srgbClr val="FFFFFF"/>
                    </a:solidFill>
                  </a:tcPr>
                </a:tc>
                <a:tc>
                  <a:txBody>
                    <a:bodyPr/>
                    <a:lstStyle/>
                    <a:p>
                      <a:r>
                        <a:rPr sz="1050" b="0">
                          <a:solidFill>
                            <a:srgbClr val="1A1A1A"/>
                          </a:solidFill>
                          <a:latin typeface="Times New Roman"/>
                        </a:rPr>
                        <a:t>Inspectable emotion counts, not activations</a:t>
                      </a:r>
                    </a:p>
                  </a:txBody>
                  <a:tcPr marL="54864" marR="54864" marT="22860" marB="22860" anchor="ctr">
                    <a:solidFill>
                      <a:srgbClr val="FFFFFF"/>
                    </a:solidFill>
                  </a:tcPr>
                </a:tc>
              </a:tr>
            </a:tbl>
          </a:graphicData>
        </a:graphic>
      </p:graphicFrame>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Literature Review II — Retrieval-Augmented Generation</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A · LITERATURE REVIEW</a:t>
            </a:r>
          </a:p>
        </p:txBody>
      </p:sp>
      <p:graphicFrame>
        <p:nvGraphicFramePr>
          <p:cNvPr id="5" name="Table 4"/>
          <p:cNvGraphicFramePr>
            <a:graphicFrameLocks noGrp="1"/>
          </p:cNvGraphicFramePr>
          <p:nvPr/>
        </p:nvGraphicFramePr>
        <p:xfrm>
          <a:off x="566928" y="1975104"/>
          <a:ext cx="8092440" cy="3520440"/>
        </p:xfrm>
        <a:graphic>
          <a:graphicData uri="http://schemas.openxmlformats.org/drawingml/2006/table">
            <a:tbl>
              <a:tblPr firstRow="1" bandRow="1">
                <a:tableStyleId>{5C22544A-7EE6-4342-B048-85BDC9FD1C3A}</a:tableStyleId>
              </a:tblPr>
              <a:tblGrid>
                <a:gridCol w="438912"/>
                <a:gridCol w="1600200"/>
                <a:gridCol w="2926080"/>
                <a:gridCol w="3127248"/>
              </a:tblGrid>
              <a:tr h="502920">
                <a:tc>
                  <a:txBody>
                    <a:bodyPr/>
                    <a:lstStyle/>
                    <a:p>
                      <a:r>
                        <a:rPr sz="1100" b="1">
                          <a:solidFill>
                            <a:srgbClr val="FFFFFF"/>
                          </a:solidFill>
                          <a:latin typeface="Times New Roman"/>
                        </a:rPr>
                        <a:t>Ref</a:t>
                      </a:r>
                    </a:p>
                  </a:txBody>
                  <a:tcPr marL="54864" marR="54864" marT="27432" marB="27432" anchor="ctr">
                    <a:solidFill>
                      <a:srgbClr val="1B3A5C"/>
                    </a:solidFill>
                  </a:tcPr>
                </a:tc>
                <a:tc>
                  <a:txBody>
                    <a:bodyPr/>
                    <a:lstStyle/>
                    <a:p>
                      <a:r>
                        <a:rPr sz="1100" b="1">
                          <a:solidFill>
                            <a:srgbClr val="FFFFFF"/>
                          </a:solidFill>
                          <a:latin typeface="Times New Roman"/>
                        </a:rPr>
                        <a:t>Work</a:t>
                      </a:r>
                    </a:p>
                  </a:txBody>
                  <a:tcPr marL="54864" marR="54864" marT="27432" marB="27432" anchor="ctr">
                    <a:solidFill>
                      <a:srgbClr val="1B3A5C"/>
                    </a:solidFill>
                  </a:tcPr>
                </a:tc>
                <a:tc>
                  <a:txBody>
                    <a:bodyPr/>
                    <a:lstStyle/>
                    <a:p>
                      <a:r>
                        <a:rPr sz="1100" b="1">
                          <a:solidFill>
                            <a:srgbClr val="FFFFFF"/>
                          </a:solidFill>
                          <a:latin typeface="Times New Roman"/>
                        </a:rPr>
                        <a:t>Contribution</a:t>
                      </a:r>
                    </a:p>
                  </a:txBody>
                  <a:tcPr marL="54864" marR="54864" marT="27432" marB="27432" anchor="ctr">
                    <a:solidFill>
                      <a:srgbClr val="1B3A5C"/>
                    </a:solidFill>
                  </a:tcPr>
                </a:tc>
                <a:tc>
                  <a:txBody>
                    <a:bodyPr/>
                    <a:lstStyle/>
                    <a:p>
                      <a:r>
                        <a:rPr sz="1100" b="1">
                          <a:solidFill>
                            <a:srgbClr val="FFFFFF"/>
                          </a:solidFill>
                          <a:latin typeface="Times New Roman"/>
                        </a:rPr>
                        <a:t>What we take from it</a:t>
                      </a:r>
                    </a:p>
                  </a:txBody>
                  <a:tcPr marL="54864" marR="54864" marT="27432" marB="27432" anchor="ctr">
                    <a:solidFill>
                      <a:srgbClr val="1B3A5C"/>
                    </a:solidFill>
                  </a:tcPr>
                </a:tc>
              </a:tr>
              <a:tr h="502920">
                <a:tc>
                  <a:txBody>
                    <a:bodyPr/>
                    <a:lstStyle/>
                    <a:p>
                      <a:r>
                        <a:rPr sz="1050" b="0">
                          <a:solidFill>
                            <a:srgbClr val="1A1A1A"/>
                          </a:solidFill>
                          <a:latin typeface="Times New Roman"/>
                        </a:rPr>
                        <a:t>[9]</a:t>
                      </a:r>
                    </a:p>
                  </a:txBody>
                  <a:tcPr marL="54864" marR="54864" marT="22860" marB="22860" anchor="ctr">
                    <a:solidFill>
                      <a:srgbClr val="E8EEF5"/>
                    </a:solidFill>
                  </a:tcPr>
                </a:tc>
                <a:tc>
                  <a:txBody>
                    <a:bodyPr/>
                    <a:lstStyle/>
                    <a:p>
                      <a:r>
                        <a:rPr sz="1050" b="0">
                          <a:solidFill>
                            <a:srgbClr val="1A1A1A"/>
                          </a:solidFill>
                          <a:latin typeface="Times New Roman"/>
                        </a:rPr>
                        <a:t>Lewis et al.</a:t>
                      </a:r>
                    </a:p>
                  </a:txBody>
                  <a:tcPr marL="54864" marR="54864" marT="22860" marB="22860" anchor="ctr">
                    <a:solidFill>
                      <a:srgbClr val="E8EEF5"/>
                    </a:solidFill>
                  </a:tcPr>
                </a:tc>
                <a:tc>
                  <a:txBody>
                    <a:bodyPr/>
                    <a:lstStyle/>
                    <a:p>
                      <a:r>
                        <a:rPr sz="1050" b="0">
                          <a:solidFill>
                            <a:srgbClr val="1A1A1A"/>
                          </a:solidFill>
                          <a:latin typeface="Times New Roman"/>
                        </a:rPr>
                        <a:t>RAG — parametric + non-parametric knowledge</a:t>
                      </a:r>
                    </a:p>
                  </a:txBody>
                  <a:tcPr marL="54864" marR="54864" marT="22860" marB="22860" anchor="ctr">
                    <a:solidFill>
                      <a:srgbClr val="E8EEF5"/>
                    </a:solidFill>
                  </a:tcPr>
                </a:tc>
                <a:tc>
                  <a:txBody>
                    <a:bodyPr/>
                    <a:lstStyle/>
                    <a:p>
                      <a:r>
                        <a:rPr sz="1050" b="0">
                          <a:solidFill>
                            <a:srgbClr val="1A1A1A"/>
                          </a:solidFill>
                          <a:latin typeface="Times New Roman"/>
                        </a:rPr>
                        <a:t>Core architecture; provenance for every claim</a:t>
                      </a:r>
                    </a:p>
                  </a:txBody>
                  <a:tcPr marL="54864" marR="54864" marT="22860" marB="22860" anchor="ctr">
                    <a:solidFill>
                      <a:srgbClr val="E8EEF5"/>
                    </a:solidFill>
                  </a:tcPr>
                </a:tc>
              </a:tr>
              <a:tr h="502920">
                <a:tc>
                  <a:txBody>
                    <a:bodyPr/>
                    <a:lstStyle/>
                    <a:p>
                      <a:r>
                        <a:rPr sz="1050" b="0">
                          <a:solidFill>
                            <a:srgbClr val="1A1A1A"/>
                          </a:solidFill>
                          <a:latin typeface="Times New Roman"/>
                        </a:rPr>
                        <a:t>[10]</a:t>
                      </a:r>
                    </a:p>
                  </a:txBody>
                  <a:tcPr marL="54864" marR="54864" marT="22860" marB="22860" anchor="ctr">
                    <a:solidFill>
                      <a:srgbClr val="FFFFFF"/>
                    </a:solidFill>
                  </a:tcPr>
                </a:tc>
                <a:tc>
                  <a:txBody>
                    <a:bodyPr/>
                    <a:lstStyle/>
                    <a:p>
                      <a:r>
                        <a:rPr sz="1050" b="0">
                          <a:solidFill>
                            <a:srgbClr val="1A1A1A"/>
                          </a:solidFill>
                          <a:latin typeface="Times New Roman"/>
                        </a:rPr>
                        <a:t>Karpukhin et al.</a:t>
                      </a:r>
                    </a:p>
                  </a:txBody>
                  <a:tcPr marL="54864" marR="54864" marT="22860" marB="22860" anchor="ctr">
                    <a:solidFill>
                      <a:srgbClr val="FFFFFF"/>
                    </a:solidFill>
                  </a:tcPr>
                </a:tc>
                <a:tc>
                  <a:txBody>
                    <a:bodyPr/>
                    <a:lstStyle/>
                    <a:p>
                      <a:r>
                        <a:rPr sz="1050" b="0">
                          <a:solidFill>
                            <a:srgbClr val="1A1A1A"/>
                          </a:solidFill>
                          <a:latin typeface="Times New Roman"/>
                        </a:rPr>
                        <a:t>Dense Passage Retrieval</a:t>
                      </a:r>
                    </a:p>
                  </a:txBody>
                  <a:tcPr marL="54864" marR="54864" marT="22860" marB="22860" anchor="ctr">
                    <a:solidFill>
                      <a:srgbClr val="FFFFFF"/>
                    </a:solidFill>
                  </a:tcPr>
                </a:tc>
                <a:tc>
                  <a:txBody>
                    <a:bodyPr/>
                    <a:lstStyle/>
                    <a:p>
                      <a:r>
                        <a:rPr sz="1050" b="0">
                          <a:solidFill>
                            <a:srgbClr val="1A1A1A"/>
                          </a:solidFill>
                          <a:latin typeface="Times New Roman"/>
                        </a:rPr>
                        <a:t>Learned dual encoders beat lexical search</a:t>
                      </a:r>
                    </a:p>
                  </a:txBody>
                  <a:tcPr marL="54864" marR="54864" marT="22860" marB="22860" anchor="ctr">
                    <a:solidFill>
                      <a:srgbClr val="FFFFFF"/>
                    </a:solidFill>
                  </a:tcPr>
                </a:tc>
              </a:tr>
              <a:tr h="502920">
                <a:tc>
                  <a:txBody>
                    <a:bodyPr/>
                    <a:lstStyle/>
                    <a:p>
                      <a:r>
                        <a:rPr sz="1050" b="0">
                          <a:solidFill>
                            <a:srgbClr val="1A1A1A"/>
                          </a:solidFill>
                          <a:latin typeface="Times New Roman"/>
                        </a:rPr>
                        <a:t>[11]</a:t>
                      </a:r>
                    </a:p>
                  </a:txBody>
                  <a:tcPr marL="54864" marR="54864" marT="22860" marB="22860" anchor="ctr">
                    <a:solidFill>
                      <a:srgbClr val="E8EEF5"/>
                    </a:solidFill>
                  </a:tcPr>
                </a:tc>
                <a:tc>
                  <a:txBody>
                    <a:bodyPr/>
                    <a:lstStyle/>
                    <a:p>
                      <a:r>
                        <a:rPr sz="1050" b="0">
                          <a:solidFill>
                            <a:srgbClr val="1A1A1A"/>
                          </a:solidFill>
                          <a:latin typeface="Times New Roman"/>
                        </a:rPr>
                        <a:t>Robertson &amp; Zaragoza</a:t>
                      </a:r>
                    </a:p>
                  </a:txBody>
                  <a:tcPr marL="54864" marR="54864" marT="22860" marB="22860" anchor="ctr">
                    <a:solidFill>
                      <a:srgbClr val="E8EEF5"/>
                    </a:solidFill>
                  </a:tcPr>
                </a:tc>
                <a:tc>
                  <a:txBody>
                    <a:bodyPr/>
                    <a:lstStyle/>
                    <a:p>
                      <a:r>
                        <a:rPr sz="1050" b="0">
                          <a:solidFill>
                            <a:srgbClr val="1A1A1A"/>
                          </a:solidFill>
                          <a:latin typeface="Times New Roman"/>
                        </a:rPr>
                        <a:t>BM25 probabilistic relevance</a:t>
                      </a:r>
                    </a:p>
                  </a:txBody>
                  <a:tcPr marL="54864" marR="54864" marT="22860" marB="22860" anchor="ctr">
                    <a:solidFill>
                      <a:srgbClr val="E8EEF5"/>
                    </a:solidFill>
                  </a:tcPr>
                </a:tc>
                <a:tc>
                  <a:txBody>
                    <a:bodyPr/>
                    <a:lstStyle/>
                    <a:p>
                      <a:r>
                        <a:rPr sz="1050" b="0">
                          <a:solidFill>
                            <a:srgbClr val="1A1A1A"/>
                          </a:solidFill>
                          <a:latin typeface="Times New Roman"/>
                        </a:rPr>
                        <a:t>The sparse baseline we improve on</a:t>
                      </a:r>
                    </a:p>
                  </a:txBody>
                  <a:tcPr marL="54864" marR="54864" marT="22860" marB="22860" anchor="ctr">
                    <a:solidFill>
                      <a:srgbClr val="E8EEF5"/>
                    </a:solidFill>
                  </a:tcPr>
                </a:tc>
              </a:tr>
              <a:tr h="502920">
                <a:tc>
                  <a:txBody>
                    <a:bodyPr/>
                    <a:lstStyle/>
                    <a:p>
                      <a:r>
                        <a:rPr sz="1050" b="0">
                          <a:solidFill>
                            <a:srgbClr val="1A1A1A"/>
                          </a:solidFill>
                          <a:latin typeface="Times New Roman"/>
                        </a:rPr>
                        <a:t>[12]</a:t>
                      </a:r>
                    </a:p>
                  </a:txBody>
                  <a:tcPr marL="54864" marR="54864" marT="22860" marB="22860" anchor="ctr">
                    <a:solidFill>
                      <a:srgbClr val="FFFFFF"/>
                    </a:solidFill>
                  </a:tcPr>
                </a:tc>
                <a:tc>
                  <a:txBody>
                    <a:bodyPr/>
                    <a:lstStyle/>
                    <a:p>
                      <a:r>
                        <a:rPr sz="1050" b="0">
                          <a:solidFill>
                            <a:srgbClr val="1A1A1A"/>
                          </a:solidFill>
                          <a:latin typeface="Times New Roman"/>
                        </a:rPr>
                        <a:t>Malkov &amp; Yashunin</a:t>
                      </a:r>
                    </a:p>
                  </a:txBody>
                  <a:tcPr marL="54864" marR="54864" marT="22860" marB="22860" anchor="ctr">
                    <a:solidFill>
                      <a:srgbClr val="FFFFFF"/>
                    </a:solidFill>
                  </a:tcPr>
                </a:tc>
                <a:tc>
                  <a:txBody>
                    <a:bodyPr/>
                    <a:lstStyle/>
                    <a:p>
                      <a:r>
                        <a:rPr sz="1050" b="0">
                          <a:solidFill>
                            <a:srgbClr val="1A1A1A"/>
                          </a:solidFill>
                          <a:latin typeface="Times New Roman"/>
                        </a:rPr>
                        <a:t>HNSW graphs for ANN search</a:t>
                      </a:r>
                    </a:p>
                  </a:txBody>
                  <a:tcPr marL="54864" marR="54864" marT="22860" marB="22860" anchor="ctr">
                    <a:solidFill>
                      <a:srgbClr val="FFFFFF"/>
                    </a:solidFill>
                  </a:tcPr>
                </a:tc>
                <a:tc>
                  <a:txBody>
                    <a:bodyPr/>
                    <a:lstStyle/>
                    <a:p>
                      <a:r>
                        <a:rPr sz="1050" b="0">
                          <a:solidFill>
                            <a:srgbClr val="1A1A1A"/>
                          </a:solidFill>
                          <a:latin typeface="Times New Roman"/>
                        </a:rPr>
                        <a:t>Index structure underlying our vector store</a:t>
                      </a:r>
                    </a:p>
                  </a:txBody>
                  <a:tcPr marL="54864" marR="54864" marT="22860" marB="22860" anchor="ctr">
                    <a:solidFill>
                      <a:srgbClr val="FFFFFF"/>
                    </a:solidFill>
                  </a:tcPr>
                </a:tc>
              </a:tr>
              <a:tr h="502920">
                <a:tc>
                  <a:txBody>
                    <a:bodyPr/>
                    <a:lstStyle/>
                    <a:p>
                      <a:r>
                        <a:rPr sz="1050" b="0">
                          <a:solidFill>
                            <a:srgbClr val="1A1A1A"/>
                          </a:solidFill>
                          <a:latin typeface="Times New Roman"/>
                        </a:rPr>
                        <a:t>[13]</a:t>
                      </a:r>
                    </a:p>
                  </a:txBody>
                  <a:tcPr marL="54864" marR="54864" marT="22860" marB="22860" anchor="ctr">
                    <a:solidFill>
                      <a:srgbClr val="E8EEF5"/>
                    </a:solidFill>
                  </a:tcPr>
                </a:tc>
                <a:tc>
                  <a:txBody>
                    <a:bodyPr/>
                    <a:lstStyle/>
                    <a:p>
                      <a:r>
                        <a:rPr sz="1050" b="0">
                          <a:solidFill>
                            <a:srgbClr val="1A1A1A"/>
                          </a:solidFill>
                          <a:latin typeface="Times New Roman"/>
                        </a:rPr>
                        <a:t>Johnson et al.</a:t>
                      </a:r>
                    </a:p>
                  </a:txBody>
                  <a:tcPr marL="54864" marR="54864" marT="22860" marB="22860" anchor="ctr">
                    <a:solidFill>
                      <a:srgbClr val="E8EEF5"/>
                    </a:solidFill>
                  </a:tcPr>
                </a:tc>
                <a:tc>
                  <a:txBody>
                    <a:bodyPr/>
                    <a:lstStyle/>
                    <a:p>
                      <a:r>
                        <a:rPr sz="1050" b="0">
                          <a:solidFill>
                            <a:srgbClr val="1A1A1A"/>
                          </a:solidFill>
                          <a:latin typeface="Times New Roman"/>
                        </a:rPr>
                        <a:t>GPU billion-scale similarity search</a:t>
                      </a:r>
                    </a:p>
                  </a:txBody>
                  <a:tcPr marL="54864" marR="54864" marT="22860" marB="22860" anchor="ctr">
                    <a:solidFill>
                      <a:srgbClr val="E8EEF5"/>
                    </a:solidFill>
                  </a:tcPr>
                </a:tc>
                <a:tc>
                  <a:txBody>
                    <a:bodyPr/>
                    <a:lstStyle/>
                    <a:p>
                      <a:r>
                        <a:rPr sz="1050" b="0">
                          <a:solidFill>
                            <a:srgbClr val="1A1A1A"/>
                          </a:solidFill>
                          <a:latin typeface="Times New Roman"/>
                        </a:rPr>
                        <a:t>Scaling path beyond the current corpus</a:t>
                      </a:r>
                    </a:p>
                  </a:txBody>
                  <a:tcPr marL="54864" marR="54864" marT="22860" marB="22860" anchor="ctr">
                    <a:solidFill>
                      <a:srgbClr val="E8EEF5"/>
                    </a:solidFill>
                  </a:tcPr>
                </a:tc>
              </a:tr>
              <a:tr h="502920">
                <a:tc>
                  <a:txBody>
                    <a:bodyPr/>
                    <a:lstStyle/>
                    <a:p>
                      <a:r>
                        <a:rPr sz="1050" b="0">
                          <a:solidFill>
                            <a:srgbClr val="1A1A1A"/>
                          </a:solidFill>
                          <a:latin typeface="Times New Roman"/>
                        </a:rPr>
                        <a:t>[14]</a:t>
                      </a:r>
                    </a:p>
                  </a:txBody>
                  <a:tcPr marL="54864" marR="54864" marT="22860" marB="22860" anchor="ctr">
                    <a:solidFill>
                      <a:srgbClr val="FFFFFF"/>
                    </a:solidFill>
                  </a:tcPr>
                </a:tc>
                <a:tc>
                  <a:txBody>
                    <a:bodyPr/>
                    <a:lstStyle/>
                    <a:p>
                      <a:r>
                        <a:rPr sz="1050" b="0">
                          <a:solidFill>
                            <a:srgbClr val="1A1A1A"/>
                          </a:solidFill>
                          <a:latin typeface="Times New Roman"/>
                        </a:rPr>
                        <a:t>Reimers &amp; Gurevych</a:t>
                      </a:r>
                    </a:p>
                  </a:txBody>
                  <a:tcPr marL="54864" marR="54864" marT="22860" marB="22860" anchor="ctr">
                    <a:solidFill>
                      <a:srgbClr val="FFFFFF"/>
                    </a:solidFill>
                  </a:tcPr>
                </a:tc>
                <a:tc>
                  <a:txBody>
                    <a:bodyPr/>
                    <a:lstStyle/>
                    <a:p>
                      <a:r>
                        <a:rPr sz="1050" b="0">
                          <a:solidFill>
                            <a:srgbClr val="1A1A1A"/>
                          </a:solidFill>
                          <a:latin typeface="Times New Roman"/>
                        </a:rPr>
                        <a:t>Sentence-BERT</a:t>
                      </a:r>
                    </a:p>
                  </a:txBody>
                  <a:tcPr marL="54864" marR="54864" marT="22860" marB="22860" anchor="ctr">
                    <a:solidFill>
                      <a:srgbClr val="FFFFFF"/>
                    </a:solidFill>
                  </a:tcPr>
                </a:tc>
                <a:tc>
                  <a:txBody>
                    <a:bodyPr/>
                    <a:lstStyle/>
                    <a:p>
                      <a:r>
                        <a:rPr sz="1050" b="0">
                          <a:solidFill>
                            <a:srgbClr val="1A1A1A"/>
                          </a:solidFill>
                          <a:latin typeface="Times New Roman"/>
                        </a:rPr>
                        <a:t>all-MiniLM-L6-v2 encoder; cosine comparison</a:t>
                      </a:r>
                    </a:p>
                  </a:txBody>
                  <a:tcPr marL="54864" marR="54864" marT="22860" marB="22860" anchor="ctr">
                    <a:solidFill>
                      <a:srgbClr val="FFFFFF"/>
                    </a:solidFill>
                  </a:tcPr>
                </a:tc>
              </a:tr>
            </a:tbl>
          </a:graphicData>
        </a:graphic>
      </p:graphicFrame>
      <p:sp>
        <p:nvSpPr>
          <p:cNvPr id="6" name="TextBox 5"/>
          <p:cNvSpPr txBox="1"/>
          <p:nvPr/>
        </p:nvSpPr>
        <p:spPr>
          <a:xfrm>
            <a:off x="566928" y="5623560"/>
            <a:ext cx="8101583" cy="502920"/>
          </a:xfrm>
          <a:prstGeom prst="rect">
            <a:avLst/>
          </a:prstGeom>
          <a:noFill/>
        </p:spPr>
        <p:txBody>
          <a:bodyPr wrap="square">
            <a:spAutoFit/>
          </a:bodyPr>
          <a:lstStyle/>
          <a:p>
            <a:r>
              <a:rPr sz="1150" i="1" b="1">
                <a:solidFill>
                  <a:srgbClr val="8A6D12"/>
                </a:solidFill>
                <a:latin typeface="Times New Roman"/>
              </a:rPr>
              <a:t>Sentence-BERT reduces exhaustive pairwise comparison from hours to seconds — the property that makes per-employee retrieval feasible at interactive speed.</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Market Survey — Existing Approaches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A · MARKET SURVEY</a:t>
            </a:r>
          </a:p>
        </p:txBody>
      </p:sp>
      <p:graphicFrame>
        <p:nvGraphicFramePr>
          <p:cNvPr id="5" name="Table 4"/>
          <p:cNvGraphicFramePr>
            <a:graphicFrameLocks noGrp="1"/>
          </p:cNvGraphicFramePr>
          <p:nvPr/>
        </p:nvGraphicFramePr>
        <p:xfrm>
          <a:off x="896112" y="1975104"/>
          <a:ext cx="7351776" cy="3584448"/>
        </p:xfrm>
        <a:graphic>
          <a:graphicData uri="http://schemas.openxmlformats.org/drawingml/2006/table">
            <a:tbl>
              <a:tblPr firstRow="1" bandRow="1">
                <a:tableStyleId>{5C22544A-7EE6-4342-B048-85BDC9FD1C3A}</a:tableStyleId>
              </a:tblPr>
              <a:tblGrid>
                <a:gridCol w="1600200"/>
                <a:gridCol w="1572768"/>
                <a:gridCol w="1234440"/>
                <a:gridCol w="1078992"/>
                <a:gridCol w="932688"/>
                <a:gridCol w="932688"/>
              </a:tblGrid>
              <a:tr h="512064">
                <a:tc>
                  <a:txBody>
                    <a:bodyPr/>
                    <a:lstStyle/>
                    <a:p>
                      <a:r>
                        <a:rPr sz="1050" b="1">
                          <a:solidFill>
                            <a:srgbClr val="FFFFFF"/>
                          </a:solidFill>
                          <a:latin typeface="Times New Roman"/>
                        </a:rPr>
                        <a:t>Approach</a:t>
                      </a:r>
                    </a:p>
                  </a:txBody>
                  <a:tcPr marL="54864" marR="54864" marT="27432" marB="27432" anchor="ctr">
                    <a:solidFill>
                      <a:srgbClr val="1B3A5C"/>
                    </a:solidFill>
                  </a:tcPr>
                </a:tc>
                <a:tc>
                  <a:txBody>
                    <a:bodyPr/>
                    <a:lstStyle/>
                    <a:p>
                      <a:r>
                        <a:rPr sz="1050" b="1">
                          <a:solidFill>
                            <a:srgbClr val="FFFFFF"/>
                          </a:solidFill>
                          <a:latin typeface="Times New Roman"/>
                        </a:rPr>
                        <a:t>Example</a:t>
                      </a:r>
                    </a:p>
                  </a:txBody>
                  <a:tcPr marL="54864" marR="54864" marT="27432" marB="27432" anchor="ctr">
                    <a:solidFill>
                      <a:srgbClr val="1B3A5C"/>
                    </a:solidFill>
                  </a:tcPr>
                </a:tc>
                <a:tc>
                  <a:txBody>
                    <a:bodyPr/>
                    <a:lstStyle/>
                    <a:p>
                      <a:r>
                        <a:rPr sz="1050" b="1">
                          <a:solidFill>
                            <a:srgbClr val="FFFFFF"/>
                          </a:solidFill>
                          <a:latin typeface="Times New Roman"/>
                        </a:rPr>
                        <a:t>Signal</a:t>
                      </a:r>
                    </a:p>
                  </a:txBody>
                  <a:tcPr marL="54864" marR="54864" marT="27432" marB="27432" anchor="ctr">
                    <a:solidFill>
                      <a:srgbClr val="1B3A5C"/>
                    </a:solidFill>
                  </a:tcPr>
                </a:tc>
                <a:tc>
                  <a:txBody>
                    <a:bodyPr/>
                    <a:lstStyle/>
                    <a:p>
                      <a:r>
                        <a:rPr sz="1050" b="1">
                          <a:solidFill>
                            <a:srgbClr val="FFFFFF"/>
                          </a:solidFill>
                          <a:latin typeface="Times New Roman"/>
                        </a:rPr>
                        <a:t>Frequency</a:t>
                      </a:r>
                    </a:p>
                  </a:txBody>
                  <a:tcPr marL="54864" marR="54864" marT="27432" marB="27432" anchor="ctr">
                    <a:solidFill>
                      <a:srgbClr val="1B3A5C"/>
                    </a:solidFill>
                  </a:tcPr>
                </a:tc>
                <a:tc>
                  <a:txBody>
                    <a:bodyPr/>
                    <a:lstStyle/>
                    <a:p>
                      <a:r>
                        <a:rPr sz="1050" b="1">
                          <a:solidFill>
                            <a:srgbClr val="FFFFFF"/>
                          </a:solidFill>
                          <a:latin typeface="Times New Roman"/>
                        </a:rPr>
                        <a:t>Explains?</a:t>
                      </a:r>
                    </a:p>
                  </a:txBody>
                  <a:tcPr marL="54864" marR="54864" marT="27432" marB="27432" anchor="ctr">
                    <a:solidFill>
                      <a:srgbClr val="1B3A5C"/>
                    </a:solidFill>
                  </a:tcPr>
                </a:tc>
                <a:tc>
                  <a:txBody>
                    <a:bodyPr/>
                    <a:lstStyle/>
                    <a:p>
                      <a:r>
                        <a:rPr sz="1050" b="1">
                          <a:solidFill>
                            <a:srgbClr val="FFFFFF"/>
                          </a:solidFill>
                          <a:latin typeface="Times New Roman"/>
                        </a:rPr>
                        <a:t>Auditable?</a:t>
                      </a:r>
                    </a:p>
                  </a:txBody>
                  <a:tcPr marL="54864" marR="54864" marT="27432" marB="27432" anchor="ctr">
                    <a:solidFill>
                      <a:srgbClr val="1B3A5C"/>
                    </a:solidFill>
                  </a:tcPr>
                </a:tc>
              </a:tr>
              <a:tr h="512064">
                <a:tc>
                  <a:txBody>
                    <a:bodyPr/>
                    <a:lstStyle/>
                    <a:p>
                      <a:r>
                        <a:rPr sz="1050" b="0">
                          <a:solidFill>
                            <a:srgbClr val="1A1A1A"/>
                          </a:solidFill>
                          <a:latin typeface="Times New Roman"/>
                        </a:rPr>
                        <a:t>Engagement surveys</a:t>
                      </a:r>
                    </a:p>
                  </a:txBody>
                  <a:tcPr marL="54864" marR="54864" marT="22860" marB="22860" anchor="ctr">
                    <a:solidFill>
                      <a:srgbClr val="E8EEF5"/>
                    </a:solidFill>
                  </a:tcPr>
                </a:tc>
                <a:tc>
                  <a:txBody>
                    <a:bodyPr/>
                    <a:lstStyle/>
                    <a:p>
                      <a:r>
                        <a:rPr sz="1050" b="0">
                          <a:solidFill>
                            <a:srgbClr val="1A1A1A"/>
                          </a:solidFill>
                          <a:latin typeface="Times New Roman"/>
                        </a:rPr>
                        <a:t>Gallup Q12, Culture Amp</a:t>
                      </a:r>
                    </a:p>
                  </a:txBody>
                  <a:tcPr marL="54864" marR="54864" marT="22860" marB="22860" anchor="ctr">
                    <a:solidFill>
                      <a:srgbClr val="E8EEF5"/>
                    </a:solidFill>
                  </a:tcPr>
                </a:tc>
                <a:tc>
                  <a:txBody>
                    <a:bodyPr/>
                    <a:lstStyle/>
                    <a:p>
                      <a:r>
                        <a:rPr sz="1050" b="0">
                          <a:solidFill>
                            <a:srgbClr val="1A1A1A"/>
                          </a:solidFill>
                          <a:latin typeface="Times New Roman"/>
                        </a:rPr>
                        <a:t>Self-report</a:t>
                      </a:r>
                    </a:p>
                  </a:txBody>
                  <a:tcPr marL="54864" marR="54864" marT="22860" marB="22860" anchor="ctr">
                    <a:solidFill>
                      <a:srgbClr val="E8EEF5"/>
                    </a:solidFill>
                  </a:tcPr>
                </a:tc>
                <a:tc>
                  <a:txBody>
                    <a:bodyPr/>
                    <a:lstStyle/>
                    <a:p>
                      <a:r>
                        <a:rPr sz="1050" b="0">
                          <a:solidFill>
                            <a:srgbClr val="1A1A1A"/>
                          </a:solidFill>
                          <a:latin typeface="Times New Roman"/>
                        </a:rPr>
                        <a:t>Quarterly</a:t>
                      </a:r>
                    </a:p>
                  </a:txBody>
                  <a:tcPr marL="54864" marR="54864" marT="22860" marB="22860" anchor="ctr">
                    <a:solidFill>
                      <a:srgbClr val="E8EEF5"/>
                    </a:solidFill>
                  </a:tcPr>
                </a:tc>
                <a:tc>
                  <a:txBody>
                    <a:bodyPr/>
                    <a:lstStyle/>
                    <a:p>
                      <a:r>
                        <a:rPr sz="1050" b="0">
                          <a:solidFill>
                            <a:srgbClr val="1A1A1A"/>
                          </a:solidFill>
                          <a:latin typeface="Times New Roman"/>
                        </a:rPr>
                        <a:t>Partly</a:t>
                      </a:r>
                    </a:p>
                  </a:txBody>
                  <a:tcPr marL="54864" marR="54864" marT="22860" marB="22860" anchor="ctr">
                    <a:solidFill>
                      <a:srgbClr val="E8EEF5"/>
                    </a:solidFill>
                  </a:tcPr>
                </a:tc>
                <a:tc>
                  <a:txBody>
                    <a:bodyPr/>
                    <a:lstStyle/>
                    <a:p>
                      <a:r>
                        <a:rPr sz="1050" b="0">
                          <a:solidFill>
                            <a:srgbClr val="1A1A1A"/>
                          </a:solidFill>
                          <a:latin typeface="Times New Roman"/>
                        </a:rPr>
                        <a:t>Yes</a:t>
                      </a:r>
                    </a:p>
                  </a:txBody>
                  <a:tcPr marL="54864" marR="54864" marT="22860" marB="22860" anchor="ctr">
                    <a:solidFill>
                      <a:srgbClr val="E8EEF5"/>
                    </a:solidFill>
                  </a:tcPr>
                </a:tc>
              </a:tr>
              <a:tr h="512064">
                <a:tc>
                  <a:txBody>
                    <a:bodyPr/>
                    <a:lstStyle/>
                    <a:p>
                      <a:r>
                        <a:rPr sz="1050" b="0">
                          <a:solidFill>
                            <a:srgbClr val="1A1A1A"/>
                          </a:solidFill>
                          <a:latin typeface="Times New Roman"/>
                        </a:rPr>
                        <a:t>Pulse survey tools</a:t>
                      </a:r>
                    </a:p>
                  </a:txBody>
                  <a:tcPr marL="54864" marR="54864" marT="22860" marB="22860" anchor="ctr">
                    <a:solidFill>
                      <a:srgbClr val="FFFFFF"/>
                    </a:solidFill>
                  </a:tcPr>
                </a:tc>
                <a:tc>
                  <a:txBody>
                    <a:bodyPr/>
                    <a:lstStyle/>
                    <a:p>
                      <a:r>
                        <a:rPr sz="1050" b="0">
                          <a:solidFill>
                            <a:srgbClr val="1A1A1A"/>
                          </a:solidFill>
                          <a:latin typeface="Times New Roman"/>
                        </a:rPr>
                        <a:t>Officevibe, Peakon</a:t>
                      </a:r>
                    </a:p>
                  </a:txBody>
                  <a:tcPr marL="54864" marR="54864" marT="22860" marB="22860" anchor="ctr">
                    <a:solidFill>
                      <a:srgbClr val="FFFFFF"/>
                    </a:solidFill>
                  </a:tcPr>
                </a:tc>
                <a:tc>
                  <a:txBody>
                    <a:bodyPr/>
                    <a:lstStyle/>
                    <a:p>
                      <a:r>
                        <a:rPr sz="1050" b="0">
                          <a:solidFill>
                            <a:srgbClr val="1A1A1A"/>
                          </a:solidFill>
                          <a:latin typeface="Times New Roman"/>
                        </a:rPr>
                        <a:t>Self-report</a:t>
                      </a:r>
                    </a:p>
                  </a:txBody>
                  <a:tcPr marL="54864" marR="54864" marT="22860" marB="22860" anchor="ctr">
                    <a:solidFill>
                      <a:srgbClr val="FFFFFF"/>
                    </a:solidFill>
                  </a:tcPr>
                </a:tc>
                <a:tc>
                  <a:txBody>
                    <a:bodyPr/>
                    <a:lstStyle/>
                    <a:p>
                      <a:r>
                        <a:rPr sz="1050" b="0">
                          <a:solidFill>
                            <a:srgbClr val="1A1A1A"/>
                          </a:solidFill>
                          <a:latin typeface="Times New Roman"/>
                        </a:rPr>
                        <a:t>Weekly</a:t>
                      </a:r>
                    </a:p>
                  </a:txBody>
                  <a:tcPr marL="54864" marR="54864" marT="22860" marB="22860" anchor="ctr">
                    <a:solidFill>
                      <a:srgbClr val="FFFFFF"/>
                    </a:solidFill>
                  </a:tcPr>
                </a:tc>
                <a:tc>
                  <a:txBody>
                    <a:bodyPr/>
                    <a:lstStyle/>
                    <a:p>
                      <a:r>
                        <a:rPr sz="1050" b="0">
                          <a:solidFill>
                            <a:srgbClr val="1A1A1A"/>
                          </a:solidFill>
                          <a:latin typeface="Times New Roman"/>
                        </a:rPr>
                        <a:t>Partly</a:t>
                      </a:r>
                    </a:p>
                  </a:txBody>
                  <a:tcPr marL="54864" marR="54864" marT="22860" marB="22860" anchor="ctr">
                    <a:solidFill>
                      <a:srgbClr val="FFFFFF"/>
                    </a:solidFill>
                  </a:tcPr>
                </a:tc>
                <a:tc>
                  <a:txBody>
                    <a:bodyPr/>
                    <a:lstStyle/>
                    <a:p>
                      <a:r>
                        <a:rPr sz="1050" b="0">
                          <a:solidFill>
                            <a:srgbClr val="1A1A1A"/>
                          </a:solidFill>
                          <a:latin typeface="Times New Roman"/>
                        </a:rPr>
                        <a:t>Yes</a:t>
                      </a:r>
                    </a:p>
                  </a:txBody>
                  <a:tcPr marL="54864" marR="54864" marT="22860" marB="22860" anchor="ctr">
                    <a:solidFill>
                      <a:srgbClr val="FFFFFF"/>
                    </a:solidFill>
                  </a:tcPr>
                </a:tc>
              </a:tr>
              <a:tr h="512064">
                <a:tc>
                  <a:txBody>
                    <a:bodyPr/>
                    <a:lstStyle/>
                    <a:p>
                      <a:r>
                        <a:rPr sz="1050" b="0">
                          <a:solidFill>
                            <a:srgbClr val="1A1A1A"/>
                          </a:solidFill>
                          <a:latin typeface="Times New Roman"/>
                        </a:rPr>
                        <a:t>HR analytics / attrition ML</a:t>
                      </a:r>
                    </a:p>
                  </a:txBody>
                  <a:tcPr marL="54864" marR="54864" marT="22860" marB="22860" anchor="ctr">
                    <a:solidFill>
                      <a:srgbClr val="E8EEF5"/>
                    </a:solidFill>
                  </a:tcPr>
                </a:tc>
                <a:tc>
                  <a:txBody>
                    <a:bodyPr/>
                    <a:lstStyle/>
                    <a:p>
                      <a:r>
                        <a:rPr sz="1050" b="0">
                          <a:solidFill>
                            <a:srgbClr val="1A1A1A"/>
                          </a:solidFill>
                          <a:latin typeface="Times New Roman"/>
                        </a:rPr>
                        <a:t>IBM, Workday</a:t>
                      </a:r>
                    </a:p>
                  </a:txBody>
                  <a:tcPr marL="54864" marR="54864" marT="22860" marB="22860" anchor="ctr">
                    <a:solidFill>
                      <a:srgbClr val="E8EEF5"/>
                    </a:solidFill>
                  </a:tcPr>
                </a:tc>
                <a:tc>
                  <a:txBody>
                    <a:bodyPr/>
                    <a:lstStyle/>
                    <a:p>
                      <a:r>
                        <a:rPr sz="1050" b="0">
                          <a:solidFill>
                            <a:srgbClr val="1A1A1A"/>
                          </a:solidFill>
                          <a:latin typeface="Times New Roman"/>
                        </a:rPr>
                        <a:t>Structured HR</a:t>
                      </a:r>
                    </a:p>
                  </a:txBody>
                  <a:tcPr marL="54864" marR="54864" marT="22860" marB="22860" anchor="ctr">
                    <a:solidFill>
                      <a:srgbClr val="E8EEF5"/>
                    </a:solidFill>
                  </a:tcPr>
                </a:tc>
                <a:tc>
                  <a:txBody>
                    <a:bodyPr/>
                    <a:lstStyle/>
                    <a:p>
                      <a:r>
                        <a:rPr sz="1050" b="0">
                          <a:solidFill>
                            <a:srgbClr val="1A1A1A"/>
                          </a:solidFill>
                          <a:latin typeface="Times New Roman"/>
                        </a:rPr>
                        <a:t>Monthly</a:t>
                      </a:r>
                    </a:p>
                  </a:txBody>
                  <a:tcPr marL="54864" marR="54864" marT="22860" marB="22860" anchor="ctr">
                    <a:solidFill>
                      <a:srgbClr val="E8EEF5"/>
                    </a:solidFill>
                  </a:tcPr>
                </a:tc>
                <a:tc>
                  <a:txBody>
                    <a:bodyPr/>
                    <a:lstStyle/>
                    <a:p>
                      <a:r>
                        <a:rPr sz="1050" b="0">
                          <a:solidFill>
                            <a:srgbClr val="1A1A1A"/>
                          </a:solidFill>
                          <a:latin typeface="Times New Roman"/>
                        </a:rPr>
                        <a:t>No</a:t>
                      </a:r>
                    </a:p>
                  </a:txBody>
                  <a:tcPr marL="54864" marR="54864" marT="22860" marB="22860" anchor="ctr">
                    <a:solidFill>
                      <a:srgbClr val="E8EEF5"/>
                    </a:solidFill>
                  </a:tcPr>
                </a:tc>
                <a:tc>
                  <a:txBody>
                    <a:bodyPr/>
                    <a:lstStyle/>
                    <a:p>
                      <a:r>
                        <a:rPr sz="1050" b="0">
                          <a:solidFill>
                            <a:srgbClr val="1A1A1A"/>
                          </a:solidFill>
                          <a:latin typeface="Times New Roman"/>
                        </a:rPr>
                        <a:t>Partly</a:t>
                      </a:r>
                    </a:p>
                  </a:txBody>
                  <a:tcPr marL="54864" marR="54864" marT="22860" marB="22860" anchor="ctr">
                    <a:solidFill>
                      <a:srgbClr val="E8EEF5"/>
                    </a:solidFill>
                  </a:tcPr>
                </a:tc>
              </a:tr>
              <a:tr h="512064">
                <a:tc>
                  <a:txBody>
                    <a:bodyPr/>
                    <a:lstStyle/>
                    <a:p>
                      <a:r>
                        <a:rPr sz="1050" b="0">
                          <a:solidFill>
                            <a:srgbClr val="1A1A1A"/>
                          </a:solidFill>
                          <a:latin typeface="Times New Roman"/>
                        </a:rPr>
                        <a:t>Workplace analytics</a:t>
                      </a:r>
                    </a:p>
                  </a:txBody>
                  <a:tcPr marL="54864" marR="54864" marT="22860" marB="22860" anchor="ctr">
                    <a:solidFill>
                      <a:srgbClr val="FFFFFF"/>
                    </a:solidFill>
                  </a:tcPr>
                </a:tc>
                <a:tc>
                  <a:txBody>
                    <a:bodyPr/>
                    <a:lstStyle/>
                    <a:p>
                      <a:r>
                        <a:rPr sz="1050" b="0">
                          <a:solidFill>
                            <a:srgbClr val="1A1A1A"/>
                          </a:solidFill>
                          <a:latin typeface="Times New Roman"/>
                        </a:rPr>
                        <a:t>Viva Insights</a:t>
                      </a:r>
                    </a:p>
                  </a:txBody>
                  <a:tcPr marL="54864" marR="54864" marT="22860" marB="22860" anchor="ctr">
                    <a:solidFill>
                      <a:srgbClr val="FFFFFF"/>
                    </a:solidFill>
                  </a:tcPr>
                </a:tc>
                <a:tc>
                  <a:txBody>
                    <a:bodyPr/>
                    <a:lstStyle/>
                    <a:p>
                      <a:r>
                        <a:rPr sz="1050" b="0">
                          <a:solidFill>
                            <a:srgbClr val="1A1A1A"/>
                          </a:solidFill>
                          <a:latin typeface="Times New Roman"/>
                        </a:rPr>
                        <a:t>Metadata only</a:t>
                      </a:r>
                    </a:p>
                  </a:txBody>
                  <a:tcPr marL="54864" marR="54864" marT="22860" marB="22860" anchor="ctr">
                    <a:solidFill>
                      <a:srgbClr val="FFFFFF"/>
                    </a:solidFill>
                  </a:tcPr>
                </a:tc>
                <a:tc>
                  <a:txBody>
                    <a:bodyPr/>
                    <a:lstStyle/>
                    <a:p>
                      <a:r>
                        <a:rPr sz="1050" b="0">
                          <a:solidFill>
                            <a:srgbClr val="1A1A1A"/>
                          </a:solidFill>
                          <a:latin typeface="Times New Roman"/>
                        </a:rPr>
                        <a:t>Continuous</a:t>
                      </a:r>
                    </a:p>
                  </a:txBody>
                  <a:tcPr marL="54864" marR="54864" marT="22860" marB="22860" anchor="ctr">
                    <a:solidFill>
                      <a:srgbClr val="FFFFFF"/>
                    </a:solidFill>
                  </a:tcPr>
                </a:tc>
                <a:tc>
                  <a:txBody>
                    <a:bodyPr/>
                    <a:lstStyle/>
                    <a:p>
                      <a:r>
                        <a:rPr sz="1050" b="0">
                          <a:solidFill>
                            <a:srgbClr val="1A1A1A"/>
                          </a:solidFill>
                          <a:latin typeface="Times New Roman"/>
                        </a:rPr>
                        <a:t>No</a:t>
                      </a:r>
                    </a:p>
                  </a:txBody>
                  <a:tcPr marL="54864" marR="54864" marT="22860" marB="22860" anchor="ctr">
                    <a:solidFill>
                      <a:srgbClr val="FFFFFF"/>
                    </a:solidFill>
                  </a:tcPr>
                </a:tc>
                <a:tc>
                  <a:txBody>
                    <a:bodyPr/>
                    <a:lstStyle/>
                    <a:p>
                      <a:r>
                        <a:rPr sz="1050" b="0">
                          <a:solidFill>
                            <a:srgbClr val="1A1A1A"/>
                          </a:solidFill>
                          <a:latin typeface="Times New Roman"/>
                        </a:rPr>
                        <a:t>Partly</a:t>
                      </a:r>
                    </a:p>
                  </a:txBody>
                  <a:tcPr marL="54864" marR="54864" marT="22860" marB="22860" anchor="ctr">
                    <a:solidFill>
                      <a:srgbClr val="FFFFFF"/>
                    </a:solidFill>
                  </a:tcPr>
                </a:tc>
              </a:tr>
              <a:tr h="512064">
                <a:tc>
                  <a:txBody>
                    <a:bodyPr/>
                    <a:lstStyle/>
                    <a:p>
                      <a:r>
                        <a:rPr sz="1050" b="0">
                          <a:solidFill>
                            <a:srgbClr val="1A1A1A"/>
                          </a:solidFill>
                          <a:latin typeface="Times New Roman"/>
                        </a:rPr>
                        <a:t>Generic LLM assistant</a:t>
                      </a:r>
                    </a:p>
                  </a:txBody>
                  <a:tcPr marL="54864" marR="54864" marT="22860" marB="22860" anchor="ctr">
                    <a:solidFill>
                      <a:srgbClr val="E8EEF5"/>
                    </a:solidFill>
                  </a:tcPr>
                </a:tc>
                <a:tc>
                  <a:txBody>
                    <a:bodyPr/>
                    <a:lstStyle/>
                    <a:p>
                      <a:r>
                        <a:rPr sz="1050" b="0">
                          <a:solidFill>
                            <a:srgbClr val="1A1A1A"/>
                          </a:solidFill>
                          <a:latin typeface="Times New Roman"/>
                        </a:rPr>
                        <a:t>Prompted chatbot</a:t>
                      </a:r>
                    </a:p>
                  </a:txBody>
                  <a:tcPr marL="54864" marR="54864" marT="22860" marB="22860" anchor="ctr">
                    <a:solidFill>
                      <a:srgbClr val="E8EEF5"/>
                    </a:solidFill>
                  </a:tcPr>
                </a:tc>
                <a:tc>
                  <a:txBody>
                    <a:bodyPr/>
                    <a:lstStyle/>
                    <a:p>
                      <a:r>
                        <a:rPr sz="1050" b="0">
                          <a:solidFill>
                            <a:srgbClr val="1A1A1A"/>
                          </a:solidFill>
                          <a:latin typeface="Times New Roman"/>
                        </a:rPr>
                        <a:t>Free text</a:t>
                      </a:r>
                    </a:p>
                  </a:txBody>
                  <a:tcPr marL="54864" marR="54864" marT="22860" marB="22860" anchor="ctr">
                    <a:solidFill>
                      <a:srgbClr val="E8EEF5"/>
                    </a:solidFill>
                  </a:tcPr>
                </a:tc>
                <a:tc>
                  <a:txBody>
                    <a:bodyPr/>
                    <a:lstStyle/>
                    <a:p>
                      <a:r>
                        <a:rPr sz="1050" b="0">
                          <a:solidFill>
                            <a:srgbClr val="1A1A1A"/>
                          </a:solidFill>
                          <a:latin typeface="Times New Roman"/>
                        </a:rPr>
                        <a:t>On demand</a:t>
                      </a:r>
                    </a:p>
                  </a:txBody>
                  <a:tcPr marL="54864" marR="54864" marT="22860" marB="22860" anchor="ctr">
                    <a:solidFill>
                      <a:srgbClr val="E8EEF5"/>
                    </a:solidFill>
                  </a:tcPr>
                </a:tc>
                <a:tc>
                  <a:txBody>
                    <a:bodyPr/>
                    <a:lstStyle/>
                    <a:p>
                      <a:r>
                        <a:rPr sz="1050" b="0">
                          <a:solidFill>
                            <a:srgbClr val="1A1A1A"/>
                          </a:solidFill>
                          <a:latin typeface="Times New Roman"/>
                        </a:rPr>
                        <a:t>Fluently</a:t>
                      </a:r>
                    </a:p>
                  </a:txBody>
                  <a:tcPr marL="54864" marR="54864" marT="22860" marB="22860" anchor="ctr">
                    <a:solidFill>
                      <a:srgbClr val="E8EEF5"/>
                    </a:solidFill>
                  </a:tcPr>
                </a:tc>
                <a:tc>
                  <a:txBody>
                    <a:bodyPr/>
                    <a:lstStyle/>
                    <a:p>
                      <a:r>
                        <a:rPr sz="1050" b="1">
                          <a:solidFill>
                            <a:srgbClr val="1A1A1A"/>
                          </a:solidFill>
                          <a:latin typeface="Times New Roman"/>
                        </a:rPr>
                        <a:t>No</a:t>
                      </a:r>
                    </a:p>
                  </a:txBody>
                  <a:tcPr marL="54864" marR="54864" marT="22860" marB="22860" anchor="ctr">
                    <a:solidFill>
                      <a:srgbClr val="E8EEF5"/>
                    </a:solidFill>
                  </a:tcPr>
                </a:tc>
              </a:tr>
              <a:tr h="512064">
                <a:tc>
                  <a:txBody>
                    <a:bodyPr/>
                    <a:lstStyle/>
                    <a:p>
                      <a:r>
                        <a:rPr sz="1050" b="1">
                          <a:solidFill>
                            <a:srgbClr val="1A1A1A"/>
                          </a:solidFill>
                          <a:latin typeface="Times New Roman"/>
                        </a:rPr>
                        <a:t>This project</a:t>
                      </a:r>
                    </a:p>
                  </a:txBody>
                  <a:tcPr marL="54864" marR="54864" marT="22860" marB="22860" anchor="ctr">
                    <a:solidFill>
                      <a:srgbClr val="FFFFFF"/>
                    </a:solidFill>
                  </a:tcPr>
                </a:tc>
                <a:tc>
                  <a:txBody>
                    <a:bodyPr/>
                    <a:lstStyle/>
                    <a:p>
                      <a:r>
                        <a:rPr sz="1050" b="1">
                          <a:solidFill>
                            <a:srgbClr val="1A1A1A"/>
                          </a:solidFill>
                          <a:latin typeface="Times New Roman"/>
                        </a:rPr>
                        <a:t>Burnout RAG</a:t>
                      </a:r>
                    </a:p>
                  </a:txBody>
                  <a:tcPr marL="54864" marR="54864" marT="22860" marB="22860" anchor="ctr">
                    <a:solidFill>
                      <a:srgbClr val="FFFFFF"/>
                    </a:solidFill>
                  </a:tcPr>
                </a:tc>
                <a:tc>
                  <a:txBody>
                    <a:bodyPr/>
                    <a:lstStyle/>
                    <a:p>
                      <a:r>
                        <a:rPr sz="1050" b="1">
                          <a:solidFill>
                            <a:srgbClr val="1A1A1A"/>
                          </a:solidFill>
                          <a:latin typeface="Times New Roman"/>
                        </a:rPr>
                        <a:t>Message content</a:t>
                      </a:r>
                    </a:p>
                  </a:txBody>
                  <a:tcPr marL="54864" marR="54864" marT="22860" marB="22860" anchor="ctr">
                    <a:solidFill>
                      <a:srgbClr val="FFFFFF"/>
                    </a:solidFill>
                  </a:tcPr>
                </a:tc>
                <a:tc>
                  <a:txBody>
                    <a:bodyPr/>
                    <a:lstStyle/>
                    <a:p>
                      <a:r>
                        <a:rPr sz="1050" b="1">
                          <a:solidFill>
                            <a:srgbClr val="1A1A1A"/>
                          </a:solidFill>
                          <a:latin typeface="Times New Roman"/>
                        </a:rPr>
                        <a:t>Continuous</a:t>
                      </a:r>
                    </a:p>
                  </a:txBody>
                  <a:tcPr marL="54864" marR="54864" marT="22860" marB="22860" anchor="ctr">
                    <a:solidFill>
                      <a:srgbClr val="FFFFFF"/>
                    </a:solidFill>
                  </a:tcPr>
                </a:tc>
                <a:tc>
                  <a:txBody>
                    <a:bodyPr/>
                    <a:lstStyle/>
                    <a:p>
                      <a:r>
                        <a:rPr sz="1050" b="1">
                          <a:solidFill>
                            <a:srgbClr val="1A1A1A"/>
                          </a:solidFill>
                          <a:latin typeface="Times New Roman"/>
                        </a:rPr>
                        <a:t>Yes</a:t>
                      </a:r>
                    </a:p>
                  </a:txBody>
                  <a:tcPr marL="54864" marR="54864" marT="22860" marB="22860" anchor="ctr">
                    <a:solidFill>
                      <a:srgbClr val="FFFFFF"/>
                    </a:solidFill>
                  </a:tcPr>
                </a:tc>
                <a:tc>
                  <a:txBody>
                    <a:bodyPr/>
                    <a:lstStyle/>
                    <a:p>
                      <a:r>
                        <a:rPr sz="1050" b="1">
                          <a:solidFill>
                            <a:srgbClr val="1A1A1A"/>
                          </a:solidFill>
                          <a:latin typeface="Times New Roman"/>
                        </a:rPr>
                        <a:t>Yes</a:t>
                      </a:r>
                    </a:p>
                  </a:txBody>
                  <a:tcPr marL="54864" marR="54864" marT="22860" marB="22860" anchor="ctr">
                    <a:solidFill>
                      <a:srgbClr val="FFFFFF"/>
                    </a:solidFill>
                  </a:tcPr>
                </a:tc>
              </a:tr>
            </a:tbl>
          </a:graphicData>
        </a:graphic>
      </p:graphicFrame>
      <p:sp>
        <p:nvSpPr>
          <p:cNvPr id="6" name="TextBox 5"/>
          <p:cNvSpPr txBox="1"/>
          <p:nvPr/>
        </p:nvSpPr>
        <p:spPr>
          <a:xfrm>
            <a:off x="566928" y="5705856"/>
            <a:ext cx="8101583" cy="502920"/>
          </a:xfrm>
          <a:prstGeom prst="rect">
            <a:avLst/>
          </a:prstGeom>
          <a:noFill/>
        </p:spPr>
        <p:txBody>
          <a:bodyPr wrap="square">
            <a:spAutoFit/>
          </a:bodyPr>
          <a:lstStyle/>
          <a:p>
            <a:r>
              <a:rPr sz="1200" i="1" b="1">
                <a:solidFill>
                  <a:srgbClr val="8A6D12"/>
                </a:solidFill>
                <a:latin typeface="Times New Roman"/>
              </a:rPr>
              <a:t>No surveyed tool reads message content continuously AND shows the evidence behind its conclusion. That intersection is our contribution.</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Research Gap and Positioning</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A · LITERATURE REVIEW</a:t>
            </a:r>
          </a:p>
        </p:txBody>
      </p:sp>
      <p:sp>
        <p:nvSpPr>
          <p:cNvPr id="5" name="TextBox 4"/>
          <p:cNvSpPr txBox="1"/>
          <p:nvPr/>
        </p:nvSpPr>
        <p:spPr>
          <a:xfrm>
            <a:off x="566928" y="1938528"/>
            <a:ext cx="8101583" cy="4389120"/>
          </a:xfrm>
          <a:prstGeom prst="rect">
            <a:avLst/>
          </a:prstGeom>
          <a:noFill/>
        </p:spPr>
        <p:txBody>
          <a:bodyPr wrap="square">
            <a:spAutoFit/>
          </a:bodyPr>
          <a:lstStyle/>
          <a:p>
            <a:pPr>
              <a:spcBef>
                <a:spcPts val="200"/>
              </a:spcBef>
              <a:spcAft>
                <a:spcPts val="700"/>
              </a:spcAft>
            </a:pPr>
            <a:r>
              <a:rPr sz="1550" b="1">
                <a:solidFill>
                  <a:srgbClr val="1A1A1A"/>
                </a:solidFill>
                <a:latin typeface="Times New Roman"/>
              </a:rPr>
              <a:t>▪  Gap identified</a:t>
            </a:r>
          </a:p>
          <a:p>
            <a:pPr lvl="1">
              <a:spcBef>
                <a:spcPts val="0"/>
              </a:spcBef>
              <a:spcAft>
                <a:spcPts val="700"/>
              </a:spcAft>
            </a:pPr>
            <a:r>
              <a:rPr sz="1420" b="0">
                <a:solidFill>
                  <a:srgbClr val="555F6B"/>
                </a:solidFill>
                <a:latin typeface="Times New Roman"/>
              </a:rPr>
              <a:t>     –  To the best of our knowledge, prior work treats burnout detection and burnout explanation as a single modelling problem.</a:t>
            </a:r>
          </a:p>
          <a:p>
            <a:pPr lvl="1">
              <a:spcBef>
                <a:spcPts val="0"/>
              </a:spcBef>
              <a:spcAft>
                <a:spcPts val="700"/>
              </a:spcAft>
            </a:pPr>
            <a:r>
              <a:rPr sz="1420" b="0">
                <a:solidFill>
                  <a:srgbClr val="555F6B"/>
                </a:solidFill>
                <a:latin typeface="Times New Roman"/>
              </a:rPr>
              <a:t>     –  That forces a choice: an accurate model that cannot explain itself, or a fluent model that cannot be trusted.</a:t>
            </a:r>
          </a:p>
          <a:p>
            <a:pPr>
              <a:spcBef>
                <a:spcPts val="200"/>
              </a:spcBef>
              <a:spcAft>
                <a:spcPts val="700"/>
              </a:spcAft>
            </a:pPr>
            <a:r>
              <a:rPr sz="1550" b="1">
                <a:solidFill>
                  <a:srgbClr val="1A1A1A"/>
                </a:solidFill>
                <a:latin typeface="Times New Roman"/>
              </a:rPr>
              <a:t>▪  Our positioning — the contribution is architectural, not a new model</a:t>
            </a:r>
          </a:p>
          <a:p>
            <a:pPr lvl="1">
              <a:spcBef>
                <a:spcPts val="0"/>
              </a:spcBef>
              <a:spcAft>
                <a:spcPts val="700"/>
              </a:spcAft>
            </a:pPr>
            <a:r>
              <a:rPr sz="1420" b="0">
                <a:solidFill>
                  <a:srgbClr val="555F6B"/>
                </a:solidFill>
                <a:latin typeface="Times New Roman"/>
              </a:rPr>
              <a:t>     –  We treat them as two problems with different correctness criteria, joined by a deliberately narrow contract.</a:t>
            </a:r>
          </a:p>
          <a:p>
            <a:pPr lvl="1">
              <a:spcBef>
                <a:spcPts val="0"/>
              </a:spcBef>
              <a:spcAft>
                <a:spcPts val="700"/>
              </a:spcAft>
            </a:pPr>
            <a:r>
              <a:rPr sz="1420" b="0">
                <a:solidFill>
                  <a:srgbClr val="555F6B"/>
                </a:solidFill>
                <a:latin typeface="Times New Roman"/>
              </a:rPr>
              <a:t>     –  Correctness for the ML stage means the score is reproducible and every point is traceable to a rule.</a:t>
            </a:r>
          </a:p>
          <a:p>
            <a:pPr lvl="1">
              <a:spcBef>
                <a:spcPts val="0"/>
              </a:spcBef>
              <a:spcAft>
                <a:spcPts val="700"/>
              </a:spcAft>
            </a:pPr>
            <a:r>
              <a:rPr sz="1420" b="0">
                <a:solidFill>
                  <a:srgbClr val="555F6B"/>
                </a:solidFill>
                <a:latin typeface="Times New Roman"/>
              </a:rPr>
              <a:t>     –  Correctness for the language stage means every sentence is supported by a retrieved record that is shown to the user.</a:t>
            </a:r>
          </a:p>
          <a:p>
            <a:pPr lvl="1">
              <a:spcBef>
                <a:spcPts val="0"/>
              </a:spcBef>
              <a:spcAft>
                <a:spcPts val="700"/>
              </a:spcAft>
            </a:pPr>
            <a:r>
              <a:rPr sz="1420" b="0">
                <a:solidFill>
                  <a:srgbClr val="555F6B"/>
                </a:solidFill>
                <a:latin typeface="Times New Roman"/>
              </a:rPr>
              <a:t>     –  The contract prevents the more fluent component from overruling the more accountable one.</a:t>
            </a:r>
          </a:p>
        </p:txBody>
      </p:sp>
      <p:sp>
        <p:nvSpPr>
          <p:cNvPr id="6" name="TextBox 5"/>
          <p:cNvSpPr txBox="1"/>
          <p:nvPr/>
        </p:nvSpPr>
        <p:spPr>
          <a:xfrm>
            <a:off x="566928" y="5961888"/>
            <a:ext cx="8101583" cy="502920"/>
          </a:xfrm>
          <a:prstGeom prst="rect">
            <a:avLst/>
          </a:prstGeom>
          <a:noFill/>
        </p:spPr>
        <p:txBody>
          <a:bodyPr wrap="square">
            <a:spAutoFit/>
          </a:bodyPr>
          <a:lstStyle/>
          <a:p>
            <a:r>
              <a:rPr sz="1250" i="1" b="1">
                <a:solidFill>
                  <a:srgbClr val="8A6D12"/>
                </a:solidFill>
                <a:latin typeface="Times New Roman"/>
              </a:rPr>
              <a:t>Novelty claim: separation of prediction and explanation under an enforced contract — not a larger model or a new dataset.</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System Architecture</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C · SYSTEM DESIGN</a:t>
            </a:r>
          </a:p>
        </p:txBody>
      </p:sp>
      <p:pic>
        <p:nvPicPr>
          <p:cNvPr id="5" name="Picture 4" descr="system_architecture.png"/>
          <p:cNvPicPr>
            <a:picLocks noChangeAspect="1"/>
          </p:cNvPicPr>
          <p:nvPr/>
        </p:nvPicPr>
        <p:blipFill>
          <a:blip r:embed="rId2"/>
          <a:stretch>
            <a:fillRect/>
          </a:stretch>
        </p:blipFill>
        <p:spPr>
          <a:xfrm>
            <a:off x="1642756" y="1956816"/>
            <a:ext cx="5858487" cy="4352544"/>
          </a:xfrm>
          <a:prstGeom prst="rect">
            <a:avLst/>
          </a:prstGeom>
        </p:spPr>
      </p:pic>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Key Design Decision — The Integration Contract</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C · SYSTEM DESIGN</a:t>
            </a:r>
          </a:p>
        </p:txBody>
      </p:sp>
      <p:sp>
        <p:nvSpPr>
          <p:cNvPr id="5" name="TextBox 4"/>
          <p:cNvSpPr txBox="1"/>
          <p:nvPr/>
        </p:nvSpPr>
        <p:spPr>
          <a:xfrm>
            <a:off x="566928" y="1938528"/>
            <a:ext cx="8101583" cy="694944"/>
          </a:xfrm>
          <a:prstGeom prst="rect">
            <a:avLst/>
          </a:prstGeom>
          <a:noFill/>
        </p:spPr>
        <p:txBody>
          <a:bodyPr wrap="square">
            <a:spAutoFit/>
          </a:bodyPr>
          <a:lstStyle/>
          <a:p>
            <a:pPr>
              <a:spcBef>
                <a:spcPts val="200"/>
              </a:spcBef>
              <a:spcAft>
                <a:spcPts val="700"/>
              </a:spcAft>
            </a:pPr>
            <a:r>
              <a:rPr sz="1550" b="1">
                <a:solidFill>
                  <a:srgbClr val="1A1A1A"/>
                </a:solidFill>
                <a:latin typeface="Times New Roman"/>
              </a:rPr>
              <a:t>▪  The entire system is joined at exactly one point: outputs/burnout_scores.csv — 20 columns, consumed strictly read-only.</a:t>
            </a:r>
          </a:p>
        </p:txBody>
      </p:sp>
      <p:graphicFrame>
        <p:nvGraphicFramePr>
          <p:cNvPr id="6" name="Table 5"/>
          <p:cNvGraphicFramePr>
            <a:graphicFrameLocks noGrp="1"/>
          </p:cNvGraphicFramePr>
          <p:nvPr/>
        </p:nvGraphicFramePr>
        <p:xfrm>
          <a:off x="566928" y="2706624"/>
          <a:ext cx="8046720" cy="3566160"/>
        </p:xfrm>
        <a:graphic>
          <a:graphicData uri="http://schemas.openxmlformats.org/drawingml/2006/table">
            <a:tbl>
              <a:tblPr firstRow="1" bandRow="1">
                <a:tableStyleId>{5C22544A-7EE6-4342-B048-85BDC9FD1C3A}</a:tableStyleId>
              </a:tblPr>
              <a:tblGrid>
                <a:gridCol w="2697480"/>
                <a:gridCol w="5349240"/>
              </a:tblGrid>
              <a:tr h="594360">
                <a:tc>
                  <a:txBody>
                    <a:bodyPr/>
                    <a:lstStyle/>
                    <a:p>
                      <a:r>
                        <a:rPr sz="1250" b="1">
                          <a:solidFill>
                            <a:srgbClr val="FFFFFF"/>
                          </a:solidFill>
                          <a:latin typeface="Times New Roman"/>
                        </a:rPr>
                        <a:t>Property of the contract</a:t>
                      </a:r>
                    </a:p>
                  </a:txBody>
                  <a:tcPr marL="54864" marR="54864" marT="27432" marB="27432" anchor="ctr">
                    <a:solidFill>
                      <a:srgbClr val="1B3A5C"/>
                    </a:solidFill>
                  </a:tcPr>
                </a:tc>
                <a:tc>
                  <a:txBody>
                    <a:bodyPr/>
                    <a:lstStyle/>
                    <a:p>
                      <a:r>
                        <a:rPr sz="1250" b="1">
                          <a:solidFill>
                            <a:srgbClr val="FFFFFF"/>
                          </a:solidFill>
                          <a:latin typeface="Times New Roman"/>
                        </a:rPr>
                        <a:t>Why it was designed this way</a:t>
                      </a:r>
                    </a:p>
                  </a:txBody>
                  <a:tcPr marL="54864" marR="54864" marT="27432" marB="27432" anchor="ctr">
                    <a:solidFill>
                      <a:srgbClr val="1B3A5C"/>
                    </a:solidFill>
                  </a:tcPr>
                </a:tc>
              </a:tr>
              <a:tr h="594360">
                <a:tc>
                  <a:txBody>
                    <a:bodyPr/>
                    <a:lstStyle/>
                    <a:p>
                      <a:r>
                        <a:rPr sz="1150" b="0">
                          <a:solidFill>
                            <a:srgbClr val="1A1A1A"/>
                          </a:solidFill>
                          <a:latin typeface="Times New Roman"/>
                        </a:rPr>
                        <a:t>One file, one direction</a:t>
                      </a:r>
                    </a:p>
                  </a:txBody>
                  <a:tcPr marL="54864" marR="54864" marT="22860" marB="22860" anchor="ctr">
                    <a:solidFill>
                      <a:srgbClr val="E8EEF5"/>
                    </a:solidFill>
                  </a:tcPr>
                </a:tc>
                <a:tc>
                  <a:txBody>
                    <a:bodyPr/>
                    <a:lstStyle/>
                    <a:p>
                      <a:r>
                        <a:rPr sz="1150" b="0">
                          <a:solidFill>
                            <a:srgbClr val="1A1A1A"/>
                          </a:solidFill>
                          <a:latin typeface="Times New Roman"/>
                        </a:rPr>
                        <a:t>Stages 3 and 4 can be developed, tested and demonstrated without re-running the 2.1 GB pipeline</a:t>
                      </a:r>
                    </a:p>
                  </a:txBody>
                  <a:tcPr marL="54864" marR="54864" marT="22860" marB="22860" anchor="ctr">
                    <a:solidFill>
                      <a:srgbClr val="E8EEF5"/>
                    </a:solidFill>
                  </a:tcPr>
                </a:tc>
              </a:tr>
              <a:tr h="594360">
                <a:tc>
                  <a:txBody>
                    <a:bodyPr/>
                    <a:lstStyle/>
                    <a:p>
                      <a:r>
                        <a:rPr sz="1150" b="0">
                          <a:solidFill>
                            <a:srgbClr val="1A1A1A"/>
                          </a:solidFill>
                          <a:latin typeface="Times New Roman"/>
                        </a:rPr>
                        <a:t>risk_level is echoed, never recomputed</a:t>
                      </a:r>
                    </a:p>
                  </a:txBody>
                  <a:tcPr marL="54864" marR="54864" marT="22860" marB="22860" anchor="ctr">
                    <a:solidFill>
                      <a:srgbClr val="FFFFFF"/>
                    </a:solidFill>
                  </a:tcPr>
                </a:tc>
                <a:tc>
                  <a:txBody>
                    <a:bodyPr/>
                    <a:lstStyle/>
                    <a:p>
                      <a:r>
                        <a:rPr sz="1150" b="0">
                          <a:solidFill>
                            <a:srgbClr val="1A1A1A"/>
                          </a:solidFill>
                          <a:latin typeface="Times New Roman"/>
                        </a:rPr>
                        <a:t>The language model is structurally incapable of upgrading or downgrading a person's risk band</a:t>
                      </a:r>
                    </a:p>
                  </a:txBody>
                  <a:tcPr marL="54864" marR="54864" marT="22860" marB="22860" anchor="ctr">
                    <a:solidFill>
                      <a:srgbClr val="FFFFFF"/>
                    </a:solidFill>
                  </a:tcPr>
                </a:tc>
              </a:tr>
              <a:tr h="594360">
                <a:tc>
                  <a:txBody>
                    <a:bodyPr/>
                    <a:lstStyle/>
                    <a:p>
                      <a:r>
                        <a:rPr sz="1150" b="0">
                          <a:solidFill>
                            <a:srgbClr val="1A1A1A"/>
                          </a:solidFill>
                          <a:latin typeface="Times New Roman"/>
                        </a:rPr>
                        <a:t>Evidence is fenced as data in the prompt</a:t>
                      </a:r>
                    </a:p>
                  </a:txBody>
                  <a:tcPr marL="54864" marR="54864" marT="22860" marB="22860" anchor="ctr">
                    <a:solidFill>
                      <a:srgbClr val="E8EEF5"/>
                    </a:solidFill>
                  </a:tcPr>
                </a:tc>
                <a:tc>
                  <a:txBody>
                    <a:bodyPr/>
                    <a:lstStyle/>
                    <a:p>
                      <a:r>
                        <a:rPr sz="1150" b="0">
                          <a:solidFill>
                            <a:srgbClr val="1A1A1A"/>
                          </a:solidFill>
                          <a:latin typeface="Times New Roman"/>
                        </a:rPr>
                        <a:t>Retrieved records cannot be read as instructions — blocks prompt-injection through message content</a:t>
                      </a:r>
                    </a:p>
                  </a:txBody>
                  <a:tcPr marL="54864" marR="54864" marT="22860" marB="22860" anchor="ctr">
                    <a:solidFill>
                      <a:srgbClr val="E8EEF5"/>
                    </a:solidFill>
                  </a:tcPr>
                </a:tc>
              </a:tr>
              <a:tr h="594360">
                <a:tc>
                  <a:txBody>
                    <a:bodyPr/>
                    <a:lstStyle/>
                    <a:p>
                      <a:r>
                        <a:rPr sz="1150" b="0">
                          <a:solidFill>
                            <a:srgbClr val="1A1A1A"/>
                          </a:solidFill>
                          <a:latin typeface="Times New Roman"/>
                        </a:rPr>
                        <a:t>Read-only enforcement, verified</a:t>
                      </a:r>
                    </a:p>
                  </a:txBody>
                  <a:tcPr marL="54864" marR="54864" marT="22860" marB="22860" anchor="ctr">
                    <a:solidFill>
                      <a:srgbClr val="FFFFFF"/>
                    </a:solidFill>
                  </a:tcPr>
                </a:tc>
                <a:tc>
                  <a:txBody>
                    <a:bodyPr/>
                    <a:lstStyle/>
                    <a:p>
                      <a:r>
                        <a:rPr sz="1150" b="0">
                          <a:solidFill>
                            <a:srgbClr val="1A1A1A"/>
                          </a:solidFill>
                          <a:latin typeface="Times New Roman"/>
                        </a:rPr>
                        <a:t>Person 1 and Person 2 source files were confirmed byte-identical after integration (git diff + MD5)</a:t>
                      </a:r>
                    </a:p>
                  </a:txBody>
                  <a:tcPr marL="54864" marR="54864" marT="22860" marB="22860" anchor="ctr">
                    <a:solidFill>
                      <a:srgbClr val="FFFFFF"/>
                    </a:solidFill>
                  </a:tcPr>
                </a:tc>
              </a:tr>
              <a:tr h="594360">
                <a:tc>
                  <a:txBody>
                    <a:bodyPr/>
                    <a:lstStyle/>
                    <a:p>
                      <a:r>
                        <a:rPr sz="1150" b="0">
                          <a:solidFill>
                            <a:srgbClr val="1A1A1A"/>
                          </a:solidFill>
                          <a:latin typeface="Times New Roman"/>
                        </a:rPr>
                        <a:t>Scoring functions reused, not rewritten</a:t>
                      </a:r>
                    </a:p>
                  </a:txBody>
                  <a:tcPr marL="54864" marR="54864" marT="22860" marB="22860" anchor="ctr">
                    <a:solidFill>
                      <a:srgbClr val="E8EEF5"/>
                    </a:solidFill>
                  </a:tcPr>
                </a:tc>
                <a:tc>
                  <a:txBody>
                    <a:bodyPr/>
                    <a:lstStyle/>
                    <a:p>
                      <a:r>
                        <a:rPr sz="1150" b="0">
                          <a:solidFill>
                            <a:srgbClr val="1A1A1A"/>
                          </a:solidFill>
                          <a:latin typeface="Times New Roman"/>
                        </a:rPr>
                        <a:t>Uploaded documents are scored by the original authors' own functions, lifted at runtime via Python's ast module</a:t>
                      </a:r>
                    </a:p>
                  </a:txBody>
                  <a:tcPr marL="54864" marR="54864" marT="22860" marB="22860" anchor="ctr">
                    <a:solidFill>
                      <a:srgbClr val="E8EEF5"/>
                    </a:solidFill>
                  </a:tcPr>
                </a:tc>
              </a:tr>
            </a:tbl>
          </a:graphicData>
        </a:graphic>
      </p:graphicFrame>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Component-Level Design — RAG Backend</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C · SYSTEM DESIGN</a:t>
            </a:r>
          </a:p>
        </p:txBody>
      </p:sp>
      <p:graphicFrame>
        <p:nvGraphicFramePr>
          <p:cNvPr id="5" name="Table 4"/>
          <p:cNvGraphicFramePr>
            <a:graphicFrameLocks noGrp="1"/>
          </p:cNvGraphicFramePr>
          <p:nvPr/>
        </p:nvGraphicFramePr>
        <p:xfrm>
          <a:off x="566928" y="1975104"/>
          <a:ext cx="8046719" cy="4389120"/>
        </p:xfrm>
        <a:graphic>
          <a:graphicData uri="http://schemas.openxmlformats.org/drawingml/2006/table">
            <a:tbl>
              <a:tblPr firstRow="1" bandRow="1">
                <a:tableStyleId>{5C22544A-7EE6-4342-B048-85BDC9FD1C3A}</a:tableStyleId>
              </a:tblPr>
              <a:tblGrid>
                <a:gridCol w="1463040"/>
                <a:gridCol w="1874519"/>
                <a:gridCol w="4709160"/>
              </a:tblGrid>
              <a:tr h="548640">
                <a:tc>
                  <a:txBody>
                    <a:bodyPr/>
                    <a:lstStyle/>
                    <a:p>
                      <a:r>
                        <a:rPr sz="1100" b="1">
                          <a:solidFill>
                            <a:srgbClr val="FFFFFF"/>
                          </a:solidFill>
                          <a:latin typeface="Times New Roman"/>
                        </a:rPr>
                        <a:t>Module</a:t>
                      </a:r>
                    </a:p>
                  </a:txBody>
                  <a:tcPr marL="54864" marR="54864" marT="27432" marB="27432" anchor="ctr">
                    <a:solidFill>
                      <a:srgbClr val="1B3A5C"/>
                    </a:solidFill>
                  </a:tcPr>
                </a:tc>
                <a:tc>
                  <a:txBody>
                    <a:bodyPr/>
                    <a:lstStyle/>
                    <a:p>
                      <a:r>
                        <a:rPr sz="1100" b="1">
                          <a:solidFill>
                            <a:srgbClr val="FFFFFF"/>
                          </a:solidFill>
                          <a:latin typeface="Times New Roman"/>
                        </a:rPr>
                        <a:t>Responsibility</a:t>
                      </a:r>
                    </a:p>
                  </a:txBody>
                  <a:tcPr marL="54864" marR="54864" marT="27432" marB="27432" anchor="ctr">
                    <a:solidFill>
                      <a:srgbClr val="1B3A5C"/>
                    </a:solidFill>
                  </a:tcPr>
                </a:tc>
                <a:tc>
                  <a:txBody>
                    <a:bodyPr/>
                    <a:lstStyle/>
                    <a:p>
                      <a:r>
                        <a:rPr sz="1100" b="1">
                          <a:solidFill>
                            <a:srgbClr val="FFFFFF"/>
                          </a:solidFill>
                          <a:latin typeface="Times New Roman"/>
                        </a:rPr>
                        <a:t>Key design choice</a:t>
                      </a:r>
                    </a:p>
                  </a:txBody>
                  <a:tcPr marL="54864" marR="54864" marT="27432" marB="27432" anchor="ctr">
                    <a:solidFill>
                      <a:srgbClr val="1B3A5C"/>
                    </a:solidFill>
                  </a:tcPr>
                </a:tc>
              </a:tr>
              <a:tr h="548640">
                <a:tc>
                  <a:txBody>
                    <a:bodyPr/>
                    <a:lstStyle/>
                    <a:p>
                      <a:r>
                        <a:rPr sz="1050" b="0">
                          <a:solidFill>
                            <a:srgbClr val="1A1A1A"/>
                          </a:solidFill>
                          <a:latin typeface="Times New Roman"/>
                        </a:rPr>
                        <a:t>embeddings.py</a:t>
                      </a:r>
                    </a:p>
                  </a:txBody>
                  <a:tcPr marL="54864" marR="54864" marT="22860" marB="22860" anchor="ctr">
                    <a:solidFill>
                      <a:srgbClr val="E8EEF5"/>
                    </a:solidFill>
                  </a:tcPr>
                </a:tc>
                <a:tc>
                  <a:txBody>
                    <a:bodyPr/>
                    <a:lstStyle/>
                    <a:p>
                      <a:r>
                        <a:rPr sz="1050" b="0">
                          <a:solidFill>
                            <a:srgbClr val="1A1A1A"/>
                          </a:solidFill>
                          <a:latin typeface="Times New Roman"/>
                        </a:rPr>
                        <a:t>Encode text to vectors</a:t>
                      </a:r>
                    </a:p>
                  </a:txBody>
                  <a:tcPr marL="54864" marR="54864" marT="22860" marB="22860" anchor="ctr">
                    <a:solidFill>
                      <a:srgbClr val="E8EEF5"/>
                    </a:solidFill>
                  </a:tcPr>
                </a:tc>
                <a:tc>
                  <a:txBody>
                    <a:bodyPr/>
                    <a:lstStyle/>
                    <a:p>
                      <a:r>
                        <a:rPr sz="1050" b="0">
                          <a:solidFill>
                            <a:srgbClr val="1A1A1A"/>
                          </a:solidFill>
                          <a:latin typeface="Times New Roman"/>
                        </a:rPr>
                        <a:t>all-MiniLM-L6-v2, 384-dim, L2-normalised so cosine = dot product</a:t>
                      </a:r>
                    </a:p>
                  </a:txBody>
                  <a:tcPr marL="54864" marR="54864" marT="22860" marB="22860" anchor="ctr">
                    <a:solidFill>
                      <a:srgbClr val="E8EEF5"/>
                    </a:solidFill>
                  </a:tcPr>
                </a:tc>
              </a:tr>
              <a:tr h="548640">
                <a:tc>
                  <a:txBody>
                    <a:bodyPr/>
                    <a:lstStyle/>
                    <a:p>
                      <a:r>
                        <a:rPr sz="1050" b="0">
                          <a:solidFill>
                            <a:srgbClr val="1A1A1A"/>
                          </a:solidFill>
                          <a:latin typeface="Times New Roman"/>
                        </a:rPr>
                        <a:t>vectorstore.py</a:t>
                      </a:r>
                    </a:p>
                  </a:txBody>
                  <a:tcPr marL="54864" marR="54864" marT="22860" marB="22860" anchor="ctr">
                    <a:solidFill>
                      <a:srgbClr val="FFFFFF"/>
                    </a:solidFill>
                  </a:tcPr>
                </a:tc>
                <a:tc>
                  <a:txBody>
                    <a:bodyPr/>
                    <a:lstStyle/>
                    <a:p>
                      <a:r>
                        <a:rPr sz="1050" b="0">
                          <a:solidFill>
                            <a:srgbClr val="1A1A1A"/>
                          </a:solidFill>
                          <a:latin typeface="Times New Roman"/>
                        </a:rPr>
                        <a:t>Persist and search vectors</a:t>
                      </a:r>
                    </a:p>
                  </a:txBody>
                  <a:tcPr marL="54864" marR="54864" marT="22860" marB="22860" anchor="ctr">
                    <a:solidFill>
                      <a:srgbClr val="FFFFFF"/>
                    </a:solidFill>
                  </a:tcPr>
                </a:tc>
                <a:tc>
                  <a:txBody>
                    <a:bodyPr/>
                    <a:lstStyle/>
                    <a:p>
                      <a:r>
                        <a:rPr sz="1050" b="0">
                          <a:solidFill>
                            <a:srgbClr val="1A1A1A"/>
                          </a:solidFill>
                          <a:latin typeface="Times New Roman"/>
                        </a:rPr>
                        <a:t>ChromaDB with a content fingerprint — rebuilds only when data changes</a:t>
                      </a:r>
                    </a:p>
                  </a:txBody>
                  <a:tcPr marL="54864" marR="54864" marT="22860" marB="22860" anchor="ctr">
                    <a:solidFill>
                      <a:srgbClr val="FFFFFF"/>
                    </a:solidFill>
                  </a:tcPr>
                </a:tc>
              </a:tr>
              <a:tr h="548640">
                <a:tc>
                  <a:txBody>
                    <a:bodyPr/>
                    <a:lstStyle/>
                    <a:p>
                      <a:r>
                        <a:rPr sz="1050" b="0">
                          <a:solidFill>
                            <a:srgbClr val="1A1A1A"/>
                          </a:solidFill>
                          <a:latin typeface="Times New Roman"/>
                        </a:rPr>
                        <a:t>retriever.py</a:t>
                      </a:r>
                    </a:p>
                  </a:txBody>
                  <a:tcPr marL="54864" marR="54864" marT="22860" marB="22860" anchor="ctr">
                    <a:solidFill>
                      <a:srgbClr val="E8EEF5"/>
                    </a:solidFill>
                  </a:tcPr>
                </a:tc>
                <a:tc>
                  <a:txBody>
                    <a:bodyPr/>
                    <a:lstStyle/>
                    <a:p>
                      <a:r>
                        <a:rPr sz="1050" b="0">
                          <a:solidFill>
                            <a:srgbClr val="1A1A1A"/>
                          </a:solidFill>
                          <a:latin typeface="Times New Roman"/>
                        </a:rPr>
                        <a:t>Select evidence</a:t>
                      </a:r>
                    </a:p>
                  </a:txBody>
                  <a:tcPr marL="54864" marR="54864" marT="22860" marB="22860" anchor="ctr">
                    <a:solidFill>
                      <a:srgbClr val="E8EEF5"/>
                    </a:solidFill>
                  </a:tcPr>
                </a:tc>
                <a:tc>
                  <a:txBody>
                    <a:bodyPr/>
                    <a:lstStyle/>
                    <a:p>
                      <a:r>
                        <a:rPr sz="1050" b="0">
                          <a:solidFill>
                            <a:srgbClr val="1A1A1A"/>
                          </a:solidFill>
                          <a:latin typeface="Times New Roman"/>
                        </a:rPr>
                        <a:t>Explicit employee ID overrides similarity; filters relax before failing</a:t>
                      </a:r>
                    </a:p>
                  </a:txBody>
                  <a:tcPr marL="54864" marR="54864" marT="22860" marB="22860" anchor="ctr">
                    <a:solidFill>
                      <a:srgbClr val="E8EEF5"/>
                    </a:solidFill>
                  </a:tcPr>
                </a:tc>
              </a:tr>
              <a:tr h="548640">
                <a:tc>
                  <a:txBody>
                    <a:bodyPr/>
                    <a:lstStyle/>
                    <a:p>
                      <a:r>
                        <a:rPr sz="1050" b="0">
                          <a:solidFill>
                            <a:srgbClr val="1A1A1A"/>
                          </a:solidFill>
                          <a:latin typeface="Times New Roman"/>
                        </a:rPr>
                        <a:t>burnout_prompt.py</a:t>
                      </a:r>
                    </a:p>
                  </a:txBody>
                  <a:tcPr marL="54864" marR="54864" marT="22860" marB="22860" anchor="ctr">
                    <a:solidFill>
                      <a:srgbClr val="FFFFFF"/>
                    </a:solidFill>
                  </a:tcPr>
                </a:tc>
                <a:tc>
                  <a:txBody>
                    <a:bodyPr/>
                    <a:lstStyle/>
                    <a:p>
                      <a:r>
                        <a:rPr sz="1050" b="0">
                          <a:solidFill>
                            <a:srgbClr val="1A1A1A"/>
                          </a:solidFill>
                          <a:latin typeface="Times New Roman"/>
                        </a:rPr>
                        <a:t>Constrain the model</a:t>
                      </a:r>
                    </a:p>
                  </a:txBody>
                  <a:tcPr marL="54864" marR="54864" marT="22860" marB="22860" anchor="ctr">
                    <a:solidFill>
                      <a:srgbClr val="FFFFFF"/>
                    </a:solidFill>
                  </a:tcPr>
                </a:tc>
                <a:tc>
                  <a:txBody>
                    <a:bodyPr/>
                    <a:lstStyle/>
                    <a:p>
                      <a:r>
                        <a:rPr sz="1050" b="0">
                          <a:solidFill>
                            <a:srgbClr val="1A1A1A"/>
                          </a:solidFill>
                          <a:latin typeface="Times New Roman"/>
                        </a:rPr>
                        <a:t>Evidence fenced as data; 8 mandatory output sections</a:t>
                      </a:r>
                    </a:p>
                  </a:txBody>
                  <a:tcPr marL="54864" marR="54864" marT="22860" marB="22860" anchor="ctr">
                    <a:solidFill>
                      <a:srgbClr val="FFFFFF"/>
                    </a:solidFill>
                  </a:tcPr>
                </a:tc>
              </a:tr>
              <a:tr h="548640">
                <a:tc>
                  <a:txBody>
                    <a:bodyPr/>
                    <a:lstStyle/>
                    <a:p>
                      <a:r>
                        <a:rPr sz="1050" b="0">
                          <a:solidFill>
                            <a:srgbClr val="1A1A1A"/>
                          </a:solidFill>
                          <a:latin typeface="Times New Roman"/>
                        </a:rPr>
                        <a:t>llm_client.py</a:t>
                      </a:r>
                    </a:p>
                  </a:txBody>
                  <a:tcPr marL="54864" marR="54864" marT="22860" marB="22860" anchor="ctr">
                    <a:solidFill>
                      <a:srgbClr val="E8EEF5"/>
                    </a:solidFill>
                  </a:tcPr>
                </a:tc>
                <a:tc>
                  <a:txBody>
                    <a:bodyPr/>
                    <a:lstStyle/>
                    <a:p>
                      <a:r>
                        <a:rPr sz="1050" b="0">
                          <a:solidFill>
                            <a:srgbClr val="1A1A1A"/>
                          </a:solidFill>
                          <a:latin typeface="Times New Roman"/>
                        </a:rPr>
                        <a:t>Talk to a provider</a:t>
                      </a:r>
                    </a:p>
                  </a:txBody>
                  <a:tcPr marL="54864" marR="54864" marT="22860" marB="22860" anchor="ctr">
                    <a:solidFill>
                      <a:srgbClr val="E8EEF5"/>
                    </a:solidFill>
                  </a:tcPr>
                </a:tc>
                <a:tc>
                  <a:txBody>
                    <a:bodyPr/>
                    <a:lstStyle/>
                    <a:p>
                      <a:r>
                        <a:rPr sz="1050" b="0">
                          <a:solidFill>
                            <a:srgbClr val="1A1A1A"/>
                          </a:solidFill>
                          <a:latin typeface="Times New Roman"/>
                        </a:rPr>
                        <a:t>Abstract base + registry: OpenAI, Gemini, Ollama — switched by .env only</a:t>
                      </a:r>
                    </a:p>
                  </a:txBody>
                  <a:tcPr marL="54864" marR="54864" marT="22860" marB="22860" anchor="ctr">
                    <a:solidFill>
                      <a:srgbClr val="E8EEF5"/>
                    </a:solidFill>
                  </a:tcPr>
                </a:tc>
              </a:tr>
              <a:tr h="548640">
                <a:tc>
                  <a:txBody>
                    <a:bodyPr/>
                    <a:lstStyle/>
                    <a:p>
                      <a:r>
                        <a:rPr sz="1050" b="0">
                          <a:solidFill>
                            <a:srgbClr val="1A1A1A"/>
                          </a:solidFill>
                          <a:latin typeface="Times New Roman"/>
                        </a:rPr>
                        <a:t>rag_pipeline.py</a:t>
                      </a:r>
                    </a:p>
                  </a:txBody>
                  <a:tcPr marL="54864" marR="54864" marT="22860" marB="22860" anchor="ctr">
                    <a:solidFill>
                      <a:srgbClr val="FFFFFF"/>
                    </a:solidFill>
                  </a:tcPr>
                </a:tc>
                <a:tc>
                  <a:txBody>
                    <a:bodyPr/>
                    <a:lstStyle/>
                    <a:p>
                      <a:r>
                        <a:rPr sz="1050" b="0">
                          <a:solidFill>
                            <a:srgbClr val="1A1A1A"/>
                          </a:solidFill>
                          <a:latin typeface="Times New Roman"/>
                        </a:rPr>
                        <a:t>Orchestrate</a:t>
                      </a:r>
                    </a:p>
                  </a:txBody>
                  <a:tcPr marL="54864" marR="54864" marT="22860" marB="22860" anchor="ctr">
                    <a:solidFill>
                      <a:srgbClr val="FFFFFF"/>
                    </a:solidFill>
                  </a:tcPr>
                </a:tc>
                <a:tc>
                  <a:txBody>
                    <a:bodyPr/>
                    <a:lstStyle/>
                    <a:p>
                      <a:r>
                        <a:rPr sz="1050" b="0">
                          <a:solidFill>
                            <a:srgbClr val="1A1A1A"/>
                          </a:solidFill>
                          <a:latin typeface="Times New Roman"/>
                        </a:rPr>
                        <a:t>Four-strategy JSON parsing; falls back to a rule-based analysis</a:t>
                      </a:r>
                    </a:p>
                  </a:txBody>
                  <a:tcPr marL="54864" marR="54864" marT="22860" marB="22860" anchor="ctr">
                    <a:solidFill>
                      <a:srgbClr val="FFFFFF"/>
                    </a:solidFill>
                  </a:tcPr>
                </a:tc>
              </a:tr>
              <a:tr h="548640">
                <a:tc>
                  <a:txBody>
                    <a:bodyPr/>
                    <a:lstStyle/>
                    <a:p>
                      <a:r>
                        <a:rPr sz="1050" b="0">
                          <a:solidFill>
                            <a:srgbClr val="1A1A1A"/>
                          </a:solidFill>
                          <a:latin typeface="Times New Roman"/>
                        </a:rPr>
                        <a:t>app.py</a:t>
                      </a:r>
                    </a:p>
                  </a:txBody>
                  <a:tcPr marL="54864" marR="54864" marT="22860" marB="22860" anchor="ctr">
                    <a:solidFill>
                      <a:srgbClr val="E8EEF5"/>
                    </a:solidFill>
                  </a:tcPr>
                </a:tc>
                <a:tc>
                  <a:txBody>
                    <a:bodyPr/>
                    <a:lstStyle/>
                    <a:p>
                      <a:r>
                        <a:rPr sz="1050" b="0">
                          <a:solidFill>
                            <a:srgbClr val="1A1A1A"/>
                          </a:solidFill>
                          <a:latin typeface="Times New Roman"/>
                        </a:rPr>
                        <a:t>Expose the API</a:t>
                      </a:r>
                    </a:p>
                  </a:txBody>
                  <a:tcPr marL="54864" marR="54864" marT="22860" marB="22860" anchor="ctr">
                    <a:solidFill>
                      <a:srgbClr val="E8EEF5"/>
                    </a:solidFill>
                  </a:tcPr>
                </a:tc>
                <a:tc>
                  <a:txBody>
                    <a:bodyPr/>
                    <a:lstStyle/>
                    <a:p>
                      <a:r>
                        <a:rPr sz="1050" b="0">
                          <a:solidFill>
                            <a:srgbClr val="1A1A1A"/>
                          </a:solidFill>
                          <a:latin typeface="Times New Roman"/>
                        </a:rPr>
                        <a:t>7 FastAPI endpoints, Pydantic-validated request and response</a:t>
                      </a:r>
                    </a:p>
                  </a:txBody>
                  <a:tcPr marL="54864" marR="54864" marT="22860" marB="22860" anchor="ctr">
                    <a:solidFill>
                      <a:srgbClr val="E8EEF5"/>
                    </a:solidFill>
                  </a:tcPr>
                </a:tc>
              </a:tr>
            </a:tbl>
          </a:graphicData>
        </a:graphic>
      </p:graphicFrame>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Design for Failure and Responsible Use</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C · SYSTEM DESIGN</a:t>
            </a:r>
          </a:p>
        </p:txBody>
      </p:sp>
      <p:graphicFrame>
        <p:nvGraphicFramePr>
          <p:cNvPr id="5" name="Table 4"/>
          <p:cNvGraphicFramePr>
            <a:graphicFrameLocks noGrp="1"/>
          </p:cNvGraphicFramePr>
          <p:nvPr/>
        </p:nvGraphicFramePr>
        <p:xfrm>
          <a:off x="566928" y="1975104"/>
          <a:ext cx="8046720" cy="4352544"/>
        </p:xfrm>
        <a:graphic>
          <a:graphicData uri="http://schemas.openxmlformats.org/drawingml/2006/table">
            <a:tbl>
              <a:tblPr firstRow="1" bandRow="1">
                <a:tableStyleId>{5C22544A-7EE6-4342-B048-85BDC9FD1C3A}</a:tableStyleId>
              </a:tblPr>
              <a:tblGrid>
                <a:gridCol w="2697480"/>
                <a:gridCol w="5349240"/>
              </a:tblGrid>
              <a:tr h="621792">
                <a:tc>
                  <a:txBody>
                    <a:bodyPr/>
                    <a:lstStyle/>
                    <a:p>
                      <a:r>
                        <a:rPr sz="1250" b="1">
                          <a:solidFill>
                            <a:srgbClr val="FFFFFF"/>
                          </a:solidFill>
                          <a:latin typeface="Times New Roman"/>
                        </a:rPr>
                        <a:t>Failure or risk</a:t>
                      </a:r>
                    </a:p>
                  </a:txBody>
                  <a:tcPr marL="54864" marR="54864" marT="27432" marB="27432" anchor="ctr">
                    <a:solidFill>
                      <a:srgbClr val="1B3A5C"/>
                    </a:solidFill>
                  </a:tcPr>
                </a:tc>
                <a:tc>
                  <a:txBody>
                    <a:bodyPr/>
                    <a:lstStyle/>
                    <a:p>
                      <a:r>
                        <a:rPr sz="1250" b="1">
                          <a:solidFill>
                            <a:srgbClr val="FFFFFF"/>
                          </a:solidFill>
                          <a:latin typeface="Times New Roman"/>
                        </a:rPr>
                        <a:t>System response</a:t>
                      </a:r>
                    </a:p>
                  </a:txBody>
                  <a:tcPr marL="54864" marR="54864" marT="27432" marB="27432" anchor="ctr">
                    <a:solidFill>
                      <a:srgbClr val="1B3A5C"/>
                    </a:solidFill>
                  </a:tcPr>
                </a:tc>
              </a:tr>
              <a:tr h="621792">
                <a:tc>
                  <a:txBody>
                    <a:bodyPr/>
                    <a:lstStyle/>
                    <a:p>
                      <a:r>
                        <a:rPr sz="1150" b="0">
                          <a:solidFill>
                            <a:srgbClr val="1A1A1A"/>
                          </a:solidFill>
                          <a:latin typeface="Times New Roman"/>
                        </a:rPr>
                        <a:t>Language model unreachable or slow</a:t>
                      </a:r>
                    </a:p>
                  </a:txBody>
                  <a:tcPr marL="54864" marR="54864" marT="22860" marB="22860" anchor="ctr">
                    <a:solidFill>
                      <a:srgbClr val="E8EEF5"/>
                    </a:solidFill>
                  </a:tcPr>
                </a:tc>
                <a:tc>
                  <a:txBody>
                    <a:bodyPr/>
                    <a:lstStyle/>
                    <a:p>
                      <a:r>
                        <a:rPr sz="1150" b="0">
                          <a:solidFill>
                            <a:srgbClr val="1A1A1A"/>
                          </a:solidFill>
                          <a:latin typeface="Times New Roman"/>
                        </a:rPr>
                        <a:t>Rule-based analysis is returned with degraded = true and HTTP 200 — the dashboard stays usable</a:t>
                      </a:r>
                    </a:p>
                  </a:txBody>
                  <a:tcPr marL="54864" marR="54864" marT="22860" marB="22860" anchor="ctr">
                    <a:solidFill>
                      <a:srgbClr val="E8EEF5"/>
                    </a:solidFill>
                  </a:tcPr>
                </a:tc>
              </a:tr>
              <a:tr h="621792">
                <a:tc>
                  <a:txBody>
                    <a:bodyPr/>
                    <a:lstStyle/>
                    <a:p>
                      <a:r>
                        <a:rPr sz="1150" b="0">
                          <a:solidFill>
                            <a:srgbClr val="1A1A1A"/>
                          </a:solidFill>
                          <a:latin typeface="Times New Roman"/>
                        </a:rPr>
                        <a:t>Model returns malformed JSON</a:t>
                      </a:r>
                    </a:p>
                  </a:txBody>
                  <a:tcPr marL="54864" marR="54864" marT="22860" marB="22860" anchor="ctr">
                    <a:solidFill>
                      <a:srgbClr val="FFFFFF"/>
                    </a:solidFill>
                  </a:tcPr>
                </a:tc>
                <a:tc>
                  <a:txBody>
                    <a:bodyPr/>
                    <a:lstStyle/>
                    <a:p>
                      <a:r>
                        <a:rPr sz="1150" b="0">
                          <a:solidFill>
                            <a:srgbClr val="1A1A1A"/>
                          </a:solidFill>
                          <a:latin typeface="Times New Roman"/>
                        </a:rPr>
                        <a:t>Four parsing strategies in sequence; a structured fallback if all four fail</a:t>
                      </a:r>
                    </a:p>
                  </a:txBody>
                  <a:tcPr marL="54864" marR="54864" marT="22860" marB="22860" anchor="ctr">
                    <a:solidFill>
                      <a:srgbClr val="FFFFFF"/>
                    </a:solidFill>
                  </a:tcPr>
                </a:tc>
              </a:tr>
              <a:tr h="621792">
                <a:tc>
                  <a:txBody>
                    <a:bodyPr/>
                    <a:lstStyle/>
                    <a:p>
                      <a:r>
                        <a:rPr sz="1150" b="0">
                          <a:solidFill>
                            <a:srgbClr val="1A1A1A"/>
                          </a:solidFill>
                          <a:latin typeface="Times New Roman"/>
                        </a:rPr>
                        <a:t>No evidence matches the query</a:t>
                      </a:r>
                    </a:p>
                  </a:txBody>
                  <a:tcPr marL="54864" marR="54864" marT="22860" marB="22860" anchor="ctr">
                    <a:solidFill>
                      <a:srgbClr val="E8EEF5"/>
                    </a:solidFill>
                  </a:tcPr>
                </a:tc>
                <a:tc>
                  <a:txBody>
                    <a:bodyPr/>
                    <a:lstStyle/>
                    <a:p>
                      <a:r>
                        <a:rPr sz="1150" b="0">
                          <a:solidFill>
                            <a:srgbClr val="1A1A1A"/>
                          </a:solidFill>
                          <a:latin typeface="Times New Roman"/>
                        </a:rPr>
                        <a:t>Filters are relaxed step by step; if still empty the system says so rather than inventing an answer</a:t>
                      </a:r>
                    </a:p>
                  </a:txBody>
                  <a:tcPr marL="54864" marR="54864" marT="22860" marB="22860" anchor="ctr">
                    <a:solidFill>
                      <a:srgbClr val="E8EEF5"/>
                    </a:solidFill>
                  </a:tcPr>
                </a:tc>
              </a:tr>
              <a:tr h="621792">
                <a:tc>
                  <a:txBody>
                    <a:bodyPr/>
                    <a:lstStyle/>
                    <a:p>
                      <a:r>
                        <a:rPr sz="1150" b="0">
                          <a:solidFill>
                            <a:srgbClr val="1A1A1A"/>
                          </a:solidFill>
                          <a:latin typeface="Times New Roman"/>
                        </a:rPr>
                        <a:t>Message content contains injected instructions</a:t>
                      </a:r>
                    </a:p>
                  </a:txBody>
                  <a:tcPr marL="54864" marR="54864" marT="22860" marB="22860" anchor="ctr">
                    <a:solidFill>
                      <a:srgbClr val="FFFFFF"/>
                    </a:solidFill>
                  </a:tcPr>
                </a:tc>
                <a:tc>
                  <a:txBody>
                    <a:bodyPr/>
                    <a:lstStyle/>
                    <a:p>
                      <a:r>
                        <a:rPr sz="1150" b="0">
                          <a:solidFill>
                            <a:srgbClr val="1A1A1A"/>
                          </a:solidFill>
                          <a:latin typeface="Times New Roman"/>
                        </a:rPr>
                        <a:t>Retrieved text is fenced as data; the prompt forbids treating it as instruction</a:t>
                      </a:r>
                    </a:p>
                  </a:txBody>
                  <a:tcPr marL="54864" marR="54864" marT="22860" marB="22860" anchor="ctr">
                    <a:solidFill>
                      <a:srgbClr val="FFFFFF"/>
                    </a:solidFill>
                  </a:tcPr>
                </a:tc>
              </a:tr>
              <a:tr h="621792">
                <a:tc>
                  <a:txBody>
                    <a:bodyPr/>
                    <a:lstStyle/>
                    <a:p>
                      <a:r>
                        <a:rPr sz="1150" b="0">
                          <a:solidFill>
                            <a:srgbClr val="1A1A1A"/>
                          </a:solidFill>
                          <a:latin typeface="Times New Roman"/>
                        </a:rPr>
                        <a:t>Output mistaken for a clinical diagnosis</a:t>
                      </a:r>
                    </a:p>
                  </a:txBody>
                  <a:tcPr marL="54864" marR="54864" marT="22860" marB="22860" anchor="ctr">
                    <a:solidFill>
                      <a:srgbClr val="E8EEF5"/>
                    </a:solidFill>
                  </a:tcPr>
                </a:tc>
                <a:tc>
                  <a:txBody>
                    <a:bodyPr/>
                    <a:lstStyle/>
                    <a:p>
                      <a:r>
                        <a:rPr sz="1150" b="0">
                          <a:solidFill>
                            <a:srgbClr val="1A1A1A"/>
                          </a:solidFill>
                          <a:latin typeface="Times New Roman"/>
                        </a:rPr>
                        <a:t>A confidence note is a mandatory output section and is placed BEFORE the recommendations in the PDF</a:t>
                      </a:r>
                    </a:p>
                  </a:txBody>
                  <a:tcPr marL="54864" marR="54864" marT="22860" marB="22860" anchor="ctr">
                    <a:solidFill>
                      <a:srgbClr val="E8EEF5"/>
                    </a:solidFill>
                  </a:tcPr>
                </a:tc>
              </a:tr>
              <a:tr h="621792">
                <a:tc>
                  <a:txBody>
                    <a:bodyPr/>
                    <a:lstStyle/>
                    <a:p>
                      <a:r>
                        <a:rPr sz="1150" b="0">
                          <a:solidFill>
                            <a:srgbClr val="1A1A1A"/>
                          </a:solidFill>
                          <a:latin typeface="Times New Roman"/>
                        </a:rPr>
                        <a:t>Employee privacy</a:t>
                      </a:r>
                    </a:p>
                  </a:txBody>
                  <a:tcPr marL="54864" marR="54864" marT="22860" marB="22860" anchor="ctr">
                    <a:solidFill>
                      <a:srgbClr val="FFFFFF"/>
                    </a:solidFill>
                  </a:tcPr>
                </a:tc>
                <a:tc>
                  <a:txBody>
                    <a:bodyPr/>
                    <a:lstStyle/>
                    <a:p>
                      <a:r>
                        <a:rPr sz="1150" b="0">
                          <a:solidFill>
                            <a:srgbClr val="1A1A1A"/>
                          </a:solidFill>
                          <a:latin typeface="Times New Roman"/>
                        </a:rPr>
                        <a:t>Pseudonymous employee IDs; evidence shown is limited to the records that produced the conclusion</a:t>
                      </a:r>
                    </a:p>
                  </a:txBody>
                  <a:tcPr marL="54864" marR="54864" marT="22860" marB="22860" anchor="ctr">
                    <a:solidFill>
                      <a:srgbClr val="FFFFFF"/>
                    </a:solidFill>
                  </a:tcPr>
                </a:tc>
              </a:tr>
            </a:tbl>
          </a:graphicData>
        </a:graphic>
      </p:graphicFrame>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Implementation Status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IMPLEMENTATION</a:t>
            </a:r>
          </a:p>
        </p:txBody>
      </p:sp>
      <p:graphicFrame>
        <p:nvGraphicFramePr>
          <p:cNvPr id="5" name="Table 4"/>
          <p:cNvGraphicFramePr>
            <a:graphicFrameLocks noGrp="1"/>
          </p:cNvGraphicFramePr>
          <p:nvPr/>
        </p:nvGraphicFramePr>
        <p:xfrm>
          <a:off x="731520" y="1975104"/>
          <a:ext cx="7680960" cy="3803904"/>
        </p:xfrm>
        <a:graphic>
          <a:graphicData uri="http://schemas.openxmlformats.org/drawingml/2006/table">
            <a:tbl>
              <a:tblPr firstRow="1" bandRow="1">
                <a:tableStyleId>{5C22544A-7EE6-4342-B048-85BDC9FD1C3A}</a:tableStyleId>
              </a:tblPr>
              <a:tblGrid>
                <a:gridCol w="3246120"/>
                <a:gridCol w="1051560"/>
                <a:gridCol w="1234440"/>
                <a:gridCol w="960120"/>
                <a:gridCol w="1188720"/>
              </a:tblGrid>
              <a:tr h="475488">
                <a:tc>
                  <a:txBody>
                    <a:bodyPr/>
                    <a:lstStyle/>
                    <a:p>
                      <a:r>
                        <a:rPr sz="1250" b="1">
                          <a:solidFill>
                            <a:srgbClr val="FFFFFF"/>
                          </a:solidFill>
                          <a:latin typeface="Times New Roman"/>
                        </a:rPr>
                        <a:t>Component</a:t>
                      </a:r>
                    </a:p>
                  </a:txBody>
                  <a:tcPr marL="54864" marR="54864" marT="27432" marB="27432" anchor="ctr">
                    <a:solidFill>
                      <a:srgbClr val="1B3A5C"/>
                    </a:solidFill>
                  </a:tcPr>
                </a:tc>
                <a:tc>
                  <a:txBody>
                    <a:bodyPr/>
                    <a:lstStyle/>
                    <a:p>
                      <a:r>
                        <a:rPr sz="1250" b="1">
                          <a:solidFill>
                            <a:srgbClr val="FFFFFF"/>
                          </a:solidFill>
                          <a:latin typeface="Times New Roman"/>
                        </a:rPr>
                        <a:t>Owner</a:t>
                      </a:r>
                    </a:p>
                  </a:txBody>
                  <a:tcPr marL="54864" marR="54864" marT="27432" marB="27432" anchor="ctr">
                    <a:solidFill>
                      <a:srgbClr val="1B3A5C"/>
                    </a:solidFill>
                  </a:tcPr>
                </a:tc>
                <a:tc>
                  <a:txBody>
                    <a:bodyPr/>
                    <a:lstStyle/>
                    <a:p>
                      <a:r>
                        <a:rPr sz="1250" b="1">
                          <a:solidFill>
                            <a:srgbClr val="FFFFFF"/>
                          </a:solidFill>
                          <a:latin typeface="Times New Roman"/>
                        </a:rPr>
                        <a:t>Files</a:t>
                      </a:r>
                    </a:p>
                  </a:txBody>
                  <a:tcPr marL="54864" marR="54864" marT="27432" marB="27432" anchor="ctr">
                    <a:solidFill>
                      <a:srgbClr val="1B3A5C"/>
                    </a:solidFill>
                  </a:tcPr>
                </a:tc>
                <a:tc>
                  <a:txBody>
                    <a:bodyPr/>
                    <a:lstStyle/>
                    <a:p>
                      <a:r>
                        <a:rPr sz="1250" b="1">
                          <a:solidFill>
                            <a:srgbClr val="FFFFFF"/>
                          </a:solidFill>
                          <a:latin typeface="Times New Roman"/>
                        </a:rPr>
                        <a:t>Lines</a:t>
                      </a:r>
                    </a:p>
                  </a:txBody>
                  <a:tcPr marL="54864" marR="54864" marT="27432" marB="27432" anchor="ctr">
                    <a:solidFill>
                      <a:srgbClr val="1B3A5C"/>
                    </a:solidFill>
                  </a:tcPr>
                </a:tc>
                <a:tc>
                  <a:txBody>
                    <a:bodyPr/>
                    <a:lstStyle/>
                    <a:p>
                      <a:r>
                        <a:rPr sz="1250" b="1">
                          <a:solidFill>
                            <a:srgbClr val="FFFFFF"/>
                          </a:solidFill>
                          <a:latin typeface="Times New Roman"/>
                        </a:rPr>
                        <a:t>Status</a:t>
                      </a:r>
                    </a:p>
                  </a:txBody>
                  <a:tcPr marL="54864" marR="54864" marT="27432" marB="27432" anchor="ctr">
                    <a:solidFill>
                      <a:srgbClr val="1B3A5C"/>
                    </a:solidFill>
                  </a:tcPr>
                </a:tc>
              </a:tr>
              <a:tr h="475488">
                <a:tc>
                  <a:txBody>
                    <a:bodyPr/>
                    <a:lstStyle/>
                    <a:p>
                      <a:r>
                        <a:rPr sz="1150" b="0">
                          <a:solidFill>
                            <a:srgbClr val="1A1A1A"/>
                          </a:solidFill>
                          <a:latin typeface="Times New Roman"/>
                        </a:rPr>
                        <a:t>Data acquisition and preprocessing</a:t>
                      </a:r>
                    </a:p>
                  </a:txBody>
                  <a:tcPr marL="54864" marR="54864" marT="22860" marB="22860" anchor="ctr">
                    <a:solidFill>
                      <a:srgbClr val="E8EEF5"/>
                    </a:solidFill>
                  </a:tcPr>
                </a:tc>
                <a:tc>
                  <a:txBody>
                    <a:bodyPr/>
                    <a:lstStyle/>
                    <a:p>
                      <a:r>
                        <a:rPr sz="1150" b="0">
                          <a:solidFill>
                            <a:srgbClr val="1A1A1A"/>
                          </a:solidFill>
                          <a:latin typeface="Times New Roman"/>
                        </a:rPr>
                        <a:t>Person 1</a:t>
                      </a:r>
                    </a:p>
                  </a:txBody>
                  <a:tcPr marL="54864" marR="54864" marT="22860" marB="22860" anchor="ctr">
                    <a:solidFill>
                      <a:srgbClr val="E8EEF5"/>
                    </a:solidFill>
                  </a:tcPr>
                </a:tc>
                <a:tc>
                  <a:txBody>
                    <a:bodyPr/>
                    <a:lstStyle/>
                    <a:p>
                      <a:r>
                        <a:rPr sz="1150" b="0">
                          <a:solidFill>
                            <a:srgbClr val="1A1A1A"/>
                          </a:solidFill>
                          <a:latin typeface="Times New Roman"/>
                        </a:rPr>
                        <a:t>7</a:t>
                      </a:r>
                    </a:p>
                  </a:txBody>
                  <a:tcPr marL="54864" marR="54864" marT="22860" marB="22860" anchor="ctr">
                    <a:solidFill>
                      <a:srgbClr val="E8EEF5"/>
                    </a:solidFill>
                  </a:tcPr>
                </a:tc>
                <a:tc>
                  <a:txBody>
                    <a:bodyPr/>
                    <a:lstStyle/>
                    <a:p>
                      <a:r>
                        <a:rPr sz="1150" b="0">
                          <a:solidFill>
                            <a:srgbClr val="1A1A1A"/>
                          </a:solidFill>
                          <a:latin typeface="Times New Roman"/>
                        </a:rPr>
                        <a:t>399</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r>
              <a:tr h="475488">
                <a:tc>
                  <a:txBody>
                    <a:bodyPr/>
                    <a:lstStyle/>
                    <a:p>
                      <a:r>
                        <a:rPr sz="1150" b="0">
                          <a:solidFill>
                            <a:srgbClr val="1A1A1A"/>
                          </a:solidFill>
                          <a:latin typeface="Times New Roman"/>
                        </a:rPr>
                        <a:t>ML pipeline — sentiment, emotion, behaviour, scoring</a:t>
                      </a:r>
                    </a:p>
                  </a:txBody>
                  <a:tcPr marL="54864" marR="54864" marT="22860" marB="22860" anchor="ctr">
                    <a:solidFill>
                      <a:srgbClr val="FFFFFF"/>
                    </a:solidFill>
                  </a:tcPr>
                </a:tc>
                <a:tc>
                  <a:txBody>
                    <a:bodyPr/>
                    <a:lstStyle/>
                    <a:p>
                      <a:r>
                        <a:rPr sz="1150" b="0">
                          <a:solidFill>
                            <a:srgbClr val="1A1A1A"/>
                          </a:solidFill>
                          <a:latin typeface="Times New Roman"/>
                        </a:rPr>
                        <a:t>Person 2</a:t>
                      </a:r>
                    </a:p>
                  </a:txBody>
                  <a:tcPr marL="54864" marR="54864" marT="22860" marB="22860" anchor="ctr">
                    <a:solidFill>
                      <a:srgbClr val="FFFFFF"/>
                    </a:solidFill>
                  </a:tcPr>
                </a:tc>
                <a:tc>
                  <a:txBody>
                    <a:bodyPr/>
                    <a:lstStyle/>
                    <a:p>
                      <a:r>
                        <a:rPr sz="1150" b="0">
                          <a:solidFill>
                            <a:srgbClr val="1A1A1A"/>
                          </a:solidFill>
                          <a:latin typeface="Times New Roman"/>
                        </a:rPr>
                        <a:t>included above</a:t>
                      </a:r>
                    </a:p>
                  </a:txBody>
                  <a:tcPr marL="54864" marR="54864" marT="22860" marB="22860" anchor="ctr">
                    <a:solidFill>
                      <a:srgbClr val="FFFFFF"/>
                    </a:solidFill>
                  </a:tcPr>
                </a:tc>
                <a:tc>
                  <a:txBody>
                    <a:bodyPr/>
                    <a:lstStyle/>
                    <a:p>
                      <a:r>
                        <a:rPr sz="1150" b="0">
                          <a:solidFill>
                            <a:srgbClr val="1A1A1A"/>
                          </a:solidFill>
                          <a:latin typeface="Times New Roman"/>
                        </a:rPr>
                        <a:t>—</a:t>
                      </a:r>
                    </a:p>
                  </a:txBody>
                  <a:tcPr marL="54864" marR="54864" marT="22860" marB="22860" anchor="ctr">
                    <a:solidFill>
                      <a:srgbClr val="FFFFFF"/>
                    </a:solidFill>
                  </a:tcPr>
                </a:tc>
                <a:tc>
                  <a:txBody>
                    <a:bodyPr/>
                    <a:lstStyle/>
                    <a:p>
                      <a:r>
                        <a:rPr sz="1150" b="1">
                          <a:solidFill>
                            <a:srgbClr val="1A1A1A"/>
                          </a:solidFill>
                          <a:latin typeface="Times New Roman"/>
                        </a:rPr>
                        <a:t>Complete</a:t>
                      </a:r>
                    </a:p>
                  </a:txBody>
                  <a:tcPr marL="54864" marR="54864" marT="22860" marB="22860" anchor="ctr">
                    <a:solidFill>
                      <a:srgbClr val="FFFFFF"/>
                    </a:solidFill>
                  </a:tcPr>
                </a:tc>
              </a:tr>
              <a:tr h="475488">
                <a:tc>
                  <a:txBody>
                    <a:bodyPr/>
                    <a:lstStyle/>
                    <a:p>
                      <a:r>
                        <a:rPr sz="1150" b="0">
                          <a:solidFill>
                            <a:srgbClr val="1A1A1A"/>
                          </a:solidFill>
                          <a:latin typeface="Times New Roman"/>
                        </a:rPr>
                        <a:t>RAG backend — FastAPI, 7 endpoints</a:t>
                      </a:r>
                    </a:p>
                  </a:txBody>
                  <a:tcPr marL="54864" marR="54864" marT="22860" marB="22860" anchor="ctr">
                    <a:solidFill>
                      <a:srgbClr val="E8EEF5"/>
                    </a:solidFill>
                  </a:tcPr>
                </a:tc>
                <a:tc>
                  <a:txBody>
                    <a:bodyPr/>
                    <a:lstStyle/>
                    <a:p>
                      <a:r>
                        <a:rPr sz="1150" b="0">
                          <a:solidFill>
                            <a:srgbClr val="1A1A1A"/>
                          </a:solidFill>
                          <a:latin typeface="Times New Roman"/>
                        </a:rPr>
                        <a:t>Person 3</a:t>
                      </a:r>
                    </a:p>
                  </a:txBody>
                  <a:tcPr marL="54864" marR="54864" marT="22860" marB="22860" anchor="ctr">
                    <a:solidFill>
                      <a:srgbClr val="E8EEF5"/>
                    </a:solidFill>
                  </a:tcPr>
                </a:tc>
                <a:tc>
                  <a:txBody>
                    <a:bodyPr/>
                    <a:lstStyle/>
                    <a:p>
                      <a:r>
                        <a:rPr sz="1150" b="0">
                          <a:solidFill>
                            <a:srgbClr val="1A1A1A"/>
                          </a:solidFill>
                          <a:latin typeface="Times New Roman"/>
                        </a:rPr>
                        <a:t>17</a:t>
                      </a:r>
                    </a:p>
                  </a:txBody>
                  <a:tcPr marL="54864" marR="54864" marT="22860" marB="22860" anchor="ctr">
                    <a:solidFill>
                      <a:srgbClr val="E8EEF5"/>
                    </a:solidFill>
                  </a:tcPr>
                </a:tc>
                <a:tc>
                  <a:txBody>
                    <a:bodyPr/>
                    <a:lstStyle/>
                    <a:p>
                      <a:r>
                        <a:rPr sz="1150" b="0">
                          <a:solidFill>
                            <a:srgbClr val="1A1A1A"/>
                          </a:solidFill>
                          <a:latin typeface="Times New Roman"/>
                        </a:rPr>
                        <a:t>7,162</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r>
              <a:tr h="475488">
                <a:tc>
                  <a:txBody>
                    <a:bodyPr/>
                    <a:lstStyle/>
                    <a:p>
                      <a:r>
                        <a:rPr sz="1150" b="0">
                          <a:solidFill>
                            <a:srgbClr val="1A1A1A"/>
                          </a:solidFill>
                          <a:latin typeface="Times New Roman"/>
                        </a:rPr>
                        <a:t>Dashboard — Streamlit, 7 charts, PDF</a:t>
                      </a:r>
                    </a:p>
                  </a:txBody>
                  <a:tcPr marL="54864" marR="54864" marT="22860" marB="22860" anchor="ctr">
                    <a:solidFill>
                      <a:srgbClr val="FFFFFF"/>
                    </a:solidFill>
                  </a:tcPr>
                </a:tc>
                <a:tc>
                  <a:txBody>
                    <a:bodyPr/>
                    <a:lstStyle/>
                    <a:p>
                      <a:r>
                        <a:rPr sz="1150" b="0">
                          <a:solidFill>
                            <a:srgbClr val="1A1A1A"/>
                          </a:solidFill>
                          <a:latin typeface="Times New Roman"/>
                        </a:rPr>
                        <a:t>Person 4</a:t>
                      </a:r>
                    </a:p>
                  </a:txBody>
                  <a:tcPr marL="54864" marR="54864" marT="22860" marB="22860" anchor="ctr">
                    <a:solidFill>
                      <a:srgbClr val="FFFFFF"/>
                    </a:solidFill>
                  </a:tcPr>
                </a:tc>
                <a:tc>
                  <a:txBody>
                    <a:bodyPr/>
                    <a:lstStyle/>
                    <a:p>
                      <a:r>
                        <a:rPr sz="1150" b="0">
                          <a:solidFill>
                            <a:srgbClr val="1A1A1A"/>
                          </a:solidFill>
                          <a:latin typeface="Times New Roman"/>
                        </a:rPr>
                        <a:t>7</a:t>
                      </a:r>
                    </a:p>
                  </a:txBody>
                  <a:tcPr marL="54864" marR="54864" marT="22860" marB="22860" anchor="ctr">
                    <a:solidFill>
                      <a:srgbClr val="FFFFFF"/>
                    </a:solidFill>
                  </a:tcPr>
                </a:tc>
                <a:tc>
                  <a:txBody>
                    <a:bodyPr/>
                    <a:lstStyle/>
                    <a:p>
                      <a:r>
                        <a:rPr sz="1150" b="0">
                          <a:solidFill>
                            <a:srgbClr val="1A1A1A"/>
                          </a:solidFill>
                          <a:latin typeface="Times New Roman"/>
                        </a:rPr>
                        <a:t>2,824</a:t>
                      </a:r>
                    </a:p>
                  </a:txBody>
                  <a:tcPr marL="54864" marR="54864" marT="22860" marB="22860" anchor="ctr">
                    <a:solidFill>
                      <a:srgbClr val="FFFFFF"/>
                    </a:solidFill>
                  </a:tcPr>
                </a:tc>
                <a:tc>
                  <a:txBody>
                    <a:bodyPr/>
                    <a:lstStyle/>
                    <a:p>
                      <a:r>
                        <a:rPr sz="1150" b="1">
                          <a:solidFill>
                            <a:srgbClr val="1A1A1A"/>
                          </a:solidFill>
                          <a:latin typeface="Times New Roman"/>
                        </a:rPr>
                        <a:t>Complete</a:t>
                      </a:r>
                    </a:p>
                  </a:txBody>
                  <a:tcPr marL="54864" marR="54864" marT="22860" marB="22860" anchor="ctr">
                    <a:solidFill>
                      <a:srgbClr val="FFFFFF"/>
                    </a:solidFill>
                  </a:tcPr>
                </a:tc>
              </a:tr>
              <a:tr h="475488">
                <a:tc>
                  <a:txBody>
                    <a:bodyPr/>
                    <a:lstStyle/>
                    <a:p>
                      <a:r>
                        <a:rPr sz="1150" b="0">
                          <a:solidFill>
                            <a:srgbClr val="1A1A1A"/>
                          </a:solidFill>
                          <a:latin typeface="Times New Roman"/>
                        </a:rPr>
                        <a:t>Quantum ML comparative study</a:t>
                      </a:r>
                    </a:p>
                  </a:txBody>
                  <a:tcPr marL="54864" marR="54864" marT="22860" marB="22860" anchor="ctr">
                    <a:solidFill>
                      <a:srgbClr val="E8EEF5"/>
                    </a:solidFill>
                  </a:tcPr>
                </a:tc>
                <a:tc>
                  <a:txBody>
                    <a:bodyPr/>
                    <a:lstStyle/>
                    <a:p>
                      <a:r>
                        <a:rPr sz="1150" b="0">
                          <a:solidFill>
                            <a:srgbClr val="1A1A1A"/>
                          </a:solidFill>
                          <a:latin typeface="Times New Roman"/>
                        </a:rPr>
                        <a:t>Team</a:t>
                      </a:r>
                    </a:p>
                  </a:txBody>
                  <a:tcPr marL="54864" marR="54864" marT="22860" marB="22860" anchor="ctr">
                    <a:solidFill>
                      <a:srgbClr val="E8EEF5"/>
                    </a:solidFill>
                  </a:tcPr>
                </a:tc>
                <a:tc>
                  <a:txBody>
                    <a:bodyPr/>
                    <a:lstStyle/>
                    <a:p>
                      <a:r>
                        <a:rPr sz="1150" b="0">
                          <a:solidFill>
                            <a:srgbClr val="1A1A1A"/>
                          </a:solidFill>
                          <a:latin typeface="Times New Roman"/>
                        </a:rPr>
                        <a:t>7</a:t>
                      </a:r>
                    </a:p>
                  </a:txBody>
                  <a:tcPr marL="54864" marR="54864" marT="22860" marB="22860" anchor="ctr">
                    <a:solidFill>
                      <a:srgbClr val="E8EEF5"/>
                    </a:solidFill>
                  </a:tcPr>
                </a:tc>
                <a:tc>
                  <a:txBody>
                    <a:bodyPr/>
                    <a:lstStyle/>
                    <a:p>
                      <a:r>
                        <a:rPr sz="1150" b="0">
                          <a:solidFill>
                            <a:srgbClr val="1A1A1A"/>
                          </a:solidFill>
                          <a:latin typeface="Times New Roman"/>
                        </a:rPr>
                        <a:t>2,103</a:t>
                      </a:r>
                    </a:p>
                  </a:txBody>
                  <a:tcPr marL="54864" marR="54864" marT="22860" marB="22860" anchor="ctr">
                    <a:solidFill>
                      <a:srgbClr val="E8EEF5"/>
                    </a:solidFill>
                  </a:tcPr>
                </a:tc>
                <a:tc>
                  <a:txBody>
                    <a:bodyPr/>
                    <a:lstStyle/>
                    <a:p>
                      <a:r>
                        <a:rPr sz="1150" b="1">
                          <a:solidFill>
                            <a:srgbClr val="1A1A1A"/>
                          </a:solidFill>
                          <a:latin typeface="Times New Roman"/>
                        </a:rPr>
                        <a:t>Complete</a:t>
                      </a:r>
                    </a:p>
                  </a:txBody>
                  <a:tcPr marL="54864" marR="54864" marT="22860" marB="22860" anchor="ctr">
                    <a:solidFill>
                      <a:srgbClr val="E8EEF5"/>
                    </a:solidFill>
                  </a:tcPr>
                </a:tc>
              </a:tr>
              <a:tr h="475488">
                <a:tc>
                  <a:txBody>
                    <a:bodyPr/>
                    <a:lstStyle/>
                    <a:p>
                      <a:r>
                        <a:rPr sz="1150" b="0">
                          <a:solidFill>
                            <a:srgbClr val="1A1A1A"/>
                          </a:solidFill>
                          <a:latin typeface="Times New Roman"/>
                        </a:rPr>
                        <a:t>Automated test suite</a:t>
                      </a:r>
                    </a:p>
                  </a:txBody>
                  <a:tcPr marL="54864" marR="54864" marT="22860" marB="22860" anchor="ctr">
                    <a:solidFill>
                      <a:srgbClr val="FFFFFF"/>
                    </a:solidFill>
                  </a:tcPr>
                </a:tc>
                <a:tc>
                  <a:txBody>
                    <a:bodyPr/>
                    <a:lstStyle/>
                    <a:p>
                      <a:r>
                        <a:rPr sz="1150" b="0">
                          <a:solidFill>
                            <a:srgbClr val="1A1A1A"/>
                          </a:solidFill>
                          <a:latin typeface="Times New Roman"/>
                        </a:rPr>
                        <a:t>Team</a:t>
                      </a:r>
                    </a:p>
                  </a:txBody>
                  <a:tcPr marL="54864" marR="54864" marT="22860" marB="22860" anchor="ctr">
                    <a:solidFill>
                      <a:srgbClr val="FFFFFF"/>
                    </a:solidFill>
                  </a:tcPr>
                </a:tc>
                <a:tc>
                  <a:txBody>
                    <a:bodyPr/>
                    <a:lstStyle/>
                    <a:p>
                      <a:r>
                        <a:rPr sz="1150" b="0">
                          <a:solidFill>
                            <a:srgbClr val="1A1A1A"/>
                          </a:solidFill>
                          <a:latin typeface="Times New Roman"/>
                        </a:rPr>
                        <a:t>7</a:t>
                      </a:r>
                    </a:p>
                  </a:txBody>
                  <a:tcPr marL="54864" marR="54864" marT="22860" marB="22860" anchor="ctr">
                    <a:solidFill>
                      <a:srgbClr val="FFFFFF"/>
                    </a:solidFill>
                  </a:tcPr>
                </a:tc>
                <a:tc>
                  <a:txBody>
                    <a:bodyPr/>
                    <a:lstStyle/>
                    <a:p>
                      <a:r>
                        <a:rPr sz="1150" b="0">
                          <a:solidFill>
                            <a:srgbClr val="1A1A1A"/>
                          </a:solidFill>
                          <a:latin typeface="Times New Roman"/>
                        </a:rPr>
                        <a:t>1,426</a:t>
                      </a:r>
                    </a:p>
                  </a:txBody>
                  <a:tcPr marL="54864" marR="54864" marT="22860" marB="22860" anchor="ctr">
                    <a:solidFill>
                      <a:srgbClr val="FFFFFF"/>
                    </a:solidFill>
                  </a:tcPr>
                </a:tc>
                <a:tc>
                  <a:txBody>
                    <a:bodyPr/>
                    <a:lstStyle/>
                    <a:p>
                      <a:r>
                        <a:rPr sz="1150" b="1">
                          <a:solidFill>
                            <a:srgbClr val="1A1A1A"/>
                          </a:solidFill>
                          <a:latin typeface="Times New Roman"/>
                        </a:rPr>
                        <a:t>151 passing</a:t>
                      </a:r>
                    </a:p>
                  </a:txBody>
                  <a:tcPr marL="54864" marR="54864" marT="22860" marB="22860" anchor="ctr">
                    <a:solidFill>
                      <a:srgbClr val="FFFFFF"/>
                    </a:solidFill>
                  </a:tcPr>
                </a:tc>
              </a:tr>
              <a:tr h="475488">
                <a:tc>
                  <a:txBody>
                    <a:bodyPr/>
                    <a:lstStyle/>
                    <a:p>
                      <a:r>
                        <a:rPr sz="1150" b="1">
                          <a:solidFill>
                            <a:srgbClr val="1A1A1A"/>
                          </a:solidFill>
                          <a:latin typeface="Times New Roman"/>
                        </a:rPr>
                        <a:t>Total</a:t>
                      </a:r>
                    </a:p>
                  </a:txBody>
                  <a:tcPr marL="54864" marR="54864" marT="22860" marB="22860" anchor="ctr">
                    <a:solidFill>
                      <a:srgbClr val="E8EEF5"/>
                    </a:solidFill>
                  </a:tcPr>
                </a:tc>
                <a:tc>
                  <a:txBody>
                    <a:bodyPr/>
                    <a:lstStyle/>
                    <a:p>
                      <a:r>
                        <a:rPr sz="1150" b="0">
                          <a:solidFill>
                            <a:srgbClr val="1A1A1A"/>
                          </a:solidFill>
                          <a:latin typeface="Times New Roman"/>
                        </a:rPr>
                        <a:t/>
                      </a:r>
                    </a:p>
                  </a:txBody>
                  <a:tcPr marL="54864" marR="54864" marT="22860" marB="22860" anchor="ctr">
                    <a:solidFill>
                      <a:srgbClr val="E8EEF5"/>
                    </a:solidFill>
                  </a:tcPr>
                </a:tc>
                <a:tc>
                  <a:txBody>
                    <a:bodyPr/>
                    <a:lstStyle/>
                    <a:p>
                      <a:r>
                        <a:rPr sz="1150" b="1">
                          <a:solidFill>
                            <a:srgbClr val="1A1A1A"/>
                          </a:solidFill>
                          <a:latin typeface="Times New Roman"/>
                        </a:rPr>
                        <a:t>45</a:t>
                      </a:r>
                    </a:p>
                  </a:txBody>
                  <a:tcPr marL="54864" marR="54864" marT="22860" marB="22860" anchor="ctr">
                    <a:solidFill>
                      <a:srgbClr val="E8EEF5"/>
                    </a:solidFill>
                  </a:tcPr>
                </a:tc>
                <a:tc>
                  <a:txBody>
                    <a:bodyPr/>
                    <a:lstStyle/>
                    <a:p>
                      <a:r>
                        <a:rPr sz="1150" b="1">
                          <a:solidFill>
                            <a:srgbClr val="1A1A1A"/>
                          </a:solidFill>
                          <a:latin typeface="Times New Roman"/>
                        </a:rPr>
                        <a:t>13,914</a:t>
                      </a:r>
                    </a:p>
                  </a:txBody>
                  <a:tcPr marL="54864" marR="54864" marT="22860" marB="22860" anchor="ctr">
                    <a:solidFill>
                      <a:srgbClr val="E8EEF5"/>
                    </a:solidFill>
                  </a:tcPr>
                </a:tc>
                <a:tc>
                  <a:txBody>
                    <a:bodyPr/>
                    <a:lstStyle/>
                    <a:p>
                      <a:r>
                        <a:rPr sz="1150" b="0">
                          <a:solidFill>
                            <a:srgbClr val="1A1A1A"/>
                          </a:solidFill>
                          <a:latin typeface="Times New Roman"/>
                        </a:rPr>
                        <a:t/>
                      </a:r>
                    </a:p>
                  </a:txBody>
                  <a:tcPr marL="54864" marR="54864" marT="22860" marB="22860" anchor="ctr">
                    <a:solidFill>
                      <a:srgbClr val="E8EEF5"/>
                    </a:solidFill>
                  </a:tcPr>
                </a:tc>
              </a:tr>
            </a:tbl>
          </a:graphicData>
        </a:graphic>
      </p:graphicFrame>
      <p:sp>
        <p:nvSpPr>
          <p:cNvPr id="6" name="TextBox 5"/>
          <p:cNvSpPr txBox="1"/>
          <p:nvPr/>
        </p:nvSpPr>
        <p:spPr>
          <a:xfrm>
            <a:off x="566928" y="5852160"/>
            <a:ext cx="8101583" cy="502920"/>
          </a:xfrm>
          <a:prstGeom prst="rect">
            <a:avLst/>
          </a:prstGeom>
          <a:noFill/>
        </p:spPr>
        <p:txBody>
          <a:bodyPr wrap="square">
            <a:spAutoFit/>
          </a:bodyPr>
          <a:lstStyle/>
          <a:p>
            <a:r>
              <a:rPr sz="1200" i="1" b="1">
                <a:solidFill>
                  <a:srgbClr val="8A6D12"/>
                </a:solidFill>
                <a:latin typeface="Times New Roman"/>
              </a:rPr>
              <a:t>Zero lines of Person 1 and Person 2 source were modified during integration — verified byte-for-byte.</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Backend Implementation — API Surface</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IMPLEMENTATION</a:t>
            </a:r>
          </a:p>
        </p:txBody>
      </p:sp>
      <p:graphicFrame>
        <p:nvGraphicFramePr>
          <p:cNvPr id="5" name="Table 4"/>
          <p:cNvGraphicFramePr>
            <a:graphicFrameLocks noGrp="1"/>
          </p:cNvGraphicFramePr>
          <p:nvPr/>
        </p:nvGraphicFramePr>
        <p:xfrm>
          <a:off x="566928" y="1975104"/>
          <a:ext cx="7955280" cy="4023360"/>
        </p:xfrm>
        <a:graphic>
          <a:graphicData uri="http://schemas.openxmlformats.org/drawingml/2006/table">
            <a:tbl>
              <a:tblPr firstRow="1" bandRow="1">
                <a:tableStyleId>{5C22544A-7EE6-4342-B048-85BDC9FD1C3A}</a:tableStyleId>
              </a:tblPr>
              <a:tblGrid>
                <a:gridCol w="777240"/>
                <a:gridCol w="1417320"/>
                <a:gridCol w="5760720"/>
              </a:tblGrid>
              <a:tr h="502920">
                <a:tc>
                  <a:txBody>
                    <a:bodyPr/>
                    <a:lstStyle/>
                    <a:p>
                      <a:r>
                        <a:rPr sz="1250" b="1">
                          <a:solidFill>
                            <a:srgbClr val="FFFFFF"/>
                          </a:solidFill>
                          <a:latin typeface="Times New Roman"/>
                        </a:rPr>
                        <a:t>Method</a:t>
                      </a:r>
                    </a:p>
                  </a:txBody>
                  <a:tcPr marL="54864" marR="54864" marT="27432" marB="27432" anchor="ctr">
                    <a:solidFill>
                      <a:srgbClr val="1B3A5C"/>
                    </a:solidFill>
                  </a:tcPr>
                </a:tc>
                <a:tc>
                  <a:txBody>
                    <a:bodyPr/>
                    <a:lstStyle/>
                    <a:p>
                      <a:r>
                        <a:rPr sz="1250" b="1">
                          <a:solidFill>
                            <a:srgbClr val="FFFFFF"/>
                          </a:solidFill>
                          <a:latin typeface="Times New Roman"/>
                        </a:rPr>
                        <a:t>Endpoint</a:t>
                      </a:r>
                    </a:p>
                  </a:txBody>
                  <a:tcPr marL="54864" marR="54864" marT="27432" marB="27432" anchor="ctr">
                    <a:solidFill>
                      <a:srgbClr val="1B3A5C"/>
                    </a:solidFill>
                  </a:tcPr>
                </a:tc>
                <a:tc>
                  <a:txBody>
                    <a:bodyPr/>
                    <a:lstStyle/>
                    <a:p>
                      <a:r>
                        <a:rPr sz="1250" b="1">
                          <a:solidFill>
                            <a:srgbClr val="FFFFFF"/>
                          </a:solidFill>
                          <a:latin typeface="Times New Roman"/>
                        </a:rPr>
                        <a:t>Purpose</a:t>
                      </a:r>
                    </a:p>
                  </a:txBody>
                  <a:tcPr marL="54864" marR="54864" marT="27432" marB="27432" anchor="ctr">
                    <a:solidFill>
                      <a:srgbClr val="1B3A5C"/>
                    </a:solidFill>
                  </a:tcPr>
                </a:tc>
              </a:tr>
              <a:tr h="502920">
                <a:tc>
                  <a:txBody>
                    <a:bodyPr/>
                    <a:lstStyle/>
                    <a:p>
                      <a:r>
                        <a:rPr sz="1150" b="0">
                          <a:solidFill>
                            <a:srgbClr val="1A1A1A"/>
                          </a:solidFill>
                          <a:latin typeface="Times New Roman"/>
                        </a:rPr>
                        <a:t>GET</a:t>
                      </a:r>
                    </a:p>
                  </a:txBody>
                  <a:tcPr marL="54864" marR="54864" marT="22860" marB="22860" anchor="ctr">
                    <a:solidFill>
                      <a:srgbClr val="E8EEF5"/>
                    </a:solidFill>
                  </a:tcPr>
                </a:tc>
                <a:tc>
                  <a:txBody>
                    <a:bodyPr/>
                    <a:lstStyle/>
                    <a:p>
                      <a:r>
                        <a:rPr sz="1150" b="0">
                          <a:solidFill>
                            <a:srgbClr val="1A1A1A"/>
                          </a:solidFill>
                          <a:latin typeface="Times New Roman"/>
                        </a:rPr>
                        <a:t>/</a:t>
                      </a:r>
                    </a:p>
                  </a:txBody>
                  <a:tcPr marL="54864" marR="54864" marT="22860" marB="22860" anchor="ctr">
                    <a:solidFill>
                      <a:srgbClr val="E8EEF5"/>
                    </a:solidFill>
                  </a:tcPr>
                </a:tc>
                <a:tc>
                  <a:txBody>
                    <a:bodyPr/>
                    <a:lstStyle/>
                    <a:p>
                      <a:r>
                        <a:rPr sz="1150" b="0">
                          <a:solidFill>
                            <a:srgbClr val="1A1A1A"/>
                          </a:solidFill>
                          <a:latin typeface="Times New Roman"/>
                        </a:rPr>
                        <a:t>Service identity and version</a:t>
                      </a:r>
                    </a:p>
                  </a:txBody>
                  <a:tcPr marL="54864" marR="54864" marT="22860" marB="22860" anchor="ctr">
                    <a:solidFill>
                      <a:srgbClr val="E8EEF5"/>
                    </a:solidFill>
                  </a:tcPr>
                </a:tc>
              </a:tr>
              <a:tr h="502920">
                <a:tc>
                  <a:txBody>
                    <a:bodyPr/>
                    <a:lstStyle/>
                    <a:p>
                      <a:r>
                        <a:rPr sz="1150" b="0">
                          <a:solidFill>
                            <a:srgbClr val="1A1A1A"/>
                          </a:solidFill>
                          <a:latin typeface="Times New Roman"/>
                        </a:rPr>
                        <a:t>GET</a:t>
                      </a:r>
                    </a:p>
                  </a:txBody>
                  <a:tcPr marL="54864" marR="54864" marT="22860" marB="22860" anchor="ctr">
                    <a:solidFill>
                      <a:srgbClr val="FFFFFF"/>
                    </a:solidFill>
                  </a:tcPr>
                </a:tc>
                <a:tc>
                  <a:txBody>
                    <a:bodyPr/>
                    <a:lstStyle/>
                    <a:p>
                      <a:r>
                        <a:rPr sz="1150" b="0">
                          <a:solidFill>
                            <a:srgbClr val="1A1A1A"/>
                          </a:solidFill>
                          <a:latin typeface="Times New Roman"/>
                        </a:rPr>
                        <a:t>/health</a:t>
                      </a:r>
                    </a:p>
                  </a:txBody>
                  <a:tcPr marL="54864" marR="54864" marT="22860" marB="22860" anchor="ctr">
                    <a:solidFill>
                      <a:srgbClr val="FFFFFF"/>
                    </a:solidFill>
                  </a:tcPr>
                </a:tc>
                <a:tc>
                  <a:txBody>
                    <a:bodyPr/>
                    <a:lstStyle/>
                    <a:p>
                      <a:r>
                        <a:rPr sz="1150" b="0">
                          <a:solidFill>
                            <a:srgbClr val="1A1A1A"/>
                          </a:solidFill>
                          <a:latin typeface="Times New Roman"/>
                        </a:rPr>
                        <a:t>Provider reachability, model name, record count, masked credentials</a:t>
                      </a:r>
                    </a:p>
                  </a:txBody>
                  <a:tcPr marL="54864" marR="54864" marT="22860" marB="22860" anchor="ctr">
                    <a:solidFill>
                      <a:srgbClr val="FFFFFF"/>
                    </a:solidFill>
                  </a:tcPr>
                </a:tc>
              </a:tr>
              <a:tr h="502920">
                <a:tc>
                  <a:txBody>
                    <a:bodyPr/>
                    <a:lstStyle/>
                    <a:p>
                      <a:r>
                        <a:rPr sz="1150" b="0">
                          <a:solidFill>
                            <a:srgbClr val="1A1A1A"/>
                          </a:solidFill>
                          <a:latin typeface="Times New Roman"/>
                        </a:rPr>
                        <a:t>GET</a:t>
                      </a:r>
                    </a:p>
                  </a:txBody>
                  <a:tcPr marL="54864" marR="54864" marT="22860" marB="22860" anchor="ctr">
                    <a:solidFill>
                      <a:srgbClr val="E8EEF5"/>
                    </a:solidFill>
                  </a:tcPr>
                </a:tc>
                <a:tc>
                  <a:txBody>
                    <a:bodyPr/>
                    <a:lstStyle/>
                    <a:p>
                      <a:r>
                        <a:rPr sz="1150" b="0">
                          <a:solidFill>
                            <a:srgbClr val="1A1A1A"/>
                          </a:solidFill>
                          <a:latin typeface="Times New Roman"/>
                        </a:rPr>
                        <a:t>/statistics</a:t>
                      </a:r>
                    </a:p>
                  </a:txBody>
                  <a:tcPr marL="54864" marR="54864" marT="22860" marB="22860" anchor="ctr">
                    <a:solidFill>
                      <a:srgbClr val="E8EEF5"/>
                    </a:solidFill>
                  </a:tcPr>
                </a:tc>
                <a:tc>
                  <a:txBody>
                    <a:bodyPr/>
                    <a:lstStyle/>
                    <a:p>
                      <a:r>
                        <a:rPr sz="1150" b="0">
                          <a:solidFill>
                            <a:srgbClr val="1A1A1A"/>
                          </a:solidFill>
                          <a:latin typeface="Times New Roman"/>
                        </a:rPr>
                        <a:t>Aggregate risk, sentiment and emotion counts for the dashboard</a:t>
                      </a:r>
                    </a:p>
                  </a:txBody>
                  <a:tcPr marL="54864" marR="54864" marT="22860" marB="22860" anchor="ctr">
                    <a:solidFill>
                      <a:srgbClr val="E8EEF5"/>
                    </a:solidFill>
                  </a:tcPr>
                </a:tc>
              </a:tr>
              <a:tr h="502920">
                <a:tc>
                  <a:txBody>
                    <a:bodyPr/>
                    <a:lstStyle/>
                    <a:p>
                      <a:r>
                        <a:rPr sz="1150" b="0">
                          <a:solidFill>
                            <a:srgbClr val="1A1A1A"/>
                          </a:solidFill>
                          <a:latin typeface="Times New Roman"/>
                        </a:rPr>
                        <a:t>POST</a:t>
                      </a:r>
                    </a:p>
                  </a:txBody>
                  <a:tcPr marL="54864" marR="54864" marT="22860" marB="22860" anchor="ctr">
                    <a:solidFill>
                      <a:srgbClr val="FFFFFF"/>
                    </a:solidFill>
                  </a:tcPr>
                </a:tc>
                <a:tc>
                  <a:txBody>
                    <a:bodyPr/>
                    <a:lstStyle/>
                    <a:p>
                      <a:r>
                        <a:rPr sz="1150" b="0">
                          <a:solidFill>
                            <a:srgbClr val="1A1A1A"/>
                          </a:solidFill>
                          <a:latin typeface="Times New Roman"/>
                        </a:rPr>
                        <a:t>/query</a:t>
                      </a:r>
                    </a:p>
                  </a:txBody>
                  <a:tcPr marL="54864" marR="54864" marT="22860" marB="22860" anchor="ctr">
                    <a:solidFill>
                      <a:srgbClr val="FFFFFF"/>
                    </a:solidFill>
                  </a:tcPr>
                </a:tc>
                <a:tc>
                  <a:txBody>
                    <a:bodyPr/>
                    <a:lstStyle/>
                    <a:p>
                      <a:r>
                        <a:rPr sz="1150" b="0">
                          <a:solidFill>
                            <a:srgbClr val="1A1A1A"/>
                          </a:solidFill>
                          <a:latin typeface="Times New Roman"/>
                        </a:rPr>
                        <a:t>Natural-language question → grounded answer + the records used</a:t>
                      </a:r>
                    </a:p>
                  </a:txBody>
                  <a:tcPr marL="54864" marR="54864" marT="22860" marB="22860" anchor="ctr">
                    <a:solidFill>
                      <a:srgbClr val="FFFFFF"/>
                    </a:solidFill>
                  </a:tcPr>
                </a:tc>
              </a:tr>
              <a:tr h="502920">
                <a:tc>
                  <a:txBody>
                    <a:bodyPr/>
                    <a:lstStyle/>
                    <a:p>
                      <a:r>
                        <a:rPr sz="1150" b="0">
                          <a:solidFill>
                            <a:srgbClr val="1A1A1A"/>
                          </a:solidFill>
                          <a:latin typeface="Times New Roman"/>
                        </a:rPr>
                        <a:t>POST</a:t>
                      </a:r>
                    </a:p>
                  </a:txBody>
                  <a:tcPr marL="54864" marR="54864" marT="22860" marB="22860" anchor="ctr">
                    <a:solidFill>
                      <a:srgbClr val="E8EEF5"/>
                    </a:solidFill>
                  </a:tcPr>
                </a:tc>
                <a:tc>
                  <a:txBody>
                    <a:bodyPr/>
                    <a:lstStyle/>
                    <a:p>
                      <a:r>
                        <a:rPr sz="1150" b="0">
                          <a:solidFill>
                            <a:srgbClr val="1A1A1A"/>
                          </a:solidFill>
                          <a:latin typeface="Times New Roman"/>
                        </a:rPr>
                        <a:t>/report</a:t>
                      </a:r>
                    </a:p>
                  </a:txBody>
                  <a:tcPr marL="54864" marR="54864" marT="22860" marB="22860" anchor="ctr">
                    <a:solidFill>
                      <a:srgbClr val="E8EEF5"/>
                    </a:solidFill>
                  </a:tcPr>
                </a:tc>
                <a:tc>
                  <a:txBody>
                    <a:bodyPr/>
                    <a:lstStyle/>
                    <a:p>
                      <a:r>
                        <a:rPr sz="1150" b="0">
                          <a:solidFill>
                            <a:srgbClr val="1A1A1A"/>
                          </a:solidFill>
                          <a:latin typeface="Times New Roman"/>
                        </a:rPr>
                        <a:t>Full 8-section burnout analysis for one employee or the organisation</a:t>
                      </a:r>
                    </a:p>
                  </a:txBody>
                  <a:tcPr marL="54864" marR="54864" marT="22860" marB="22860" anchor="ctr">
                    <a:solidFill>
                      <a:srgbClr val="E8EEF5"/>
                    </a:solidFill>
                  </a:tcPr>
                </a:tc>
              </a:tr>
              <a:tr h="502920">
                <a:tc>
                  <a:txBody>
                    <a:bodyPr/>
                    <a:lstStyle/>
                    <a:p>
                      <a:r>
                        <a:rPr sz="1150" b="0">
                          <a:solidFill>
                            <a:srgbClr val="1A1A1A"/>
                          </a:solidFill>
                          <a:latin typeface="Times New Roman"/>
                        </a:rPr>
                        <a:t>POST</a:t>
                      </a:r>
                    </a:p>
                  </a:txBody>
                  <a:tcPr marL="54864" marR="54864" marT="22860" marB="22860" anchor="ctr">
                    <a:solidFill>
                      <a:srgbClr val="FFFFFF"/>
                    </a:solidFill>
                  </a:tcPr>
                </a:tc>
                <a:tc>
                  <a:txBody>
                    <a:bodyPr/>
                    <a:lstStyle/>
                    <a:p>
                      <a:r>
                        <a:rPr sz="1150" b="0">
                          <a:solidFill>
                            <a:srgbClr val="1A1A1A"/>
                          </a:solidFill>
                          <a:latin typeface="Times New Roman"/>
                        </a:rPr>
                        <a:t>/refresh</a:t>
                      </a:r>
                    </a:p>
                  </a:txBody>
                  <a:tcPr marL="54864" marR="54864" marT="22860" marB="22860" anchor="ctr">
                    <a:solidFill>
                      <a:srgbClr val="FFFFFF"/>
                    </a:solidFill>
                  </a:tcPr>
                </a:tc>
                <a:tc>
                  <a:txBody>
                    <a:bodyPr/>
                    <a:lstStyle/>
                    <a:p>
                      <a:r>
                        <a:rPr sz="1150" b="0">
                          <a:solidFill>
                            <a:srgbClr val="1A1A1A"/>
                          </a:solidFill>
                          <a:latin typeface="Times New Roman"/>
                        </a:rPr>
                        <a:t>Rebuild the vector index after the ML pipeline re-runs</a:t>
                      </a:r>
                    </a:p>
                  </a:txBody>
                  <a:tcPr marL="54864" marR="54864" marT="22860" marB="22860" anchor="ctr">
                    <a:solidFill>
                      <a:srgbClr val="FFFFFF"/>
                    </a:solidFill>
                  </a:tcPr>
                </a:tc>
              </a:tr>
              <a:tr h="502920">
                <a:tc>
                  <a:txBody>
                    <a:bodyPr/>
                    <a:lstStyle/>
                    <a:p>
                      <a:r>
                        <a:rPr sz="1150" b="0">
                          <a:solidFill>
                            <a:srgbClr val="1A1A1A"/>
                          </a:solidFill>
                          <a:latin typeface="Times New Roman"/>
                        </a:rPr>
                        <a:t>POST</a:t>
                      </a:r>
                    </a:p>
                  </a:txBody>
                  <a:tcPr marL="54864" marR="54864" marT="22860" marB="22860" anchor="ctr">
                    <a:solidFill>
                      <a:srgbClr val="E8EEF5"/>
                    </a:solidFill>
                  </a:tcPr>
                </a:tc>
                <a:tc>
                  <a:txBody>
                    <a:bodyPr/>
                    <a:lstStyle/>
                    <a:p>
                      <a:r>
                        <a:rPr sz="1150" b="0">
                          <a:solidFill>
                            <a:srgbClr val="1A1A1A"/>
                          </a:solidFill>
                          <a:latin typeface="Times New Roman"/>
                        </a:rPr>
                        <a:t>/ingest</a:t>
                      </a:r>
                    </a:p>
                  </a:txBody>
                  <a:tcPr marL="54864" marR="54864" marT="22860" marB="22860" anchor="ctr">
                    <a:solidFill>
                      <a:srgbClr val="E8EEF5"/>
                    </a:solidFill>
                  </a:tcPr>
                </a:tc>
                <a:tc>
                  <a:txBody>
                    <a:bodyPr/>
                    <a:lstStyle/>
                    <a:p>
                      <a:r>
                        <a:rPr sz="1150" b="0">
                          <a:solidFill>
                            <a:srgbClr val="1A1A1A"/>
                          </a:solidFill>
                          <a:latin typeface="Times New Roman"/>
                        </a:rPr>
                        <a:t>Upload a PDF or a screenshot — OCR, split, score, index</a:t>
                      </a:r>
                    </a:p>
                  </a:txBody>
                  <a:tcPr marL="54864" marR="54864" marT="22860" marB="22860" anchor="ctr">
                    <a:solidFill>
                      <a:srgbClr val="E8EEF5"/>
                    </a:solidFill>
                  </a:tcPr>
                </a:tc>
              </a:tr>
            </a:tbl>
          </a:graphicData>
        </a:graphic>
      </p:graphicFrame>
      <p:sp>
        <p:nvSpPr>
          <p:cNvPr id="6" name="TextBox 5"/>
          <p:cNvSpPr txBox="1"/>
          <p:nvPr/>
        </p:nvSpPr>
        <p:spPr>
          <a:xfrm>
            <a:off x="566928" y="6080760"/>
            <a:ext cx="8101583" cy="502920"/>
          </a:xfrm>
          <a:prstGeom prst="rect">
            <a:avLst/>
          </a:prstGeom>
          <a:noFill/>
        </p:spPr>
        <p:txBody>
          <a:bodyPr wrap="square">
            <a:spAutoFit/>
          </a:bodyPr>
          <a:lstStyle/>
          <a:p>
            <a:r>
              <a:rPr sz="1200" i="1" b="1">
                <a:solidFill>
                  <a:srgbClr val="8A6D12"/>
                </a:solidFill>
                <a:latin typeface="Times New Roman"/>
              </a:rPr>
              <a:t>Provider-agnostic: OpenAI, Google Gemini and local Llama via Ollama are all supported by changing one line in .env.</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Dashboard Implementation</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IMPLEMENTATION</a:t>
            </a:r>
          </a:p>
        </p:txBody>
      </p:sp>
      <p:sp>
        <p:nvSpPr>
          <p:cNvPr id="5" name="TextBox 4"/>
          <p:cNvSpPr txBox="1"/>
          <p:nvPr/>
        </p:nvSpPr>
        <p:spPr>
          <a:xfrm>
            <a:off x="566928" y="1938528"/>
            <a:ext cx="8101583" cy="4389120"/>
          </a:xfrm>
          <a:prstGeom prst="rect">
            <a:avLst/>
          </a:prstGeom>
          <a:noFill/>
        </p:spPr>
        <p:txBody>
          <a:bodyPr wrap="square">
            <a:spAutoFit/>
          </a:bodyPr>
          <a:lstStyle/>
          <a:p>
            <a:pPr>
              <a:spcBef>
                <a:spcPts val="200"/>
              </a:spcBef>
              <a:spcAft>
                <a:spcPts val="700"/>
              </a:spcAft>
            </a:pPr>
            <a:r>
              <a:rPr sz="1500" b="1">
                <a:solidFill>
                  <a:srgbClr val="1A1A1A"/>
                </a:solidFill>
                <a:latin typeface="Times New Roman"/>
              </a:rPr>
              <a:t>▪  Explainable Employee Burnout Detection using AI + RAG — Streamlit and Plotly, light and dark themes.</a:t>
            </a:r>
          </a:p>
          <a:p>
            <a:pPr lvl="1">
              <a:spcBef>
                <a:spcPts val="0"/>
              </a:spcBef>
              <a:spcAft>
                <a:spcPts val="700"/>
              </a:spcAft>
            </a:pPr>
            <a:r>
              <a:rPr sz="1370" b="0">
                <a:solidFill>
                  <a:srgbClr val="555F6B"/>
                </a:solidFill>
                <a:latin typeface="Times New Roman"/>
              </a:rPr>
              <a:t>     –  Overall burnout gauge, risk distribution, sentiment breakdown, emotion profile, score histogram, burnout-versus-sentiment scatter, and a ranked high-risk table.</a:t>
            </a:r>
          </a:p>
          <a:p>
            <a:pPr lvl="1">
              <a:spcBef>
                <a:spcPts val="0"/>
              </a:spcBef>
              <a:spcAft>
                <a:spcPts val="700"/>
              </a:spcAft>
            </a:pPr>
            <a:r>
              <a:rPr sz="1370" b="0">
                <a:solidFill>
                  <a:srgbClr val="555F6B"/>
                </a:solidFill>
                <a:latin typeface="Times New Roman"/>
              </a:rPr>
              <a:t>     –  Free-text search and risk filtering across every record.</a:t>
            </a:r>
          </a:p>
          <a:p>
            <a:pPr>
              <a:spcBef>
                <a:spcPts val="200"/>
              </a:spcBef>
              <a:spcAft>
                <a:spcPts val="700"/>
              </a:spcAft>
            </a:pPr>
            <a:r>
              <a:rPr sz="1500" b="1">
                <a:solidFill>
                  <a:srgbClr val="1A1A1A"/>
                </a:solidFill>
                <a:latin typeface="Times New Roman"/>
              </a:rPr>
              <a:t>▪  Explainability panel — the feature that answers the problem statement</a:t>
            </a:r>
          </a:p>
          <a:p>
            <a:pPr lvl="1">
              <a:spcBef>
                <a:spcPts val="0"/>
              </a:spcBef>
              <a:spcAft>
                <a:spcPts val="700"/>
              </a:spcAft>
            </a:pPr>
            <a:r>
              <a:rPr sz="1370" b="0">
                <a:solidFill>
                  <a:srgbClr val="555F6B"/>
                </a:solidFill>
                <a:latin typeface="Times New Roman"/>
              </a:rPr>
              <a:t>     –  Every generated answer is displayed together with the exact records it was grounded in, so a reader can check the reasoning rather than trust it.</a:t>
            </a:r>
          </a:p>
          <a:p>
            <a:pPr>
              <a:spcBef>
                <a:spcPts val="200"/>
              </a:spcBef>
              <a:spcAft>
                <a:spcPts val="700"/>
              </a:spcAft>
            </a:pPr>
            <a:r>
              <a:rPr sz="1500" b="1">
                <a:solidFill>
                  <a:srgbClr val="1A1A1A"/>
                </a:solidFill>
                <a:latin typeface="Times New Roman"/>
              </a:rPr>
              <a:t>▪  Document upload</a:t>
            </a:r>
          </a:p>
          <a:p>
            <a:pPr lvl="1">
              <a:spcBef>
                <a:spcPts val="0"/>
              </a:spcBef>
              <a:spcAft>
                <a:spcPts val="700"/>
              </a:spcAft>
            </a:pPr>
            <a:r>
              <a:rPr sz="1370" b="0">
                <a:solidFill>
                  <a:srgbClr val="555F6B"/>
                </a:solidFill>
                <a:latin typeface="Times New Roman"/>
              </a:rPr>
              <a:t>     –  Drop in a PDF or a screenshot of a conversation; the record appears in the charts and becomes searchable within seconds.</a:t>
            </a:r>
          </a:p>
          <a:p>
            <a:pPr>
              <a:spcBef>
                <a:spcPts val="200"/>
              </a:spcBef>
              <a:spcAft>
                <a:spcPts val="700"/>
              </a:spcAft>
            </a:pPr>
            <a:r>
              <a:rPr sz="1500" b="1">
                <a:solidFill>
                  <a:srgbClr val="1A1A1A"/>
                </a:solidFill>
                <a:latin typeface="Times New Roman"/>
              </a:rPr>
              <a:t>▪  PDF export via ReportLab</a:t>
            </a:r>
          </a:p>
          <a:p>
            <a:pPr lvl="1">
              <a:spcBef>
                <a:spcPts val="0"/>
              </a:spcBef>
              <a:spcAft>
                <a:spcPts val="700"/>
              </a:spcAft>
            </a:pPr>
            <a:r>
              <a:rPr sz="1370" b="0">
                <a:solidFill>
                  <a:srgbClr val="555F6B"/>
                </a:solidFill>
                <a:latin typeface="Times New Roman"/>
              </a:rPr>
              <a:t>     –  All 8 sections, with the confidence note placed before the recommendations.</a:t>
            </a:r>
          </a:p>
        </p:txBody>
      </p:sp>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Results I — Pipeline Output and Verification</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RESULTS</a:t>
            </a:r>
          </a:p>
        </p:txBody>
      </p:sp>
      <p:graphicFrame>
        <p:nvGraphicFramePr>
          <p:cNvPr id="5" name="Table 4"/>
          <p:cNvGraphicFramePr>
            <a:graphicFrameLocks noGrp="1"/>
          </p:cNvGraphicFramePr>
          <p:nvPr/>
        </p:nvGraphicFramePr>
        <p:xfrm>
          <a:off x="566928" y="1975104"/>
          <a:ext cx="8046720" cy="4352544"/>
        </p:xfrm>
        <a:graphic>
          <a:graphicData uri="http://schemas.openxmlformats.org/drawingml/2006/table">
            <a:tbl>
              <a:tblPr firstRow="1" bandRow="1">
                <a:tableStyleId>{5C22544A-7EE6-4342-B048-85BDC9FD1C3A}</a:tableStyleId>
              </a:tblPr>
              <a:tblGrid>
                <a:gridCol w="2880360"/>
                <a:gridCol w="5166360"/>
              </a:tblGrid>
              <a:tr h="621792">
                <a:tc>
                  <a:txBody>
                    <a:bodyPr/>
                    <a:lstStyle/>
                    <a:p>
                      <a:r>
                        <a:rPr sz="1250" b="1">
                          <a:solidFill>
                            <a:srgbClr val="FFFFFF"/>
                          </a:solidFill>
                          <a:latin typeface="Times New Roman"/>
                        </a:rPr>
                        <a:t>What we measured</a:t>
                      </a:r>
                    </a:p>
                  </a:txBody>
                  <a:tcPr marL="54864" marR="54864" marT="27432" marB="27432" anchor="ctr">
                    <a:solidFill>
                      <a:srgbClr val="1B3A5C"/>
                    </a:solidFill>
                  </a:tcPr>
                </a:tc>
                <a:tc>
                  <a:txBody>
                    <a:bodyPr/>
                    <a:lstStyle/>
                    <a:p>
                      <a:r>
                        <a:rPr sz="1250" b="1">
                          <a:solidFill>
                            <a:srgbClr val="FFFFFF"/>
                          </a:solidFill>
                          <a:latin typeface="Times New Roman"/>
                        </a:rPr>
                        <a:t>Result</a:t>
                      </a:r>
                    </a:p>
                  </a:txBody>
                  <a:tcPr marL="54864" marR="54864" marT="27432" marB="27432" anchor="ctr">
                    <a:solidFill>
                      <a:srgbClr val="1B3A5C"/>
                    </a:solidFill>
                  </a:tcPr>
                </a:tc>
              </a:tr>
              <a:tr h="621792">
                <a:tc>
                  <a:txBody>
                    <a:bodyPr/>
                    <a:lstStyle/>
                    <a:p>
                      <a:r>
                        <a:rPr sz="1150" b="0">
                          <a:solidFill>
                            <a:srgbClr val="1A1A1A"/>
                          </a:solidFill>
                          <a:latin typeface="Times New Roman"/>
                        </a:rPr>
                        <a:t>Records processed end to end</a:t>
                      </a:r>
                    </a:p>
                  </a:txBody>
                  <a:tcPr marL="54864" marR="54864" marT="22860" marB="22860" anchor="ctr">
                    <a:solidFill>
                      <a:srgbClr val="E8EEF5"/>
                    </a:solidFill>
                  </a:tcPr>
                </a:tc>
                <a:tc>
                  <a:txBody>
                    <a:bodyPr/>
                    <a:lstStyle/>
                    <a:p>
                      <a:r>
                        <a:rPr sz="1150" b="0">
                          <a:solidFill>
                            <a:srgbClr val="1A1A1A"/>
                          </a:solidFill>
                          <a:latin typeface="Times New Roman"/>
                        </a:rPr>
                        <a:t>3 corpora unified — 517,401 emails, 22,750 survey rows, 2,000 stress records</a:t>
                      </a:r>
                    </a:p>
                  </a:txBody>
                  <a:tcPr marL="54864" marR="54864" marT="22860" marB="22860" anchor="ctr">
                    <a:solidFill>
                      <a:srgbClr val="E8EEF5"/>
                    </a:solidFill>
                  </a:tcPr>
                </a:tc>
              </a:tr>
              <a:tr h="621792">
                <a:tc>
                  <a:txBody>
                    <a:bodyPr/>
                    <a:lstStyle/>
                    <a:p>
                      <a:r>
                        <a:rPr sz="1150" b="0">
                          <a:solidFill>
                            <a:srgbClr val="1A1A1A"/>
                          </a:solidFill>
                          <a:latin typeface="Times New Roman"/>
                        </a:rPr>
                        <a:t>Burnout score output</a:t>
                      </a:r>
                    </a:p>
                  </a:txBody>
                  <a:tcPr marL="54864" marR="54864" marT="22860" marB="22860" anchor="ctr">
                    <a:solidFill>
                      <a:srgbClr val="FFFFFF"/>
                    </a:solidFill>
                  </a:tcPr>
                </a:tc>
                <a:tc>
                  <a:txBody>
                    <a:bodyPr/>
                    <a:lstStyle/>
                    <a:p>
                      <a:r>
                        <a:rPr sz="1150" b="0">
                          <a:solidFill>
                            <a:srgbClr val="1A1A1A"/>
                          </a:solidFill>
                          <a:latin typeface="Times New Roman"/>
                        </a:rPr>
                        <a:t>20-column table: score, risk band, sentiment, confidence, 8 emotions, 7 behaviour features, reason</a:t>
                      </a:r>
                    </a:p>
                  </a:txBody>
                  <a:tcPr marL="54864" marR="54864" marT="22860" marB="22860" anchor="ctr">
                    <a:solidFill>
                      <a:srgbClr val="FFFFFF"/>
                    </a:solidFill>
                  </a:tcPr>
                </a:tc>
              </a:tr>
              <a:tr h="621792">
                <a:tc>
                  <a:txBody>
                    <a:bodyPr/>
                    <a:lstStyle/>
                    <a:p>
                      <a:r>
                        <a:rPr sz="1150" b="0">
                          <a:solidFill>
                            <a:srgbClr val="1A1A1A"/>
                          </a:solidFill>
                          <a:latin typeface="Times New Roman"/>
                        </a:rPr>
                        <a:t>Explainability coverage</a:t>
                      </a:r>
                    </a:p>
                  </a:txBody>
                  <a:tcPr marL="54864" marR="54864" marT="22860" marB="22860" anchor="ctr">
                    <a:solidFill>
                      <a:srgbClr val="E8EEF5"/>
                    </a:solidFill>
                  </a:tcPr>
                </a:tc>
                <a:tc>
                  <a:txBody>
                    <a:bodyPr/>
                    <a:lstStyle/>
                    <a:p>
                      <a:r>
                        <a:rPr sz="1150" b="0">
                          <a:solidFill>
                            <a:srgbClr val="1A1A1A"/>
                          </a:solidFill>
                          <a:latin typeface="Times New Roman"/>
                        </a:rPr>
                        <a:t>100% — every record carries a human-readable reason for its score</a:t>
                      </a:r>
                    </a:p>
                  </a:txBody>
                  <a:tcPr marL="54864" marR="54864" marT="22860" marB="22860" anchor="ctr">
                    <a:solidFill>
                      <a:srgbClr val="E8EEF5"/>
                    </a:solidFill>
                  </a:tcPr>
                </a:tc>
              </a:tr>
              <a:tr h="621792">
                <a:tc>
                  <a:txBody>
                    <a:bodyPr/>
                    <a:lstStyle/>
                    <a:p>
                      <a:r>
                        <a:rPr sz="1150" b="0">
                          <a:solidFill>
                            <a:srgbClr val="1A1A1A"/>
                          </a:solidFill>
                          <a:latin typeface="Times New Roman"/>
                        </a:rPr>
                        <a:t>Automated tests</a:t>
                      </a:r>
                    </a:p>
                  </a:txBody>
                  <a:tcPr marL="54864" marR="54864" marT="22860" marB="22860" anchor="ctr">
                    <a:solidFill>
                      <a:srgbClr val="FFFFFF"/>
                    </a:solidFill>
                  </a:tcPr>
                </a:tc>
                <a:tc>
                  <a:txBody>
                    <a:bodyPr/>
                    <a:lstStyle/>
                    <a:p>
                      <a:r>
                        <a:rPr sz="1150" b="0">
                          <a:solidFill>
                            <a:srgbClr val="1A1A1A"/>
                          </a:solidFill>
                          <a:latin typeface="Times New Roman"/>
                        </a:rPr>
                        <a:t>151 passing across data loading, schemas, retrieval, vector store, API and ingestion</a:t>
                      </a:r>
                    </a:p>
                  </a:txBody>
                  <a:tcPr marL="54864" marR="54864" marT="22860" marB="22860" anchor="ctr">
                    <a:solidFill>
                      <a:srgbClr val="FFFFFF"/>
                    </a:solidFill>
                  </a:tcPr>
                </a:tc>
              </a:tr>
              <a:tr h="621792">
                <a:tc>
                  <a:txBody>
                    <a:bodyPr/>
                    <a:lstStyle/>
                    <a:p>
                      <a:r>
                        <a:rPr sz="1150" b="0">
                          <a:solidFill>
                            <a:srgbClr val="1A1A1A"/>
                          </a:solidFill>
                          <a:latin typeface="Times New Roman"/>
                        </a:rPr>
                        <a:t>Integration safety</a:t>
                      </a:r>
                    </a:p>
                  </a:txBody>
                  <a:tcPr marL="54864" marR="54864" marT="22860" marB="22860" anchor="ctr">
                    <a:solidFill>
                      <a:srgbClr val="E8EEF5"/>
                    </a:solidFill>
                  </a:tcPr>
                </a:tc>
                <a:tc>
                  <a:txBody>
                    <a:bodyPr/>
                    <a:lstStyle/>
                    <a:p>
                      <a:r>
                        <a:rPr sz="1150" b="0">
                          <a:solidFill>
                            <a:srgbClr val="1A1A1A"/>
                          </a:solidFill>
                          <a:latin typeface="Times New Roman"/>
                        </a:rPr>
                        <a:t>Person 1 and Person 2 files byte-identical before and after (git diff + MD5)</a:t>
                      </a:r>
                    </a:p>
                  </a:txBody>
                  <a:tcPr marL="54864" marR="54864" marT="22860" marB="22860" anchor="ctr">
                    <a:solidFill>
                      <a:srgbClr val="E8EEF5"/>
                    </a:solidFill>
                  </a:tcPr>
                </a:tc>
              </a:tr>
              <a:tr h="621792">
                <a:tc>
                  <a:txBody>
                    <a:bodyPr/>
                    <a:lstStyle/>
                    <a:p>
                      <a:r>
                        <a:rPr sz="1150" b="0">
                          <a:solidFill>
                            <a:srgbClr val="1A1A1A"/>
                          </a:solidFill>
                          <a:latin typeface="Times New Roman"/>
                        </a:rPr>
                        <a:t>Defects found by our own tests, then fixed</a:t>
                      </a:r>
                    </a:p>
                  </a:txBody>
                  <a:tcPr marL="54864" marR="54864" marT="22860" marB="22860" anchor="ctr">
                    <a:solidFill>
                      <a:srgbClr val="FFFFFF"/>
                    </a:solidFill>
                  </a:tcPr>
                </a:tc>
                <a:tc>
                  <a:txBody>
                    <a:bodyPr/>
                    <a:lstStyle/>
                    <a:p>
                      <a:r>
                        <a:rPr sz="1150" b="0">
                          <a:solidFill>
                            <a:srgbClr val="1A1A1A"/>
                          </a:solidFill>
                          <a:latin typeface="Times New Roman"/>
                        </a:rPr>
                        <a:t>17 — including a silent vector-store failure and a misattributed dominant emotion</a:t>
                      </a:r>
                    </a:p>
                  </a:txBody>
                  <a:tcPr marL="54864" marR="54864" marT="22860" marB="22860" anchor="ctr">
                    <a:solidFill>
                      <a:srgbClr val="FFFFFF"/>
                    </a:solidFill>
                  </a:tcPr>
                </a:tc>
              </a:tr>
            </a:tbl>
          </a:graphicData>
        </a:graphic>
      </p:graphicFrame>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Results II — Defects Found and Fixed by Our Own Tests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RESULTS</a:t>
            </a:r>
          </a:p>
        </p:txBody>
      </p:sp>
      <p:graphicFrame>
        <p:nvGraphicFramePr>
          <p:cNvPr id="5" name="Table 4"/>
          <p:cNvGraphicFramePr>
            <a:graphicFrameLocks noGrp="1"/>
          </p:cNvGraphicFramePr>
          <p:nvPr/>
        </p:nvGraphicFramePr>
        <p:xfrm>
          <a:off x="566928" y="1975104"/>
          <a:ext cx="8046720" cy="4114800"/>
        </p:xfrm>
        <a:graphic>
          <a:graphicData uri="http://schemas.openxmlformats.org/drawingml/2006/table">
            <a:tbl>
              <a:tblPr firstRow="1" bandRow="1">
                <a:tableStyleId>{5C22544A-7EE6-4342-B048-85BDC9FD1C3A}</a:tableStyleId>
              </a:tblPr>
              <a:tblGrid>
                <a:gridCol w="2331720"/>
                <a:gridCol w="3063240"/>
                <a:gridCol w="2651760"/>
              </a:tblGrid>
              <a:tr h="822960">
                <a:tc>
                  <a:txBody>
                    <a:bodyPr/>
                    <a:lstStyle/>
                    <a:p>
                      <a:r>
                        <a:rPr sz="1100" b="1">
                          <a:solidFill>
                            <a:srgbClr val="FFFFFF"/>
                          </a:solidFill>
                          <a:latin typeface="Times New Roman"/>
                        </a:rPr>
                        <a:t>Defect</a:t>
                      </a:r>
                    </a:p>
                  </a:txBody>
                  <a:tcPr marL="54864" marR="54864" marT="27432" marB="27432" anchor="ctr">
                    <a:solidFill>
                      <a:srgbClr val="1B3A5C"/>
                    </a:solidFill>
                  </a:tcPr>
                </a:tc>
                <a:tc>
                  <a:txBody>
                    <a:bodyPr/>
                    <a:lstStyle/>
                    <a:p>
                      <a:r>
                        <a:rPr sz="1100" b="1">
                          <a:solidFill>
                            <a:srgbClr val="FFFFFF"/>
                          </a:solidFill>
                          <a:latin typeface="Times New Roman"/>
                        </a:rPr>
                        <a:t>Why it mattered</a:t>
                      </a:r>
                    </a:p>
                  </a:txBody>
                  <a:tcPr marL="54864" marR="54864" marT="27432" marB="27432" anchor="ctr">
                    <a:solidFill>
                      <a:srgbClr val="1B3A5C"/>
                    </a:solidFill>
                  </a:tcPr>
                </a:tc>
                <a:tc>
                  <a:txBody>
                    <a:bodyPr/>
                    <a:lstStyle/>
                    <a:p>
                      <a:r>
                        <a:rPr sz="1100" b="1">
                          <a:solidFill>
                            <a:srgbClr val="FFFFFF"/>
                          </a:solidFill>
                          <a:latin typeface="Times New Roman"/>
                        </a:rPr>
                        <a:t>Fix</a:t>
                      </a:r>
                    </a:p>
                  </a:txBody>
                  <a:tcPr marL="54864" marR="54864" marT="27432" marB="27432" anchor="ctr">
                    <a:solidFill>
                      <a:srgbClr val="1B3A5C"/>
                    </a:solidFill>
                  </a:tcPr>
                </a:tc>
              </a:tr>
              <a:tr h="822960">
                <a:tc>
                  <a:txBody>
                    <a:bodyPr/>
                    <a:lstStyle/>
                    <a:p>
                      <a:r>
                        <a:rPr sz="1050" b="0">
                          <a:solidFill>
                            <a:srgbClr val="1A1A1A"/>
                          </a:solidFill>
                          <a:latin typeface="Times New Roman"/>
                        </a:rPr>
                        <a:t>ChromaDB returned collection objects on 1.x and plain strings on 0.6.x</a:t>
                      </a:r>
                    </a:p>
                  </a:txBody>
                  <a:tcPr marL="54864" marR="54864" marT="22860" marB="22860" anchor="ctr">
                    <a:solidFill>
                      <a:srgbClr val="E8EEF5"/>
                    </a:solidFill>
                  </a:tcPr>
                </a:tc>
                <a:tc>
                  <a:txBody>
                    <a:bodyPr/>
                    <a:lstStyle/>
                    <a:p>
                      <a:r>
                        <a:rPr sz="1050" b="0">
                          <a:solidFill>
                            <a:srgbClr val="1A1A1A"/>
                          </a:solidFill>
                          <a:latin typeface="Times New Roman"/>
                        </a:rPr>
                        <a:t>A bare exception handler reported “0 records” after a successful write — a silent data-loss failure</a:t>
                      </a:r>
                    </a:p>
                  </a:txBody>
                  <a:tcPr marL="54864" marR="54864" marT="22860" marB="22860" anchor="ctr">
                    <a:solidFill>
                      <a:srgbClr val="E8EEF5"/>
                    </a:solidFill>
                  </a:tcPr>
                </a:tc>
                <a:tc>
                  <a:txBody>
                    <a:bodyPr/>
                    <a:lstStyle/>
                    <a:p>
                      <a:r>
                        <a:rPr sz="1050" b="0">
                          <a:solidFill>
                            <a:srgbClr val="1A1A1A"/>
                          </a:solidFill>
                          <a:latin typeface="Times New Roman"/>
                        </a:rPr>
                        <a:t>Normalise both return shapes; remove the silent handler and log</a:t>
                      </a:r>
                    </a:p>
                  </a:txBody>
                  <a:tcPr marL="54864" marR="54864" marT="22860" marB="22860" anchor="ctr">
                    <a:solidFill>
                      <a:srgbClr val="E8EEF5"/>
                    </a:solidFill>
                  </a:tcPr>
                </a:tc>
              </a:tr>
              <a:tr h="822960">
                <a:tc>
                  <a:txBody>
                    <a:bodyPr/>
                    <a:lstStyle/>
                    <a:p>
                      <a:r>
                        <a:rPr sz="1050" b="0">
                          <a:solidFill>
                            <a:srgbClr val="1A1A1A"/>
                          </a:solidFill>
                          <a:latin typeface="Times New Roman"/>
                        </a:rPr>
                        <a:t>Dominant emotion computed with idxmax on all-zero rows</a:t>
                      </a:r>
                    </a:p>
                  </a:txBody>
                  <a:tcPr marL="54864" marR="54864" marT="22860" marB="22860" anchor="ctr">
                    <a:solidFill>
                      <a:srgbClr val="FFFFFF"/>
                    </a:solidFill>
                  </a:tcPr>
                </a:tc>
                <a:tc>
                  <a:txBody>
                    <a:bodyPr/>
                    <a:lstStyle/>
                    <a:p>
                      <a:r>
                        <a:rPr sz="1050" b="0">
                          <a:solidFill>
                            <a:srgbClr val="1A1A1A"/>
                          </a:solidFill>
                          <a:latin typeface="Times New Roman"/>
                        </a:rPr>
                        <a:t>Six of ten records were labelled “anger” when no emotion word was present at all</a:t>
                      </a:r>
                    </a:p>
                  </a:txBody>
                  <a:tcPr marL="54864" marR="54864" marT="22860" marB="22860" anchor="ctr">
                    <a:solidFill>
                      <a:srgbClr val="FFFFFF"/>
                    </a:solidFill>
                  </a:tcPr>
                </a:tc>
                <a:tc>
                  <a:txBody>
                    <a:bodyPr/>
                    <a:lstStyle/>
                    <a:p>
                      <a:r>
                        <a:rPr sz="1050" b="0">
                          <a:solidFill>
                            <a:srgbClr val="1A1A1A"/>
                          </a:solidFill>
                          <a:latin typeface="Times New Roman"/>
                        </a:rPr>
                        <a:t>Return “neutral” when every emotion count is zero</a:t>
                      </a:r>
                    </a:p>
                  </a:txBody>
                  <a:tcPr marL="54864" marR="54864" marT="22860" marB="22860" anchor="ctr">
                    <a:solidFill>
                      <a:srgbClr val="FFFFFF"/>
                    </a:solidFill>
                  </a:tcPr>
                </a:tc>
              </a:tr>
              <a:tr h="822960">
                <a:tc>
                  <a:txBody>
                    <a:bodyPr/>
                    <a:lstStyle/>
                    <a:p>
                      <a:r>
                        <a:rPr sz="1050" b="0">
                          <a:solidFill>
                            <a:srgbClr val="1A1A1A"/>
                          </a:solidFill>
                          <a:latin typeface="Times New Roman"/>
                        </a:rPr>
                        <a:t>Missing behaviour columns silently created as zero</a:t>
                      </a:r>
                    </a:p>
                  </a:txBody>
                  <a:tcPr marL="54864" marR="54864" marT="22860" marB="22860" anchor="ctr">
                    <a:solidFill>
                      <a:srgbClr val="E8EEF5"/>
                    </a:solidFill>
                  </a:tcPr>
                </a:tc>
                <a:tc>
                  <a:txBody>
                    <a:bodyPr/>
                    <a:lstStyle/>
                    <a:p>
                      <a:r>
                        <a:rPr sz="1050" b="0">
                          <a:solidFill>
                            <a:srgbClr val="1A1A1A"/>
                          </a:solidFill>
                          <a:latin typeface="Times New Roman"/>
                        </a:rPr>
                        <a:t>Fabricated values would have reached the vector store and been cited as evidence</a:t>
                      </a:r>
                    </a:p>
                  </a:txBody>
                  <a:tcPr marL="54864" marR="54864" marT="22860" marB="22860" anchor="ctr">
                    <a:solidFill>
                      <a:srgbClr val="E8EEF5"/>
                    </a:solidFill>
                  </a:tcPr>
                </a:tc>
                <a:tc>
                  <a:txBody>
                    <a:bodyPr/>
                    <a:lstStyle/>
                    <a:p>
                      <a:r>
                        <a:rPr sz="1050" b="0">
                          <a:solidFill>
                            <a:srgbClr val="1A1A1A"/>
                          </a:solidFill>
                          <a:latin typeface="Times New Roman"/>
                        </a:rPr>
                        <a:t>Emotions zero-filled (absent = 0 is true); behaviour left absent</a:t>
                      </a:r>
                    </a:p>
                  </a:txBody>
                  <a:tcPr marL="54864" marR="54864" marT="22860" marB="22860" anchor="ctr">
                    <a:solidFill>
                      <a:srgbClr val="E8EEF5"/>
                    </a:solidFill>
                  </a:tcPr>
                </a:tc>
              </a:tr>
              <a:tr h="822960">
                <a:tc>
                  <a:txBody>
                    <a:bodyPr/>
                    <a:lstStyle/>
                    <a:p>
                      <a:r>
                        <a:rPr sz="1050" b="0">
                          <a:solidFill>
                            <a:srgbClr val="1A1A1A"/>
                          </a:solidFill>
                          <a:latin typeface="Times New Roman"/>
                        </a:rPr>
                        <a:t>Message minimum length of 12 characters</a:t>
                      </a:r>
                    </a:p>
                  </a:txBody>
                  <a:tcPr marL="54864" marR="54864" marT="22860" marB="22860" anchor="ctr">
                    <a:solidFill>
                      <a:srgbClr val="FFFFFF"/>
                    </a:solidFill>
                  </a:tcPr>
                </a:tc>
                <a:tc>
                  <a:txBody>
                    <a:bodyPr/>
                    <a:lstStyle/>
                    <a:p>
                      <a:r>
                        <a:rPr sz="1050" b="0">
                          <a:solidFill>
                            <a:srgbClr val="1A1A1A"/>
                          </a:solidFill>
                          <a:latin typeface="Times New Roman"/>
                        </a:rPr>
                        <a:t>Dropped “not ok” and “I’m done” — the strongest burnout signals in the corpus</a:t>
                      </a:r>
                    </a:p>
                  </a:txBody>
                  <a:tcPr marL="54864" marR="54864" marT="22860" marB="22860" anchor="ctr">
                    <a:solidFill>
                      <a:srgbClr val="FFFFFF"/>
                    </a:solidFill>
                  </a:tcPr>
                </a:tc>
                <a:tc>
                  <a:txBody>
                    <a:bodyPr/>
                    <a:lstStyle/>
                    <a:p>
                      <a:r>
                        <a:rPr sz="1050" b="0">
                          <a:solidFill>
                            <a:srgbClr val="1A1A1A"/>
                          </a:solidFill>
                          <a:latin typeface="Times New Roman"/>
                        </a:rPr>
                        <a:t>Per-strategy thresholds; chat messages accepted from 3 characters</a:t>
                      </a:r>
                    </a:p>
                  </a:txBody>
                  <a:tcPr marL="54864" marR="54864" marT="22860" marB="22860" anchor="ctr">
                    <a:solidFill>
                      <a:srgbClr val="FFFFFF"/>
                    </a:solidFill>
                  </a:tcPr>
                </a:tc>
              </a:tr>
            </a:tbl>
          </a:graphicData>
        </a:graphic>
      </p:graphicFrame>
      <p:sp>
        <p:nvSpPr>
          <p:cNvPr id="6" name="TextBox 5"/>
          <p:cNvSpPr txBox="1"/>
          <p:nvPr/>
        </p:nvSpPr>
        <p:spPr>
          <a:xfrm>
            <a:off x="566928" y="6144768"/>
            <a:ext cx="8101583" cy="502920"/>
          </a:xfrm>
          <a:prstGeom prst="rect">
            <a:avLst/>
          </a:prstGeom>
          <a:noFill/>
        </p:spPr>
        <p:txBody>
          <a:bodyPr wrap="square">
            <a:spAutoFit/>
          </a:bodyPr>
          <a:lstStyle/>
          <a:p>
            <a:r>
              <a:rPr sz="1150" i="1" b="1">
                <a:solidFill>
                  <a:srgbClr val="8A6D12"/>
                </a:solidFill>
                <a:latin typeface="Times New Roman"/>
              </a:rPr>
              <a:t>We report these deliberately: a system that is trusted with wellbeing data has to be able to show how it fails, not only how it works.</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Results III — Quantum ML Comparative Study</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D · RESULTS</a:t>
            </a:r>
          </a:p>
        </p:txBody>
      </p:sp>
      <p:graphicFrame>
        <p:nvGraphicFramePr>
          <p:cNvPr id="5" name="Table 4"/>
          <p:cNvGraphicFramePr>
            <a:graphicFrameLocks noGrp="1"/>
          </p:cNvGraphicFramePr>
          <p:nvPr/>
        </p:nvGraphicFramePr>
        <p:xfrm>
          <a:off x="1211580" y="1938528"/>
          <a:ext cx="6720840" cy="3456432"/>
        </p:xfrm>
        <a:graphic>
          <a:graphicData uri="http://schemas.openxmlformats.org/drawingml/2006/table">
            <a:tbl>
              <a:tblPr firstRow="1" bandRow="1">
                <a:tableStyleId>{5C22544A-7EE6-4342-B048-85BDC9FD1C3A}</a:tableStyleId>
              </a:tblPr>
              <a:tblGrid>
                <a:gridCol w="2148840"/>
                <a:gridCol w="1051560"/>
                <a:gridCol w="1325880"/>
                <a:gridCol w="1051560"/>
                <a:gridCol w="1143000"/>
              </a:tblGrid>
              <a:tr h="384048">
                <a:tc>
                  <a:txBody>
                    <a:bodyPr/>
                    <a:lstStyle/>
                    <a:p>
                      <a:r>
                        <a:rPr sz="1250" b="1">
                          <a:solidFill>
                            <a:srgbClr val="FFFFFF"/>
                          </a:solidFill>
                          <a:latin typeface="Times New Roman"/>
                        </a:rPr>
                        <a:t>Model</a:t>
                      </a:r>
                    </a:p>
                  </a:txBody>
                  <a:tcPr marL="54864" marR="54864" marT="27432" marB="27432" anchor="ctr">
                    <a:solidFill>
                      <a:srgbClr val="1B3A5C"/>
                    </a:solidFill>
                  </a:tcPr>
                </a:tc>
                <a:tc>
                  <a:txBody>
                    <a:bodyPr/>
                    <a:lstStyle/>
                    <a:p>
                      <a:r>
                        <a:rPr sz="1250" b="1">
                          <a:solidFill>
                            <a:srgbClr val="FFFFFF"/>
                          </a:solidFill>
                          <a:latin typeface="Times New Roman"/>
                        </a:rPr>
                        <a:t>Family</a:t>
                      </a:r>
                    </a:p>
                  </a:txBody>
                  <a:tcPr marL="54864" marR="54864" marT="27432" marB="27432" anchor="ctr">
                    <a:solidFill>
                      <a:srgbClr val="1B3A5C"/>
                    </a:solidFill>
                  </a:tcPr>
                </a:tc>
                <a:tc>
                  <a:txBody>
                    <a:bodyPr/>
                    <a:lstStyle/>
                    <a:p>
                      <a:r>
                        <a:rPr sz="1250" b="1">
                          <a:solidFill>
                            <a:srgbClr val="FFFFFF"/>
                          </a:solidFill>
                          <a:latin typeface="Times New Roman"/>
                        </a:rPr>
                        <a:t>Framework</a:t>
                      </a:r>
                    </a:p>
                  </a:txBody>
                  <a:tcPr marL="54864" marR="54864" marT="27432" marB="27432" anchor="ctr">
                    <a:solidFill>
                      <a:srgbClr val="1B3A5C"/>
                    </a:solidFill>
                  </a:tcPr>
                </a:tc>
                <a:tc>
                  <a:txBody>
                    <a:bodyPr/>
                    <a:lstStyle/>
                    <a:p>
                      <a:r>
                        <a:rPr sz="1250" b="1">
                          <a:solidFill>
                            <a:srgbClr val="FFFFFF"/>
                          </a:solidFill>
                          <a:latin typeface="Times New Roman"/>
                        </a:rPr>
                        <a:t>Accuracy</a:t>
                      </a:r>
                    </a:p>
                  </a:txBody>
                  <a:tcPr marL="54864" marR="54864" marT="27432" marB="27432" anchor="ctr">
                    <a:solidFill>
                      <a:srgbClr val="1B3A5C"/>
                    </a:solidFill>
                  </a:tcPr>
                </a:tc>
                <a:tc>
                  <a:txBody>
                    <a:bodyPr/>
                    <a:lstStyle/>
                    <a:p>
                      <a:r>
                        <a:rPr sz="1250" b="1">
                          <a:solidFill>
                            <a:srgbClr val="FFFFFF"/>
                          </a:solidFill>
                          <a:latin typeface="Times New Roman"/>
                        </a:rPr>
                        <a:t>Runtime</a:t>
                      </a:r>
                    </a:p>
                  </a:txBody>
                  <a:tcPr marL="54864" marR="54864" marT="27432" marB="27432" anchor="ctr">
                    <a:solidFill>
                      <a:srgbClr val="1B3A5C"/>
                    </a:solidFill>
                  </a:tcPr>
                </a:tc>
              </a:tr>
              <a:tr h="384048">
                <a:tc>
                  <a:txBody>
                    <a:bodyPr/>
                    <a:lstStyle/>
                    <a:p>
                      <a:r>
                        <a:rPr sz="1100" b="0">
                          <a:solidFill>
                            <a:srgbClr val="1A1A1A"/>
                          </a:solidFill>
                          <a:latin typeface="Times New Roman"/>
                        </a:rPr>
                        <a:t>Logistic Regression</a:t>
                      </a:r>
                    </a:p>
                  </a:txBody>
                  <a:tcPr marL="54864" marR="54864" marT="22860" marB="22860" anchor="ctr">
                    <a:solidFill>
                      <a:srgbClr val="E8EEF5"/>
                    </a:solidFill>
                  </a:tcPr>
                </a:tc>
                <a:tc>
                  <a:txBody>
                    <a:bodyPr/>
                    <a:lstStyle/>
                    <a:p>
                      <a:r>
                        <a:rPr sz="1100" b="0">
                          <a:solidFill>
                            <a:srgbClr val="1A1A1A"/>
                          </a:solidFill>
                          <a:latin typeface="Times New Roman"/>
                        </a:rPr>
                        <a:t>Classical</a:t>
                      </a:r>
                    </a:p>
                  </a:txBody>
                  <a:tcPr marL="54864" marR="54864" marT="22860" marB="22860" anchor="ctr">
                    <a:solidFill>
                      <a:srgbClr val="E8EEF5"/>
                    </a:solidFill>
                  </a:tcPr>
                </a:tc>
                <a:tc>
                  <a:txBody>
                    <a:bodyPr/>
                    <a:lstStyle/>
                    <a:p>
                      <a:r>
                        <a:rPr sz="1100" b="0">
                          <a:solidFill>
                            <a:srgbClr val="1A1A1A"/>
                          </a:solidFill>
                          <a:latin typeface="Times New Roman"/>
                        </a:rPr>
                        <a:t>scikit-learn</a:t>
                      </a:r>
                    </a:p>
                  </a:txBody>
                  <a:tcPr marL="54864" marR="54864" marT="22860" marB="22860" anchor="ctr">
                    <a:solidFill>
                      <a:srgbClr val="E8EEF5"/>
                    </a:solidFill>
                  </a:tcPr>
                </a:tc>
                <a:tc>
                  <a:txBody>
                    <a:bodyPr/>
                    <a:lstStyle/>
                    <a:p>
                      <a:r>
                        <a:rPr sz="1100" b="1">
                          <a:solidFill>
                            <a:srgbClr val="1A1A1A"/>
                          </a:solidFill>
                          <a:latin typeface="Times New Roman"/>
                        </a:rPr>
                        <a:t>0.8667</a:t>
                      </a:r>
                    </a:p>
                  </a:txBody>
                  <a:tcPr marL="54864" marR="54864" marT="22860" marB="22860" anchor="ctr">
                    <a:solidFill>
                      <a:srgbClr val="E8EEF5"/>
                    </a:solidFill>
                  </a:tcPr>
                </a:tc>
                <a:tc>
                  <a:txBody>
                    <a:bodyPr/>
                    <a:lstStyle/>
                    <a:p>
                      <a:r>
                        <a:rPr sz="1100" b="0">
                          <a:solidFill>
                            <a:srgbClr val="1A1A1A"/>
                          </a:solidFill>
                          <a:latin typeface="Times New Roman"/>
                        </a:rPr>
                        <a:t>&lt; 0.01 s</a:t>
                      </a:r>
                    </a:p>
                  </a:txBody>
                  <a:tcPr marL="54864" marR="54864" marT="22860" marB="22860" anchor="ctr">
                    <a:solidFill>
                      <a:srgbClr val="E8EEF5"/>
                    </a:solidFill>
                  </a:tcPr>
                </a:tc>
              </a:tr>
              <a:tr h="384048">
                <a:tc>
                  <a:txBody>
                    <a:bodyPr/>
                    <a:lstStyle/>
                    <a:p>
                      <a:r>
                        <a:rPr sz="1100" b="0">
                          <a:solidFill>
                            <a:srgbClr val="1A1A1A"/>
                          </a:solidFill>
                          <a:latin typeface="Times New Roman"/>
                        </a:rPr>
                        <a:t>SVM (RBF kernel)</a:t>
                      </a:r>
                    </a:p>
                  </a:txBody>
                  <a:tcPr marL="54864" marR="54864" marT="22860" marB="22860" anchor="ctr">
                    <a:solidFill>
                      <a:srgbClr val="FFFFFF"/>
                    </a:solidFill>
                  </a:tcPr>
                </a:tc>
                <a:tc>
                  <a:txBody>
                    <a:bodyPr/>
                    <a:lstStyle/>
                    <a:p>
                      <a:r>
                        <a:rPr sz="1100" b="0">
                          <a:solidFill>
                            <a:srgbClr val="1A1A1A"/>
                          </a:solidFill>
                          <a:latin typeface="Times New Roman"/>
                        </a:rPr>
                        <a:t>Classical</a:t>
                      </a:r>
                    </a:p>
                  </a:txBody>
                  <a:tcPr marL="54864" marR="54864" marT="22860" marB="22860" anchor="ctr">
                    <a:solidFill>
                      <a:srgbClr val="FFFFFF"/>
                    </a:solidFill>
                  </a:tcPr>
                </a:tc>
                <a:tc>
                  <a:txBody>
                    <a:bodyPr/>
                    <a:lstStyle/>
                    <a:p>
                      <a:r>
                        <a:rPr sz="1100" b="0">
                          <a:solidFill>
                            <a:srgbClr val="1A1A1A"/>
                          </a:solidFill>
                          <a:latin typeface="Times New Roman"/>
                        </a:rPr>
                        <a:t>scikit-learn</a:t>
                      </a:r>
                    </a:p>
                  </a:txBody>
                  <a:tcPr marL="54864" marR="54864" marT="22860" marB="22860" anchor="ctr">
                    <a:solidFill>
                      <a:srgbClr val="FFFFFF"/>
                    </a:solidFill>
                  </a:tcPr>
                </a:tc>
                <a:tc>
                  <a:txBody>
                    <a:bodyPr/>
                    <a:lstStyle/>
                    <a:p>
                      <a:r>
                        <a:rPr sz="1100" b="0">
                          <a:solidFill>
                            <a:srgbClr val="1A1A1A"/>
                          </a:solidFill>
                          <a:latin typeface="Times New Roman"/>
                        </a:rPr>
                        <a:t>0.8587</a:t>
                      </a:r>
                    </a:p>
                  </a:txBody>
                  <a:tcPr marL="54864" marR="54864" marT="22860" marB="22860" anchor="ctr">
                    <a:solidFill>
                      <a:srgbClr val="FFFFFF"/>
                    </a:solidFill>
                  </a:tcPr>
                </a:tc>
                <a:tc>
                  <a:txBody>
                    <a:bodyPr/>
                    <a:lstStyle/>
                    <a:p>
                      <a:r>
                        <a:rPr sz="1100" b="0">
                          <a:solidFill>
                            <a:srgbClr val="1A1A1A"/>
                          </a:solidFill>
                          <a:latin typeface="Times New Roman"/>
                        </a:rPr>
                        <a:t>&lt; 0.01 s</a:t>
                      </a:r>
                    </a:p>
                  </a:txBody>
                  <a:tcPr marL="54864" marR="54864" marT="22860" marB="22860" anchor="ctr">
                    <a:solidFill>
                      <a:srgbClr val="FFFFFF"/>
                    </a:solidFill>
                  </a:tcPr>
                </a:tc>
              </a:tr>
              <a:tr h="384048">
                <a:tc>
                  <a:txBody>
                    <a:bodyPr/>
                    <a:lstStyle/>
                    <a:p>
                      <a:r>
                        <a:rPr sz="1100" b="0">
                          <a:solidFill>
                            <a:srgbClr val="1A1A1A"/>
                          </a:solidFill>
                          <a:latin typeface="Times New Roman"/>
                        </a:rPr>
                        <a:t>Random Forest</a:t>
                      </a:r>
                    </a:p>
                  </a:txBody>
                  <a:tcPr marL="54864" marR="54864" marT="22860" marB="22860" anchor="ctr">
                    <a:solidFill>
                      <a:srgbClr val="E8EEF5"/>
                    </a:solidFill>
                  </a:tcPr>
                </a:tc>
                <a:tc>
                  <a:txBody>
                    <a:bodyPr/>
                    <a:lstStyle/>
                    <a:p>
                      <a:r>
                        <a:rPr sz="1100" b="0">
                          <a:solidFill>
                            <a:srgbClr val="1A1A1A"/>
                          </a:solidFill>
                          <a:latin typeface="Times New Roman"/>
                        </a:rPr>
                        <a:t>Classical</a:t>
                      </a:r>
                    </a:p>
                  </a:txBody>
                  <a:tcPr marL="54864" marR="54864" marT="22860" marB="22860" anchor="ctr">
                    <a:solidFill>
                      <a:srgbClr val="E8EEF5"/>
                    </a:solidFill>
                  </a:tcPr>
                </a:tc>
                <a:tc>
                  <a:txBody>
                    <a:bodyPr/>
                    <a:lstStyle/>
                    <a:p>
                      <a:r>
                        <a:rPr sz="1100" b="0">
                          <a:solidFill>
                            <a:srgbClr val="1A1A1A"/>
                          </a:solidFill>
                          <a:latin typeface="Times New Roman"/>
                        </a:rPr>
                        <a:t>scikit-learn</a:t>
                      </a:r>
                    </a:p>
                  </a:txBody>
                  <a:tcPr marL="54864" marR="54864" marT="22860" marB="22860" anchor="ctr">
                    <a:solidFill>
                      <a:srgbClr val="E8EEF5"/>
                    </a:solidFill>
                  </a:tcPr>
                </a:tc>
                <a:tc>
                  <a:txBody>
                    <a:bodyPr/>
                    <a:lstStyle/>
                    <a:p>
                      <a:r>
                        <a:rPr sz="1100" b="0">
                          <a:solidFill>
                            <a:srgbClr val="1A1A1A"/>
                          </a:solidFill>
                          <a:latin typeface="Times New Roman"/>
                        </a:rPr>
                        <a:t>0.8533</a:t>
                      </a:r>
                    </a:p>
                  </a:txBody>
                  <a:tcPr marL="54864" marR="54864" marT="22860" marB="22860" anchor="ctr">
                    <a:solidFill>
                      <a:srgbClr val="E8EEF5"/>
                    </a:solidFill>
                  </a:tcPr>
                </a:tc>
                <a:tc>
                  <a:txBody>
                    <a:bodyPr/>
                    <a:lstStyle/>
                    <a:p>
                      <a:r>
                        <a:rPr sz="1100" b="0">
                          <a:solidFill>
                            <a:srgbClr val="1A1A1A"/>
                          </a:solidFill>
                          <a:latin typeface="Times New Roman"/>
                        </a:rPr>
                        <a:t>0.20 s</a:t>
                      </a:r>
                    </a:p>
                  </a:txBody>
                  <a:tcPr marL="54864" marR="54864" marT="22860" marB="22860" anchor="ctr">
                    <a:solidFill>
                      <a:srgbClr val="E8EEF5"/>
                    </a:solidFill>
                  </a:tcPr>
                </a:tc>
              </a:tr>
              <a:tr h="384048">
                <a:tc>
                  <a:txBody>
                    <a:bodyPr/>
                    <a:lstStyle/>
                    <a:p>
                      <a:r>
                        <a:rPr sz="1100" b="0">
                          <a:solidFill>
                            <a:srgbClr val="1A1A1A"/>
                          </a:solidFill>
                          <a:latin typeface="Times New Roman"/>
                        </a:rPr>
                        <a:t>SVM-RBF (same 400 rows)</a:t>
                      </a:r>
                    </a:p>
                  </a:txBody>
                  <a:tcPr marL="54864" marR="54864" marT="22860" marB="22860" anchor="ctr">
                    <a:solidFill>
                      <a:srgbClr val="FFFFFF"/>
                    </a:solidFill>
                  </a:tcPr>
                </a:tc>
                <a:tc>
                  <a:txBody>
                    <a:bodyPr/>
                    <a:lstStyle/>
                    <a:p>
                      <a:r>
                        <a:rPr sz="1100" b="0">
                          <a:solidFill>
                            <a:srgbClr val="1A1A1A"/>
                          </a:solidFill>
                          <a:latin typeface="Times New Roman"/>
                        </a:rPr>
                        <a:t>Classical</a:t>
                      </a:r>
                    </a:p>
                  </a:txBody>
                  <a:tcPr marL="54864" marR="54864" marT="22860" marB="22860" anchor="ctr">
                    <a:solidFill>
                      <a:srgbClr val="FFFFFF"/>
                    </a:solidFill>
                  </a:tcPr>
                </a:tc>
                <a:tc>
                  <a:txBody>
                    <a:bodyPr/>
                    <a:lstStyle/>
                    <a:p>
                      <a:r>
                        <a:rPr sz="1100" b="0">
                          <a:solidFill>
                            <a:srgbClr val="1A1A1A"/>
                          </a:solidFill>
                          <a:latin typeface="Times New Roman"/>
                        </a:rPr>
                        <a:t>scikit-learn</a:t>
                      </a:r>
                    </a:p>
                  </a:txBody>
                  <a:tcPr marL="54864" marR="54864" marT="22860" marB="22860" anchor="ctr">
                    <a:solidFill>
                      <a:srgbClr val="FFFFFF"/>
                    </a:solidFill>
                  </a:tcPr>
                </a:tc>
                <a:tc>
                  <a:txBody>
                    <a:bodyPr/>
                    <a:lstStyle/>
                    <a:p>
                      <a:r>
                        <a:rPr sz="1100" b="0">
                          <a:solidFill>
                            <a:srgbClr val="1A1A1A"/>
                          </a:solidFill>
                          <a:latin typeface="Times New Roman"/>
                        </a:rPr>
                        <a:t>0.8560</a:t>
                      </a:r>
                    </a:p>
                  </a:txBody>
                  <a:tcPr marL="54864" marR="54864" marT="22860" marB="22860" anchor="ctr">
                    <a:solidFill>
                      <a:srgbClr val="FFFFFF"/>
                    </a:solidFill>
                  </a:tcPr>
                </a:tc>
                <a:tc>
                  <a:txBody>
                    <a:bodyPr/>
                    <a:lstStyle/>
                    <a:p>
                      <a:r>
                        <a:rPr sz="1100" b="0">
                          <a:solidFill>
                            <a:srgbClr val="1A1A1A"/>
                          </a:solidFill>
                          <a:latin typeface="Times New Roman"/>
                        </a:rPr>
                        <a:t>0.008 s</a:t>
                      </a:r>
                    </a:p>
                  </a:txBody>
                  <a:tcPr marL="54864" marR="54864" marT="22860" marB="22860" anchor="ctr">
                    <a:solidFill>
                      <a:srgbClr val="FFFFFF"/>
                    </a:solidFill>
                  </a:tcPr>
                </a:tc>
              </a:tr>
              <a:tr h="384048">
                <a:tc>
                  <a:txBody>
                    <a:bodyPr/>
                    <a:lstStyle/>
                    <a:p>
                      <a:r>
                        <a:rPr sz="1100" b="0">
                          <a:solidFill>
                            <a:srgbClr val="1A1A1A"/>
                          </a:solidFill>
                          <a:latin typeface="Times New Roman"/>
                        </a:rPr>
                        <a:t>Quantum kernel SVM</a:t>
                      </a:r>
                    </a:p>
                  </a:txBody>
                  <a:tcPr marL="54864" marR="54864" marT="22860" marB="22860" anchor="ctr">
                    <a:solidFill>
                      <a:srgbClr val="E8EEF5"/>
                    </a:solidFill>
                  </a:tcPr>
                </a:tc>
                <a:tc>
                  <a:txBody>
                    <a:bodyPr/>
                    <a:lstStyle/>
                    <a:p>
                      <a:r>
                        <a:rPr sz="1100" b="0">
                          <a:solidFill>
                            <a:srgbClr val="1A1A1A"/>
                          </a:solidFill>
                          <a:latin typeface="Times New Roman"/>
                        </a:rPr>
                        <a:t>Quantum</a:t>
                      </a:r>
                    </a:p>
                  </a:txBody>
                  <a:tcPr marL="54864" marR="54864" marT="22860" marB="22860" anchor="ctr">
                    <a:solidFill>
                      <a:srgbClr val="E8EEF5"/>
                    </a:solidFill>
                  </a:tcPr>
                </a:tc>
                <a:tc>
                  <a:txBody>
                    <a:bodyPr/>
                    <a:lstStyle/>
                    <a:p>
                      <a:r>
                        <a:rPr sz="1100" b="0">
                          <a:solidFill>
                            <a:srgbClr val="1A1A1A"/>
                          </a:solidFill>
                          <a:latin typeface="Times New Roman"/>
                        </a:rPr>
                        <a:t>PennyLane</a:t>
                      </a:r>
                    </a:p>
                  </a:txBody>
                  <a:tcPr marL="54864" marR="54864" marT="22860" marB="22860" anchor="ctr">
                    <a:solidFill>
                      <a:srgbClr val="E8EEF5"/>
                    </a:solidFill>
                  </a:tcPr>
                </a:tc>
                <a:tc>
                  <a:txBody>
                    <a:bodyPr/>
                    <a:lstStyle/>
                    <a:p>
                      <a:r>
                        <a:rPr sz="1100" b="1">
                          <a:solidFill>
                            <a:srgbClr val="1A1A1A"/>
                          </a:solidFill>
                          <a:latin typeface="Times New Roman"/>
                        </a:rPr>
                        <a:t>0.8560</a:t>
                      </a:r>
                    </a:p>
                  </a:txBody>
                  <a:tcPr marL="54864" marR="54864" marT="22860" marB="22860" anchor="ctr">
                    <a:solidFill>
                      <a:srgbClr val="E8EEF5"/>
                    </a:solidFill>
                  </a:tcPr>
                </a:tc>
                <a:tc>
                  <a:txBody>
                    <a:bodyPr/>
                    <a:lstStyle/>
                    <a:p>
                      <a:r>
                        <a:rPr sz="1100" b="0">
                          <a:solidFill>
                            <a:srgbClr val="1A1A1A"/>
                          </a:solidFill>
                          <a:latin typeface="Times New Roman"/>
                        </a:rPr>
                        <a:t>0.67 s</a:t>
                      </a:r>
                    </a:p>
                  </a:txBody>
                  <a:tcPr marL="54864" marR="54864" marT="22860" marB="22860" anchor="ctr">
                    <a:solidFill>
                      <a:srgbClr val="E8EEF5"/>
                    </a:solidFill>
                  </a:tcPr>
                </a:tc>
              </a:tr>
              <a:tr h="384048">
                <a:tc>
                  <a:txBody>
                    <a:bodyPr/>
                    <a:lstStyle/>
                    <a:p>
                      <a:r>
                        <a:rPr sz="1100" b="0">
                          <a:solidFill>
                            <a:srgbClr val="1A1A1A"/>
                          </a:solidFill>
                          <a:latin typeface="Times New Roman"/>
                        </a:rPr>
                        <a:t>QSVC (quantum kernel)</a:t>
                      </a:r>
                    </a:p>
                  </a:txBody>
                  <a:tcPr marL="54864" marR="54864" marT="22860" marB="22860" anchor="ctr">
                    <a:solidFill>
                      <a:srgbClr val="FFFFFF"/>
                    </a:solidFill>
                  </a:tcPr>
                </a:tc>
                <a:tc>
                  <a:txBody>
                    <a:bodyPr/>
                    <a:lstStyle/>
                    <a:p>
                      <a:r>
                        <a:rPr sz="1100" b="0">
                          <a:solidFill>
                            <a:srgbClr val="1A1A1A"/>
                          </a:solidFill>
                          <a:latin typeface="Times New Roman"/>
                        </a:rPr>
                        <a:t>Quantum</a:t>
                      </a:r>
                    </a:p>
                  </a:txBody>
                  <a:tcPr marL="54864" marR="54864" marT="22860" marB="22860" anchor="ctr">
                    <a:solidFill>
                      <a:srgbClr val="FFFFFF"/>
                    </a:solidFill>
                  </a:tcPr>
                </a:tc>
                <a:tc>
                  <a:txBody>
                    <a:bodyPr/>
                    <a:lstStyle/>
                    <a:p>
                      <a:r>
                        <a:rPr sz="1100" b="0">
                          <a:solidFill>
                            <a:srgbClr val="1A1A1A"/>
                          </a:solidFill>
                          <a:latin typeface="Times New Roman"/>
                        </a:rPr>
                        <a:t>Qiskit</a:t>
                      </a:r>
                    </a:p>
                  </a:txBody>
                  <a:tcPr marL="54864" marR="54864" marT="22860" marB="22860" anchor="ctr">
                    <a:solidFill>
                      <a:srgbClr val="FFFFFF"/>
                    </a:solidFill>
                  </a:tcPr>
                </a:tc>
                <a:tc>
                  <a:txBody>
                    <a:bodyPr/>
                    <a:lstStyle/>
                    <a:p>
                      <a:r>
                        <a:rPr sz="1100" b="0">
                          <a:solidFill>
                            <a:srgbClr val="1A1A1A"/>
                          </a:solidFill>
                          <a:latin typeface="Times New Roman"/>
                        </a:rPr>
                        <a:t>0.8533</a:t>
                      </a:r>
                    </a:p>
                  </a:txBody>
                  <a:tcPr marL="54864" marR="54864" marT="22860" marB="22860" anchor="ctr">
                    <a:solidFill>
                      <a:srgbClr val="FFFFFF"/>
                    </a:solidFill>
                  </a:tcPr>
                </a:tc>
                <a:tc>
                  <a:txBody>
                    <a:bodyPr/>
                    <a:lstStyle/>
                    <a:p>
                      <a:r>
                        <a:rPr sz="1100" b="0">
                          <a:solidFill>
                            <a:srgbClr val="1A1A1A"/>
                          </a:solidFill>
                          <a:latin typeface="Times New Roman"/>
                        </a:rPr>
                        <a:t>123.6 s</a:t>
                      </a:r>
                    </a:p>
                  </a:txBody>
                  <a:tcPr marL="54864" marR="54864" marT="22860" marB="22860" anchor="ctr">
                    <a:solidFill>
                      <a:srgbClr val="FFFFFF"/>
                    </a:solidFill>
                  </a:tcPr>
                </a:tc>
              </a:tr>
              <a:tr h="384048">
                <a:tc>
                  <a:txBody>
                    <a:bodyPr/>
                    <a:lstStyle/>
                    <a:p>
                      <a:r>
                        <a:rPr sz="1100" b="0">
                          <a:solidFill>
                            <a:srgbClr val="1A1A1A"/>
                          </a:solidFill>
                          <a:latin typeface="Times New Roman"/>
                        </a:rPr>
                        <a:t>VQC (variational)</a:t>
                      </a:r>
                    </a:p>
                  </a:txBody>
                  <a:tcPr marL="54864" marR="54864" marT="22860" marB="22860" anchor="ctr">
                    <a:solidFill>
                      <a:srgbClr val="E8EEF5"/>
                    </a:solidFill>
                  </a:tcPr>
                </a:tc>
                <a:tc>
                  <a:txBody>
                    <a:bodyPr/>
                    <a:lstStyle/>
                    <a:p>
                      <a:r>
                        <a:rPr sz="1100" b="0">
                          <a:solidFill>
                            <a:srgbClr val="1A1A1A"/>
                          </a:solidFill>
                          <a:latin typeface="Times New Roman"/>
                        </a:rPr>
                        <a:t>Quantum</a:t>
                      </a:r>
                    </a:p>
                  </a:txBody>
                  <a:tcPr marL="54864" marR="54864" marT="22860" marB="22860" anchor="ctr">
                    <a:solidFill>
                      <a:srgbClr val="E8EEF5"/>
                    </a:solidFill>
                  </a:tcPr>
                </a:tc>
                <a:tc>
                  <a:txBody>
                    <a:bodyPr/>
                    <a:lstStyle/>
                    <a:p>
                      <a:r>
                        <a:rPr sz="1100" b="0">
                          <a:solidFill>
                            <a:srgbClr val="1A1A1A"/>
                          </a:solidFill>
                          <a:latin typeface="Times New Roman"/>
                        </a:rPr>
                        <a:t>PennyLane</a:t>
                      </a:r>
                    </a:p>
                  </a:txBody>
                  <a:tcPr marL="54864" marR="54864" marT="22860" marB="22860" anchor="ctr">
                    <a:solidFill>
                      <a:srgbClr val="E8EEF5"/>
                    </a:solidFill>
                  </a:tcPr>
                </a:tc>
                <a:tc>
                  <a:txBody>
                    <a:bodyPr/>
                    <a:lstStyle/>
                    <a:p>
                      <a:r>
                        <a:rPr sz="1100" b="0">
                          <a:solidFill>
                            <a:srgbClr val="1A1A1A"/>
                          </a:solidFill>
                          <a:latin typeface="Times New Roman"/>
                        </a:rPr>
                        <a:t>0.7067</a:t>
                      </a:r>
                    </a:p>
                  </a:txBody>
                  <a:tcPr marL="54864" marR="54864" marT="22860" marB="22860" anchor="ctr">
                    <a:solidFill>
                      <a:srgbClr val="E8EEF5"/>
                    </a:solidFill>
                  </a:tcPr>
                </a:tc>
                <a:tc>
                  <a:txBody>
                    <a:bodyPr/>
                    <a:lstStyle/>
                    <a:p>
                      <a:r>
                        <a:rPr sz="1100" b="0">
                          <a:solidFill>
                            <a:srgbClr val="1A1A1A"/>
                          </a:solidFill>
                          <a:latin typeface="Times New Roman"/>
                        </a:rPr>
                        <a:t>—</a:t>
                      </a:r>
                    </a:p>
                  </a:txBody>
                  <a:tcPr marL="54864" marR="54864" marT="22860" marB="22860" anchor="ctr">
                    <a:solidFill>
                      <a:srgbClr val="E8EEF5"/>
                    </a:solidFill>
                  </a:tcPr>
                </a:tc>
              </a:tr>
              <a:tr h="384048">
                <a:tc>
                  <a:txBody>
                    <a:bodyPr/>
                    <a:lstStyle/>
                    <a:p>
                      <a:r>
                        <a:rPr sz="1100" b="0">
                          <a:solidFill>
                            <a:srgbClr val="1A1A1A"/>
                          </a:solidFill>
                          <a:latin typeface="Times New Roman"/>
                        </a:rPr>
                        <a:t>VQC (variational)</a:t>
                      </a:r>
                    </a:p>
                  </a:txBody>
                  <a:tcPr marL="54864" marR="54864" marT="22860" marB="22860" anchor="ctr">
                    <a:solidFill>
                      <a:srgbClr val="FFFFFF"/>
                    </a:solidFill>
                  </a:tcPr>
                </a:tc>
                <a:tc>
                  <a:txBody>
                    <a:bodyPr/>
                    <a:lstStyle/>
                    <a:p>
                      <a:r>
                        <a:rPr sz="1100" b="0">
                          <a:solidFill>
                            <a:srgbClr val="1A1A1A"/>
                          </a:solidFill>
                          <a:latin typeface="Times New Roman"/>
                        </a:rPr>
                        <a:t>Quantum</a:t>
                      </a:r>
                    </a:p>
                  </a:txBody>
                  <a:tcPr marL="54864" marR="54864" marT="22860" marB="22860" anchor="ctr">
                    <a:solidFill>
                      <a:srgbClr val="FFFFFF"/>
                    </a:solidFill>
                  </a:tcPr>
                </a:tc>
                <a:tc>
                  <a:txBody>
                    <a:bodyPr/>
                    <a:lstStyle/>
                    <a:p>
                      <a:r>
                        <a:rPr sz="1100" b="0">
                          <a:solidFill>
                            <a:srgbClr val="1A1A1A"/>
                          </a:solidFill>
                          <a:latin typeface="Times New Roman"/>
                        </a:rPr>
                        <a:t>Qiskit</a:t>
                      </a:r>
                    </a:p>
                  </a:txBody>
                  <a:tcPr marL="54864" marR="54864" marT="22860" marB="22860" anchor="ctr">
                    <a:solidFill>
                      <a:srgbClr val="FFFFFF"/>
                    </a:solidFill>
                  </a:tcPr>
                </a:tc>
                <a:tc>
                  <a:txBody>
                    <a:bodyPr/>
                    <a:lstStyle/>
                    <a:p>
                      <a:r>
                        <a:rPr sz="1100" b="0">
                          <a:solidFill>
                            <a:srgbClr val="1A1A1A"/>
                          </a:solidFill>
                          <a:latin typeface="Times New Roman"/>
                        </a:rPr>
                        <a:t>0.7227</a:t>
                      </a:r>
                    </a:p>
                  </a:txBody>
                  <a:tcPr marL="54864" marR="54864" marT="22860" marB="22860" anchor="ctr">
                    <a:solidFill>
                      <a:srgbClr val="FFFFFF"/>
                    </a:solidFill>
                  </a:tcPr>
                </a:tc>
                <a:tc>
                  <a:txBody>
                    <a:bodyPr/>
                    <a:lstStyle/>
                    <a:p>
                      <a:r>
                        <a:rPr sz="1100" b="0">
                          <a:solidFill>
                            <a:srgbClr val="1A1A1A"/>
                          </a:solidFill>
                          <a:latin typeface="Times New Roman"/>
                        </a:rPr>
                        <a:t>292.2 s</a:t>
                      </a:r>
                    </a:p>
                  </a:txBody>
                  <a:tcPr marL="54864" marR="54864" marT="22860" marB="22860" anchor="ctr">
                    <a:solidFill>
                      <a:srgbClr val="FFFFFF"/>
                    </a:solidFill>
                  </a:tcPr>
                </a:tc>
              </a:tr>
            </a:tbl>
          </a:graphicData>
        </a:graphic>
      </p:graphicFrame>
      <p:sp>
        <p:nvSpPr>
          <p:cNvPr id="6" name="TextBox 5"/>
          <p:cNvSpPr txBox="1"/>
          <p:nvPr/>
        </p:nvSpPr>
        <p:spPr>
          <a:xfrm>
            <a:off x="566928" y="5486400"/>
            <a:ext cx="8101583" cy="1051560"/>
          </a:xfrm>
          <a:prstGeom prst="rect">
            <a:avLst/>
          </a:prstGeom>
          <a:noFill/>
        </p:spPr>
        <p:txBody>
          <a:bodyPr wrap="square">
            <a:spAutoFit/>
          </a:bodyPr>
          <a:lstStyle/>
          <a:p>
            <a:pPr>
              <a:spcBef>
                <a:spcPts val="200"/>
              </a:spcBef>
              <a:spcAft>
                <a:spcPts val="700"/>
              </a:spcAft>
            </a:pPr>
            <a:r>
              <a:rPr sz="1300" b="1">
                <a:solidFill>
                  <a:srgbClr val="1A1A1A"/>
                </a:solidFill>
                <a:latin typeface="Times New Roman"/>
              </a:rPr>
              <a:t>▪  The quantum kernel reproduces the classical RBF result to within 0.0000 on the same 400 rows — at roughly 84× (PennyLane) and 15,000× (Qiskit) the compute cost.</a:t>
            </a:r>
          </a:p>
          <a:p>
            <a:pPr lvl="1">
              <a:spcBef>
                <a:spcPts val="0"/>
              </a:spcBef>
              <a:spcAft>
                <a:spcPts val="700"/>
              </a:spcAft>
            </a:pPr>
            <a:r>
              <a:rPr sz="1170" b="0">
                <a:solidFill>
                  <a:srgbClr val="555F6B"/>
                </a:solidFill>
                <a:latin typeface="Times New Roman"/>
              </a:rPr>
              <a:t>     –  Cross-framework agreement of 0.27% between two independent implementations validates that the circuits are correct.</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Interim Report Status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E · INTERIM REPORT</a:t>
            </a:r>
          </a:p>
        </p:txBody>
      </p:sp>
      <p:graphicFrame>
        <p:nvGraphicFramePr>
          <p:cNvPr id="5" name="Table 4"/>
          <p:cNvGraphicFramePr>
            <a:graphicFrameLocks noGrp="1"/>
          </p:cNvGraphicFramePr>
          <p:nvPr/>
        </p:nvGraphicFramePr>
        <p:xfrm>
          <a:off x="754380" y="1938528"/>
          <a:ext cx="7635240" cy="4023360"/>
        </p:xfrm>
        <a:graphic>
          <a:graphicData uri="http://schemas.openxmlformats.org/drawingml/2006/table">
            <a:tbl>
              <a:tblPr firstRow="1" bandRow="1">
                <a:tableStyleId>{5C22544A-7EE6-4342-B048-85BDC9FD1C3A}</a:tableStyleId>
              </a:tblPr>
              <a:tblGrid>
                <a:gridCol w="1783080"/>
                <a:gridCol w="4754880"/>
                <a:gridCol w="1097280"/>
              </a:tblGrid>
              <a:tr h="402336">
                <a:tc>
                  <a:txBody>
                    <a:bodyPr/>
                    <a:lstStyle/>
                    <a:p>
                      <a:r>
                        <a:rPr sz="1100" b="1">
                          <a:solidFill>
                            <a:srgbClr val="FFFFFF"/>
                          </a:solidFill>
                          <a:latin typeface="Times New Roman"/>
                        </a:rPr>
                        <a:t>Section</a:t>
                      </a:r>
                    </a:p>
                  </a:txBody>
                  <a:tcPr marL="54864" marR="54864" marT="27432" marB="27432" anchor="ctr">
                    <a:solidFill>
                      <a:srgbClr val="1B3A5C"/>
                    </a:solidFill>
                  </a:tcPr>
                </a:tc>
                <a:tc>
                  <a:txBody>
                    <a:bodyPr/>
                    <a:lstStyle/>
                    <a:p>
                      <a:r>
                        <a:rPr sz="1100" b="1">
                          <a:solidFill>
                            <a:srgbClr val="FFFFFF"/>
                          </a:solidFill>
                          <a:latin typeface="Times New Roman"/>
                        </a:rPr>
                        <a:t>Content</a:t>
                      </a:r>
                    </a:p>
                  </a:txBody>
                  <a:tcPr marL="54864" marR="54864" marT="27432" marB="27432" anchor="ctr">
                    <a:solidFill>
                      <a:srgbClr val="1B3A5C"/>
                    </a:solidFill>
                  </a:tcPr>
                </a:tc>
                <a:tc>
                  <a:txBody>
                    <a:bodyPr/>
                    <a:lstStyle/>
                    <a:p>
                      <a:r>
                        <a:rPr sz="1100" b="1">
                          <a:solidFill>
                            <a:srgbClr val="FFFFFF"/>
                          </a:solidFill>
                          <a:latin typeface="Times New Roman"/>
                        </a:rPr>
                        <a:t>Status</a:t>
                      </a:r>
                    </a:p>
                  </a:txBody>
                  <a:tcPr marL="54864" marR="54864" marT="27432" marB="27432" anchor="ctr">
                    <a:solidFill>
                      <a:srgbClr val="1B3A5C"/>
                    </a:solidFill>
                  </a:tcPr>
                </a:tc>
              </a:tr>
              <a:tr h="402336">
                <a:tc>
                  <a:txBody>
                    <a:bodyPr/>
                    <a:lstStyle/>
                    <a:p>
                      <a:r>
                        <a:rPr sz="1050" b="0">
                          <a:solidFill>
                            <a:srgbClr val="1A1A1A"/>
                          </a:solidFill>
                          <a:latin typeface="Times New Roman"/>
                        </a:rPr>
                        <a:t>I. Introduction</a:t>
                      </a:r>
                    </a:p>
                  </a:txBody>
                  <a:tcPr marL="54864" marR="54864" marT="22860" marB="22860" anchor="ctr">
                    <a:solidFill>
                      <a:srgbClr val="E8EEF5"/>
                    </a:solidFill>
                  </a:tcPr>
                </a:tc>
                <a:tc>
                  <a:txBody>
                    <a:bodyPr/>
                    <a:lstStyle/>
                    <a:p>
                      <a:r>
                        <a:rPr sz="1050" b="0">
                          <a:solidFill>
                            <a:srgbClr val="1A1A1A"/>
                          </a:solidFill>
                          <a:latin typeface="Times New Roman"/>
                        </a:rPr>
                        <a:t>Motivation, contributions, scope</a:t>
                      </a:r>
                    </a:p>
                  </a:txBody>
                  <a:tcPr marL="54864" marR="54864" marT="22860" marB="22860" anchor="ctr">
                    <a:solidFill>
                      <a:srgbClr val="E8EEF5"/>
                    </a:solidFill>
                  </a:tcPr>
                </a:tc>
                <a:tc>
                  <a:txBody>
                    <a:bodyPr/>
                    <a:lstStyle/>
                    <a:p>
                      <a:r>
                        <a:rPr sz="1050" b="1">
                          <a:solidFill>
                            <a:srgbClr val="1A1A1A"/>
                          </a:solidFill>
                          <a:latin typeface="Times New Roman"/>
                        </a:rPr>
                        <a:t>Complete</a:t>
                      </a:r>
                    </a:p>
                  </a:txBody>
                  <a:tcPr marL="54864" marR="54864" marT="22860" marB="22860" anchor="ctr">
                    <a:solidFill>
                      <a:srgbClr val="E8EEF5"/>
                    </a:solidFill>
                  </a:tcPr>
                </a:tc>
              </a:tr>
              <a:tr h="402336">
                <a:tc>
                  <a:txBody>
                    <a:bodyPr/>
                    <a:lstStyle/>
                    <a:p>
                      <a:r>
                        <a:rPr sz="1050" b="0">
                          <a:solidFill>
                            <a:srgbClr val="1A1A1A"/>
                          </a:solidFill>
                          <a:latin typeface="Times New Roman"/>
                        </a:rPr>
                        <a:t>II. Related Work</a:t>
                      </a:r>
                    </a:p>
                  </a:txBody>
                  <a:tcPr marL="54864" marR="54864" marT="22860" marB="22860" anchor="ctr">
                    <a:solidFill>
                      <a:srgbClr val="FFFFFF"/>
                    </a:solidFill>
                  </a:tcPr>
                </a:tc>
                <a:tc>
                  <a:txBody>
                    <a:bodyPr/>
                    <a:lstStyle/>
                    <a:p>
                      <a:r>
                        <a:rPr sz="1050" b="0">
                          <a:solidFill>
                            <a:srgbClr val="1A1A1A"/>
                          </a:solidFill>
                          <a:latin typeface="Times New Roman"/>
                        </a:rPr>
                        <a:t>4 subsections, 14 references, positioning</a:t>
                      </a:r>
                    </a:p>
                  </a:txBody>
                  <a:tcPr marL="54864" marR="54864" marT="22860" marB="22860" anchor="ctr">
                    <a:solidFill>
                      <a:srgbClr val="FFFFFF"/>
                    </a:solidFill>
                  </a:tcPr>
                </a:tc>
                <a:tc>
                  <a:txBody>
                    <a:bodyPr/>
                    <a:lstStyle/>
                    <a:p>
                      <a:r>
                        <a:rPr sz="1050" b="1">
                          <a:solidFill>
                            <a:srgbClr val="1A1A1A"/>
                          </a:solidFill>
                          <a:latin typeface="Times New Roman"/>
                        </a:rPr>
                        <a:t>Complete</a:t>
                      </a:r>
                    </a:p>
                  </a:txBody>
                  <a:tcPr marL="54864" marR="54864" marT="22860" marB="22860" anchor="ctr">
                    <a:solidFill>
                      <a:srgbClr val="FFFFFF"/>
                    </a:solidFill>
                  </a:tcPr>
                </a:tc>
              </a:tr>
              <a:tr h="402336">
                <a:tc>
                  <a:txBody>
                    <a:bodyPr/>
                    <a:lstStyle/>
                    <a:p>
                      <a:r>
                        <a:rPr sz="1050" b="0">
                          <a:solidFill>
                            <a:srgbClr val="1A1A1A"/>
                          </a:solidFill>
                          <a:latin typeface="Times New Roman"/>
                        </a:rPr>
                        <a:t>III. System Architecture</a:t>
                      </a:r>
                    </a:p>
                  </a:txBody>
                  <a:tcPr marL="54864" marR="54864" marT="22860" marB="22860" anchor="ctr">
                    <a:solidFill>
                      <a:srgbClr val="E8EEF5"/>
                    </a:solidFill>
                  </a:tcPr>
                </a:tc>
                <a:tc>
                  <a:txBody>
                    <a:bodyPr/>
                    <a:lstStyle/>
                    <a:p>
                      <a:r>
                        <a:rPr sz="1050" b="0">
                          <a:solidFill>
                            <a:srgbClr val="1A1A1A"/>
                          </a:solidFill>
                          <a:latin typeface="Times New Roman"/>
                        </a:rPr>
                        <a:t>Four stages and the integration contract</a:t>
                      </a:r>
                    </a:p>
                  </a:txBody>
                  <a:tcPr marL="54864" marR="54864" marT="22860" marB="22860" anchor="ctr">
                    <a:solidFill>
                      <a:srgbClr val="E8EEF5"/>
                    </a:solidFill>
                  </a:tcPr>
                </a:tc>
                <a:tc>
                  <a:txBody>
                    <a:bodyPr/>
                    <a:lstStyle/>
                    <a:p>
                      <a:r>
                        <a:rPr sz="1050" b="1">
                          <a:solidFill>
                            <a:srgbClr val="1A1A1A"/>
                          </a:solidFill>
                          <a:latin typeface="Times New Roman"/>
                        </a:rPr>
                        <a:t>Complete</a:t>
                      </a:r>
                    </a:p>
                  </a:txBody>
                  <a:tcPr marL="54864" marR="54864" marT="22860" marB="22860" anchor="ctr">
                    <a:solidFill>
                      <a:srgbClr val="E8EEF5"/>
                    </a:solidFill>
                  </a:tcPr>
                </a:tc>
              </a:tr>
              <a:tr h="402336">
                <a:tc>
                  <a:txBody>
                    <a:bodyPr/>
                    <a:lstStyle/>
                    <a:p>
                      <a:r>
                        <a:rPr sz="1050" b="0">
                          <a:solidFill>
                            <a:srgbClr val="1A1A1A"/>
                          </a:solidFill>
                          <a:latin typeface="Times New Roman"/>
                        </a:rPr>
                        <a:t>IV. ML Pipeline</a:t>
                      </a:r>
                    </a:p>
                  </a:txBody>
                  <a:tcPr marL="54864" marR="54864" marT="22860" marB="22860" anchor="ctr">
                    <a:solidFill>
                      <a:srgbClr val="FFFFFF"/>
                    </a:solidFill>
                  </a:tcPr>
                </a:tc>
                <a:tc>
                  <a:txBody>
                    <a:bodyPr/>
                    <a:lstStyle/>
                    <a:p>
                      <a:r>
                        <a:rPr sz="1050" b="0">
                          <a:solidFill>
                            <a:srgbClr val="1A1A1A"/>
                          </a:solidFill>
                          <a:latin typeface="Times New Roman"/>
                        </a:rPr>
                        <a:t>Preprocessing, sentiment, emotion, behaviour, fusion, scoring</a:t>
                      </a:r>
                    </a:p>
                  </a:txBody>
                  <a:tcPr marL="54864" marR="54864" marT="22860" marB="22860" anchor="ctr">
                    <a:solidFill>
                      <a:srgbClr val="FFFFFF"/>
                    </a:solidFill>
                  </a:tcPr>
                </a:tc>
                <a:tc>
                  <a:txBody>
                    <a:bodyPr/>
                    <a:lstStyle/>
                    <a:p>
                      <a:r>
                        <a:rPr sz="1050" b="1">
                          <a:solidFill>
                            <a:srgbClr val="1A1A1A"/>
                          </a:solidFill>
                          <a:latin typeface="Times New Roman"/>
                        </a:rPr>
                        <a:t>Complete</a:t>
                      </a:r>
                    </a:p>
                  </a:txBody>
                  <a:tcPr marL="54864" marR="54864" marT="22860" marB="22860" anchor="ctr">
                    <a:solidFill>
                      <a:srgbClr val="FFFFFF"/>
                    </a:solidFill>
                  </a:tcPr>
                </a:tc>
              </a:tr>
              <a:tr h="402336">
                <a:tc>
                  <a:txBody>
                    <a:bodyPr/>
                    <a:lstStyle/>
                    <a:p>
                      <a:r>
                        <a:rPr sz="1050" b="0">
                          <a:solidFill>
                            <a:srgbClr val="1A1A1A"/>
                          </a:solidFill>
                          <a:latin typeface="Times New Roman"/>
                        </a:rPr>
                        <a:t>V. RAG Backend</a:t>
                      </a:r>
                    </a:p>
                  </a:txBody>
                  <a:tcPr marL="54864" marR="54864" marT="22860" marB="22860" anchor="ctr">
                    <a:solidFill>
                      <a:srgbClr val="E8EEF5"/>
                    </a:solidFill>
                  </a:tcPr>
                </a:tc>
                <a:tc>
                  <a:txBody>
                    <a:bodyPr/>
                    <a:lstStyle/>
                    <a:p>
                      <a:r>
                        <a:rPr sz="1050" b="0">
                          <a:solidFill>
                            <a:srgbClr val="1A1A1A"/>
                          </a:solidFill>
                          <a:latin typeface="Times New Roman"/>
                        </a:rPr>
                        <a:t>Embedding, retrieval, prompting, generation</a:t>
                      </a:r>
                    </a:p>
                  </a:txBody>
                  <a:tcPr marL="54864" marR="54864" marT="22860" marB="22860" anchor="ctr">
                    <a:solidFill>
                      <a:srgbClr val="E8EEF5"/>
                    </a:solidFill>
                  </a:tcPr>
                </a:tc>
                <a:tc>
                  <a:txBody>
                    <a:bodyPr/>
                    <a:lstStyle/>
                    <a:p>
                      <a:r>
                        <a:rPr sz="1050" b="1">
                          <a:solidFill>
                            <a:srgbClr val="1A1A1A"/>
                          </a:solidFill>
                          <a:latin typeface="Times New Roman"/>
                        </a:rPr>
                        <a:t>Complete</a:t>
                      </a:r>
                    </a:p>
                  </a:txBody>
                  <a:tcPr marL="54864" marR="54864" marT="22860" marB="22860" anchor="ctr">
                    <a:solidFill>
                      <a:srgbClr val="E8EEF5"/>
                    </a:solidFill>
                  </a:tcPr>
                </a:tc>
              </a:tr>
              <a:tr h="402336">
                <a:tc>
                  <a:txBody>
                    <a:bodyPr/>
                    <a:lstStyle/>
                    <a:p>
                      <a:r>
                        <a:rPr sz="1050" b="0">
                          <a:solidFill>
                            <a:srgbClr val="1A1A1A"/>
                          </a:solidFill>
                          <a:latin typeface="Times New Roman"/>
                        </a:rPr>
                        <a:t>VI. Dashboard</a:t>
                      </a:r>
                    </a:p>
                  </a:txBody>
                  <a:tcPr marL="54864" marR="54864" marT="22860" marB="22860" anchor="ctr">
                    <a:solidFill>
                      <a:srgbClr val="FFFFFF"/>
                    </a:solidFill>
                  </a:tcPr>
                </a:tc>
                <a:tc>
                  <a:txBody>
                    <a:bodyPr/>
                    <a:lstStyle/>
                    <a:p>
                      <a:r>
                        <a:rPr sz="1050" b="0">
                          <a:solidFill>
                            <a:srgbClr val="1A1A1A"/>
                          </a:solidFill>
                          <a:latin typeface="Times New Roman"/>
                        </a:rPr>
                        <a:t>Interface design and explainability panel</a:t>
                      </a:r>
                    </a:p>
                  </a:txBody>
                  <a:tcPr marL="54864" marR="54864" marT="22860" marB="22860" anchor="ctr">
                    <a:solidFill>
                      <a:srgbClr val="FFFFFF"/>
                    </a:solidFill>
                  </a:tcPr>
                </a:tc>
                <a:tc>
                  <a:txBody>
                    <a:bodyPr/>
                    <a:lstStyle/>
                    <a:p>
                      <a:r>
                        <a:rPr sz="1050" b="1">
                          <a:solidFill>
                            <a:srgbClr val="1A1A1A"/>
                          </a:solidFill>
                          <a:latin typeface="Times New Roman"/>
                        </a:rPr>
                        <a:t>Complete</a:t>
                      </a:r>
                    </a:p>
                  </a:txBody>
                  <a:tcPr marL="54864" marR="54864" marT="22860" marB="22860" anchor="ctr">
                    <a:solidFill>
                      <a:srgbClr val="FFFFFF"/>
                    </a:solidFill>
                  </a:tcPr>
                </a:tc>
              </a:tr>
              <a:tr h="402336">
                <a:tc>
                  <a:txBody>
                    <a:bodyPr/>
                    <a:lstStyle/>
                    <a:p>
                      <a:r>
                        <a:rPr sz="1050" b="0">
                          <a:solidFill>
                            <a:srgbClr val="1A1A1A"/>
                          </a:solidFill>
                          <a:latin typeface="Times New Roman"/>
                        </a:rPr>
                        <a:t>VII. Verification</a:t>
                      </a:r>
                    </a:p>
                  </a:txBody>
                  <a:tcPr marL="54864" marR="54864" marT="22860" marB="22860" anchor="ctr">
                    <a:solidFill>
                      <a:srgbClr val="E8EEF5"/>
                    </a:solidFill>
                  </a:tcPr>
                </a:tc>
                <a:tc>
                  <a:txBody>
                    <a:bodyPr/>
                    <a:lstStyle/>
                    <a:p>
                      <a:r>
                        <a:rPr sz="1050" b="0">
                          <a:solidFill>
                            <a:srgbClr val="1A1A1A"/>
                          </a:solidFill>
                          <a:latin typeface="Times New Roman"/>
                        </a:rPr>
                        <a:t>5 subsections — attribution, sparsity, classification quality</a:t>
                      </a:r>
                    </a:p>
                  </a:txBody>
                  <a:tcPr marL="54864" marR="54864" marT="22860" marB="22860" anchor="ctr">
                    <a:solidFill>
                      <a:srgbClr val="E8EEF5"/>
                    </a:solidFill>
                  </a:tcPr>
                </a:tc>
                <a:tc>
                  <a:txBody>
                    <a:bodyPr/>
                    <a:lstStyle/>
                    <a:p>
                      <a:r>
                        <a:rPr sz="1050" b="1">
                          <a:solidFill>
                            <a:srgbClr val="1A1A1A"/>
                          </a:solidFill>
                          <a:latin typeface="Times New Roman"/>
                        </a:rPr>
                        <a:t>Complete</a:t>
                      </a:r>
                    </a:p>
                  </a:txBody>
                  <a:tcPr marL="54864" marR="54864" marT="22860" marB="22860" anchor="ctr">
                    <a:solidFill>
                      <a:srgbClr val="E8EEF5"/>
                    </a:solidFill>
                  </a:tcPr>
                </a:tc>
              </a:tr>
              <a:tr h="402336">
                <a:tc>
                  <a:txBody>
                    <a:bodyPr/>
                    <a:lstStyle/>
                    <a:p>
                      <a:r>
                        <a:rPr sz="1050" b="0">
                          <a:solidFill>
                            <a:srgbClr val="1A1A1A"/>
                          </a:solidFill>
                          <a:latin typeface="Times New Roman"/>
                        </a:rPr>
                        <a:t>VIII. Defects</a:t>
                      </a:r>
                    </a:p>
                  </a:txBody>
                  <a:tcPr marL="54864" marR="54864" marT="22860" marB="22860" anchor="ctr">
                    <a:solidFill>
                      <a:srgbClr val="FFFFFF"/>
                    </a:solidFill>
                  </a:tcPr>
                </a:tc>
                <a:tc>
                  <a:txBody>
                    <a:bodyPr/>
                    <a:lstStyle/>
                    <a:p>
                      <a:r>
                        <a:rPr sz="1050" b="0">
                          <a:solidFill>
                            <a:srgbClr val="1A1A1A"/>
                          </a:solidFill>
                          <a:latin typeface="Times New Roman"/>
                        </a:rPr>
                        <a:t>Every defect found, its disposition and its owner</a:t>
                      </a:r>
                    </a:p>
                  </a:txBody>
                  <a:tcPr marL="54864" marR="54864" marT="22860" marB="22860" anchor="ctr">
                    <a:solidFill>
                      <a:srgbClr val="FFFFFF"/>
                    </a:solidFill>
                  </a:tcPr>
                </a:tc>
                <a:tc>
                  <a:txBody>
                    <a:bodyPr/>
                    <a:lstStyle/>
                    <a:p>
                      <a:r>
                        <a:rPr sz="1050" b="1">
                          <a:solidFill>
                            <a:srgbClr val="1A1A1A"/>
                          </a:solidFill>
                          <a:latin typeface="Times New Roman"/>
                        </a:rPr>
                        <a:t>Complete</a:t>
                      </a:r>
                    </a:p>
                  </a:txBody>
                  <a:tcPr marL="54864" marR="54864" marT="22860" marB="22860" anchor="ctr">
                    <a:solidFill>
                      <a:srgbClr val="FFFFFF"/>
                    </a:solidFill>
                  </a:tcPr>
                </a:tc>
              </a:tr>
              <a:tr h="402336">
                <a:tc>
                  <a:txBody>
                    <a:bodyPr/>
                    <a:lstStyle/>
                    <a:p>
                      <a:r>
                        <a:rPr sz="1050" b="0">
                          <a:solidFill>
                            <a:srgbClr val="1A1A1A"/>
                          </a:solidFill>
                          <a:latin typeface="Times New Roman"/>
                        </a:rPr>
                        <a:t>IX. Future Work</a:t>
                      </a:r>
                    </a:p>
                  </a:txBody>
                  <a:tcPr marL="54864" marR="54864" marT="22860" marB="22860" anchor="ctr">
                    <a:solidFill>
                      <a:srgbClr val="E8EEF5"/>
                    </a:solidFill>
                  </a:tcPr>
                </a:tc>
                <a:tc>
                  <a:txBody>
                    <a:bodyPr/>
                    <a:lstStyle/>
                    <a:p>
                      <a:r>
                        <a:rPr sz="1050" b="0">
                          <a:solidFill>
                            <a:srgbClr val="1A1A1A"/>
                          </a:solidFill>
                          <a:latin typeface="Times New Roman"/>
                        </a:rPr>
                        <a:t>Validation study, temporal modelling, deployment</a:t>
                      </a:r>
                    </a:p>
                  </a:txBody>
                  <a:tcPr marL="54864" marR="54864" marT="22860" marB="22860" anchor="ctr">
                    <a:solidFill>
                      <a:srgbClr val="E8EEF5"/>
                    </a:solidFill>
                  </a:tcPr>
                </a:tc>
                <a:tc>
                  <a:txBody>
                    <a:bodyPr/>
                    <a:lstStyle/>
                    <a:p>
                      <a:r>
                        <a:rPr sz="1050" b="1">
                          <a:solidFill>
                            <a:srgbClr val="1A1A1A"/>
                          </a:solidFill>
                          <a:latin typeface="Times New Roman"/>
                        </a:rPr>
                        <a:t>Complete</a:t>
                      </a:r>
                    </a:p>
                  </a:txBody>
                  <a:tcPr marL="54864" marR="54864" marT="22860" marB="22860" anchor="ctr">
                    <a:solidFill>
                      <a:srgbClr val="E8EEF5"/>
                    </a:solidFill>
                  </a:tcPr>
                </a:tc>
              </a:tr>
            </a:tbl>
          </a:graphicData>
        </a:graphic>
      </p:graphicFrame>
      <p:sp>
        <p:nvSpPr>
          <p:cNvPr id="6" name="TextBox 5"/>
          <p:cNvSpPr txBox="1"/>
          <p:nvPr/>
        </p:nvSpPr>
        <p:spPr>
          <a:xfrm>
            <a:off x="566928" y="6089904"/>
            <a:ext cx="8101583" cy="502920"/>
          </a:xfrm>
          <a:prstGeom prst="rect">
            <a:avLst/>
          </a:prstGeom>
          <a:noFill/>
        </p:spPr>
        <p:txBody>
          <a:bodyPr wrap="square">
            <a:spAutoFit/>
          </a:bodyPr>
          <a:lstStyle/>
          <a:p>
            <a:r>
              <a:rPr sz="1150" i="1" b="1">
                <a:solidFill>
                  <a:srgbClr val="8A6D12"/>
                </a:solidFill>
                <a:latin typeface="Times New Roman"/>
              </a:rPr>
              <a:t>Drafted in IEEE conference format with 11 figures. Under review by our guide, Dr. Shubha Puthran.</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Project Timeline and Progress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E · INTERIM REPORT</a:t>
            </a:r>
          </a:p>
        </p:txBody>
      </p:sp>
      <p:pic>
        <p:nvPicPr>
          <p:cNvPr id="5" name="Picture 4" descr="timeline.png"/>
          <p:cNvPicPr>
            <a:picLocks noChangeAspect="1"/>
          </p:cNvPicPr>
          <p:nvPr/>
        </p:nvPicPr>
        <p:blipFill>
          <a:blip r:embed="rId2"/>
          <a:stretch>
            <a:fillRect/>
          </a:stretch>
        </p:blipFill>
        <p:spPr>
          <a:xfrm>
            <a:off x="801088" y="2011680"/>
            <a:ext cx="7541823" cy="4114800"/>
          </a:xfrm>
          <a:prstGeom prst="rect">
            <a:avLst/>
          </a:prstGeom>
        </p:spPr>
      </p:pic>
      <p:sp>
        <p:nvSpPr>
          <p:cNvPr id="6" name="TextBox 5"/>
          <p:cNvSpPr txBox="1"/>
          <p:nvPr/>
        </p:nvSpPr>
        <p:spPr>
          <a:xfrm>
            <a:off x="566928" y="6199632"/>
            <a:ext cx="8101583" cy="502920"/>
          </a:xfrm>
          <a:prstGeom prst="rect">
            <a:avLst/>
          </a:prstGeom>
          <a:noFill/>
        </p:spPr>
        <p:txBody>
          <a:bodyPr wrap="square">
            <a:spAutoFit/>
          </a:bodyPr>
          <a:lstStyle/>
          <a:p>
            <a:r>
              <a:rPr sz="1200" i="1" b="1">
                <a:solidFill>
                  <a:srgbClr val="8A6D12"/>
                </a:solidFill>
                <a:latin typeface="Times New Roman"/>
              </a:rPr>
              <a:t>16 workstreams across 8 weeks, all complete and on schedule.</a:t>
            </a:r>
          </a:p>
        </p:txBody>
      </p:sp>
      <p:sp>
        <p:nvSpPr>
          <p:cNvPr id="7" name="TextBox 6"/>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Limitations and Ethical Considerations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75488" y="6428232"/>
            <a:ext cx="4754880" cy="256032"/>
          </a:xfrm>
          <a:prstGeom prst="rect">
            <a:avLst/>
          </a:prstGeom>
          <a:noFill/>
        </p:spPr>
        <p:txBody>
          <a:bodyPr wrap="none">
            <a:spAutoFit/>
          </a:bodyPr>
          <a:lstStyle/>
          <a:p>
            <a:pPr algn="l"/>
            <a:r>
              <a:rPr sz="1050" b="1">
                <a:solidFill>
                  <a:srgbClr val="8A6D12"/>
                </a:solidFill>
                <a:latin typeface="Times New Roman"/>
              </a:rPr>
              <a:t>RUBRIC E · INTERIM REPORT</a:t>
            </a:r>
          </a:p>
        </p:txBody>
      </p:sp>
      <p:graphicFrame>
        <p:nvGraphicFramePr>
          <p:cNvPr id="5" name="Table 4"/>
          <p:cNvGraphicFramePr>
            <a:graphicFrameLocks noGrp="1"/>
          </p:cNvGraphicFramePr>
          <p:nvPr/>
        </p:nvGraphicFramePr>
        <p:xfrm>
          <a:off x="566928" y="1975104"/>
          <a:ext cx="8046720" cy="4169664"/>
        </p:xfrm>
        <a:graphic>
          <a:graphicData uri="http://schemas.openxmlformats.org/drawingml/2006/table">
            <a:tbl>
              <a:tblPr firstRow="1" bandRow="1">
                <a:tableStyleId>{5C22544A-7EE6-4342-B048-85BDC9FD1C3A}</a:tableStyleId>
              </a:tblPr>
              <a:tblGrid>
                <a:gridCol w="3017520"/>
                <a:gridCol w="5029200"/>
              </a:tblGrid>
              <a:tr h="694944">
                <a:tc>
                  <a:txBody>
                    <a:bodyPr/>
                    <a:lstStyle/>
                    <a:p>
                      <a:r>
                        <a:rPr sz="1250" b="1">
                          <a:solidFill>
                            <a:srgbClr val="FFFFFF"/>
                          </a:solidFill>
                          <a:latin typeface="Times New Roman"/>
                        </a:rPr>
                        <a:t>Limitation</a:t>
                      </a:r>
                    </a:p>
                  </a:txBody>
                  <a:tcPr marL="54864" marR="54864" marT="27432" marB="27432" anchor="ctr">
                    <a:solidFill>
                      <a:srgbClr val="1B3A5C"/>
                    </a:solidFill>
                  </a:tcPr>
                </a:tc>
                <a:tc>
                  <a:txBody>
                    <a:bodyPr/>
                    <a:lstStyle/>
                    <a:p>
                      <a:r>
                        <a:rPr sz="1250" b="1">
                          <a:solidFill>
                            <a:srgbClr val="FFFFFF"/>
                          </a:solidFill>
                          <a:latin typeface="Times New Roman"/>
                        </a:rPr>
                        <a:t>How we are handling it</a:t>
                      </a:r>
                    </a:p>
                  </a:txBody>
                  <a:tcPr marL="54864" marR="54864" marT="27432" marB="27432" anchor="ctr">
                    <a:solidFill>
                      <a:srgbClr val="1B3A5C"/>
                    </a:solidFill>
                  </a:tcPr>
                </a:tc>
              </a:tr>
              <a:tr h="694944">
                <a:tc>
                  <a:txBody>
                    <a:bodyPr/>
                    <a:lstStyle/>
                    <a:p>
                      <a:r>
                        <a:rPr sz="1150" b="0">
                          <a:solidFill>
                            <a:srgbClr val="1A1A1A"/>
                          </a:solidFill>
                          <a:latin typeface="Times New Roman"/>
                        </a:rPr>
                        <a:t>No clinically labelled ground truth for burnout</a:t>
                      </a:r>
                    </a:p>
                  </a:txBody>
                  <a:tcPr marL="54864" marR="54864" marT="22860" marB="22860" anchor="ctr">
                    <a:solidFill>
                      <a:srgbClr val="E8EEF5"/>
                    </a:solidFill>
                  </a:tcPr>
                </a:tc>
                <a:tc>
                  <a:txBody>
                    <a:bodyPr/>
                    <a:lstStyle/>
                    <a:p>
                      <a:r>
                        <a:rPr sz="1150" b="0">
                          <a:solidFill>
                            <a:srgbClr val="1A1A1A"/>
                          </a:solidFill>
                          <a:latin typeface="Times New Roman"/>
                        </a:rPr>
                        <a:t>We report risk bands, never a diagnosis; a validation study against the Maslach inventory is planned</a:t>
                      </a:r>
                    </a:p>
                  </a:txBody>
                  <a:tcPr marL="54864" marR="54864" marT="22860" marB="22860" anchor="ctr">
                    <a:solidFill>
                      <a:srgbClr val="E8EEF5"/>
                    </a:solidFill>
                  </a:tcPr>
                </a:tc>
              </a:tr>
              <a:tr h="694944">
                <a:tc>
                  <a:txBody>
                    <a:bodyPr/>
                    <a:lstStyle/>
                    <a:p>
                      <a:r>
                        <a:rPr sz="1150" b="0">
                          <a:solidFill>
                            <a:srgbClr val="1A1A1A"/>
                          </a:solidFill>
                          <a:latin typeface="Times New Roman"/>
                        </a:rPr>
                        <a:t>Behavioural features measured on cleaned text lose punctuation and casing</a:t>
                      </a:r>
                    </a:p>
                  </a:txBody>
                  <a:tcPr marL="54864" marR="54864" marT="22860" marB="22860" anchor="ctr">
                    <a:solidFill>
                      <a:srgbClr val="FFFFFF"/>
                    </a:solidFill>
                  </a:tcPr>
                </a:tc>
                <a:tc>
                  <a:txBody>
                    <a:bodyPr/>
                    <a:lstStyle/>
                    <a:p>
                      <a:r>
                        <a:rPr sz="1150" b="0">
                          <a:solidFill>
                            <a:srgbClr val="1A1A1A"/>
                          </a:solidFill>
                          <a:latin typeface="Times New Roman"/>
                        </a:rPr>
                        <a:t>Documented in the report as a defect owned by the preprocessing stage; the fix belongs upstream</a:t>
                      </a:r>
                    </a:p>
                  </a:txBody>
                  <a:tcPr marL="54864" marR="54864" marT="22860" marB="22860" anchor="ctr">
                    <a:solidFill>
                      <a:srgbClr val="FFFFFF"/>
                    </a:solidFill>
                  </a:tcPr>
                </a:tc>
              </a:tr>
              <a:tr h="694944">
                <a:tc>
                  <a:txBody>
                    <a:bodyPr/>
                    <a:lstStyle/>
                    <a:p>
                      <a:r>
                        <a:rPr sz="1150" b="0">
                          <a:solidFill>
                            <a:srgbClr val="1A1A1A"/>
                          </a:solidFill>
                          <a:latin typeface="Times New Roman"/>
                        </a:rPr>
                        <a:t>Emotion counts are sparse on short messages</a:t>
                      </a:r>
                    </a:p>
                  </a:txBody>
                  <a:tcPr marL="54864" marR="54864" marT="22860" marB="22860" anchor="ctr">
                    <a:solidFill>
                      <a:srgbClr val="E8EEF5"/>
                    </a:solidFill>
                  </a:tcPr>
                </a:tc>
                <a:tc>
                  <a:txBody>
                    <a:bodyPr/>
                    <a:lstStyle/>
                    <a:p>
                      <a:r>
                        <a:rPr sz="1150" b="0">
                          <a:solidFill>
                            <a:srgbClr val="1A1A1A"/>
                          </a:solidFill>
                          <a:latin typeface="Times New Roman"/>
                        </a:rPr>
                        <a:t>Reported honestly as “neutral” rather than forcing a dominant emotion</a:t>
                      </a:r>
                    </a:p>
                  </a:txBody>
                  <a:tcPr marL="54864" marR="54864" marT="22860" marB="22860" anchor="ctr">
                    <a:solidFill>
                      <a:srgbClr val="E8EEF5"/>
                    </a:solidFill>
                  </a:tcPr>
                </a:tc>
              </a:tr>
              <a:tr h="694944">
                <a:tc>
                  <a:txBody>
                    <a:bodyPr/>
                    <a:lstStyle/>
                    <a:p>
                      <a:r>
                        <a:rPr sz="1150" b="0">
                          <a:solidFill>
                            <a:srgbClr val="1A1A1A"/>
                          </a:solidFill>
                          <a:latin typeface="Times New Roman"/>
                        </a:rPr>
                        <a:t>Surveillance risk if deployed carelessly</a:t>
                      </a:r>
                    </a:p>
                  </a:txBody>
                  <a:tcPr marL="54864" marR="54864" marT="22860" marB="22860" anchor="ctr">
                    <a:solidFill>
                      <a:srgbClr val="FFFFFF"/>
                    </a:solidFill>
                  </a:tcPr>
                </a:tc>
                <a:tc>
                  <a:txBody>
                    <a:bodyPr/>
                    <a:lstStyle/>
                    <a:p>
                      <a:r>
                        <a:rPr sz="1150" b="0">
                          <a:solidFill>
                            <a:srgbClr val="1A1A1A"/>
                          </a:solidFill>
                          <a:latin typeface="Times New Roman"/>
                        </a:rPr>
                        <a:t>Designed for aggregate wellbeing insight, pseudonymous IDs, and evidence visible to the person described</a:t>
                      </a:r>
                    </a:p>
                  </a:txBody>
                  <a:tcPr marL="54864" marR="54864" marT="22860" marB="22860" anchor="ctr">
                    <a:solidFill>
                      <a:srgbClr val="FFFFFF"/>
                    </a:solidFill>
                  </a:tcPr>
                </a:tc>
              </a:tr>
              <a:tr h="694944">
                <a:tc>
                  <a:txBody>
                    <a:bodyPr/>
                    <a:lstStyle/>
                    <a:p>
                      <a:r>
                        <a:rPr sz="1150" b="0">
                          <a:solidFill>
                            <a:srgbClr val="1A1A1A"/>
                          </a:solidFill>
                          <a:latin typeface="Times New Roman"/>
                        </a:rPr>
                        <a:t>Enron corpus is a single organisation from one era</a:t>
                      </a:r>
                    </a:p>
                  </a:txBody>
                  <a:tcPr marL="54864" marR="54864" marT="22860" marB="22860" anchor="ctr">
                    <a:solidFill>
                      <a:srgbClr val="E8EEF5"/>
                    </a:solidFill>
                  </a:tcPr>
                </a:tc>
                <a:tc>
                  <a:txBody>
                    <a:bodyPr/>
                    <a:lstStyle/>
                    <a:p>
                      <a:r>
                        <a:rPr sz="1150" b="0">
                          <a:solidFill>
                            <a:srgbClr val="1A1A1A"/>
                          </a:solidFill>
                          <a:latin typeface="Times New Roman"/>
                        </a:rPr>
                        <a:t>Two additional corpora included; generalisation is stated as a threat to validity</a:t>
                      </a:r>
                    </a:p>
                  </a:txBody>
                  <a:tcPr marL="54864" marR="54864" marT="22860" marB="22860" anchor="ctr">
                    <a:solidFill>
                      <a:srgbClr val="E8EEF5"/>
                    </a:solidFill>
                  </a:tcPr>
                </a:tc>
              </a:tr>
            </a:tbl>
          </a:graphicData>
        </a:graphic>
      </p:graphicFrame>
      <p:sp>
        <p:nvSpPr>
          <p:cNvPr id="6" name="TextBox 5"/>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Future Work — Towards the Final Review</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38528"/>
            <a:ext cx="8101583" cy="4389120"/>
          </a:xfrm>
          <a:prstGeom prst="rect">
            <a:avLst/>
          </a:prstGeom>
          <a:noFill/>
        </p:spPr>
        <p:txBody>
          <a:bodyPr wrap="square">
            <a:spAutoFit/>
          </a:bodyPr>
          <a:lstStyle/>
          <a:p>
            <a:pPr>
              <a:spcBef>
                <a:spcPts val="200"/>
              </a:spcBef>
              <a:spcAft>
                <a:spcPts val="700"/>
              </a:spcAft>
            </a:pPr>
            <a:r>
              <a:rPr sz="1550" b="1">
                <a:solidFill>
                  <a:srgbClr val="1A1A1A"/>
                </a:solidFill>
                <a:latin typeface="Times New Roman"/>
              </a:rPr>
              <a:t>▪  Validation — correlate produced risk bands against Maslach Burnout Inventory responses on a consenting sample.</a:t>
            </a:r>
          </a:p>
          <a:p>
            <a:pPr>
              <a:spcBef>
                <a:spcPts val="200"/>
              </a:spcBef>
              <a:spcAft>
                <a:spcPts val="700"/>
              </a:spcAft>
            </a:pPr>
            <a:r>
              <a:rPr sz="1550" b="1">
                <a:solidFill>
                  <a:srgbClr val="1A1A1A"/>
                </a:solidFill>
                <a:latin typeface="Times New Roman"/>
              </a:rPr>
              <a:t>▪  Temporal modelling — track an individual's trajectory over weeks rather than scoring messages independently; trend is a stronger signal than any single message.</a:t>
            </a:r>
          </a:p>
          <a:p>
            <a:pPr>
              <a:spcBef>
                <a:spcPts val="200"/>
              </a:spcBef>
              <a:spcAft>
                <a:spcPts val="700"/>
              </a:spcAft>
            </a:pPr>
            <a:r>
              <a:rPr sz="1550" b="1">
                <a:solidFill>
                  <a:srgbClr val="1A1A1A"/>
                </a:solidFill>
                <a:latin typeface="Times New Roman"/>
              </a:rPr>
              <a:t>▪  Retrieval evaluation — measure recall@k and answer faithfulness against a hand-annotated evidence set.</a:t>
            </a:r>
          </a:p>
          <a:p>
            <a:pPr>
              <a:spcBef>
                <a:spcPts val="200"/>
              </a:spcBef>
              <a:spcAft>
                <a:spcPts val="700"/>
              </a:spcAft>
            </a:pPr>
            <a:r>
              <a:rPr sz="1550" b="1">
                <a:solidFill>
                  <a:srgbClr val="1A1A1A"/>
                </a:solidFill>
                <a:latin typeface="Times New Roman"/>
              </a:rPr>
              <a:t>▪  Deployment — containerise the backend and dashboard; role-based access so managers see aggregates and only the individual sees their own evidence.</a:t>
            </a:r>
          </a:p>
          <a:p>
            <a:pPr>
              <a:spcBef>
                <a:spcPts val="200"/>
              </a:spcBef>
              <a:spcAft>
                <a:spcPts val="700"/>
              </a:spcAft>
            </a:pPr>
            <a:r>
              <a:rPr sz="1550" b="1">
                <a:solidFill>
                  <a:srgbClr val="1A1A1A"/>
                </a:solidFill>
                <a:latin typeface="Times New Roman"/>
              </a:rPr>
              <a:t>▪  Scaling the index — move from ChromaDB to a GPU-backed index for the full 517,401-message corpus.</a:t>
            </a:r>
          </a:p>
          <a:p>
            <a:pPr>
              <a:spcBef>
                <a:spcPts val="200"/>
              </a:spcBef>
              <a:spcAft>
                <a:spcPts val="700"/>
              </a:spcAft>
            </a:pPr>
            <a:r>
              <a:rPr sz="1550" b="1">
                <a:solidFill>
                  <a:srgbClr val="1A1A1A"/>
                </a:solidFill>
                <a:latin typeface="Times New Roman"/>
              </a:rPr>
              <a:t>▪  Paper submission — complete the empirical evaluation and submit to the target venue.</a:t>
            </a:r>
          </a:p>
        </p:txBody>
      </p:sp>
      <p:sp>
        <p:nvSpPr>
          <p:cNvPr id="5" name="TextBox 4"/>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Conclusion</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38528"/>
            <a:ext cx="8101583" cy="4389120"/>
          </a:xfrm>
          <a:prstGeom prst="rect">
            <a:avLst/>
          </a:prstGeom>
          <a:noFill/>
        </p:spPr>
        <p:txBody>
          <a:bodyPr wrap="square">
            <a:spAutoFit/>
          </a:bodyPr>
          <a:lstStyle/>
          <a:p>
            <a:pPr>
              <a:spcBef>
                <a:spcPts val="200"/>
              </a:spcBef>
              <a:spcAft>
                <a:spcPts val="700"/>
              </a:spcAft>
            </a:pPr>
            <a:r>
              <a:rPr sz="1550" b="1">
                <a:solidFill>
                  <a:srgbClr val="1A1A1A"/>
                </a:solidFill>
                <a:latin typeface="Times New Roman"/>
              </a:rPr>
              <a:t>▪  We set out to detect burnout risk from workplace communication and explain every decision using only the evidence that produced it.</a:t>
            </a:r>
          </a:p>
          <a:p>
            <a:pPr lvl="1">
              <a:spcBef>
                <a:spcPts val="0"/>
              </a:spcBef>
              <a:spcAft>
                <a:spcPts val="700"/>
              </a:spcAft>
            </a:pPr>
            <a:r>
              <a:rPr sz="1420" b="0">
                <a:solidFill>
                  <a:srgbClr val="555F6B"/>
                </a:solidFill>
                <a:latin typeface="Times New Roman"/>
              </a:rPr>
              <a:t>     –  All six objectives from topic approval are complete.</a:t>
            </a:r>
          </a:p>
          <a:p>
            <a:pPr lvl="1">
              <a:spcBef>
                <a:spcPts val="0"/>
              </a:spcBef>
              <a:spcAft>
                <a:spcPts val="700"/>
              </a:spcAft>
            </a:pPr>
            <a:r>
              <a:rPr sz="1420" b="0">
                <a:solidFill>
                  <a:srgbClr val="555F6B"/>
                </a:solidFill>
                <a:latin typeface="Times New Roman"/>
              </a:rPr>
              <a:t>     –  The system is running end to end: 3 corpora, an ML pipeline, a RAG backend with 7 endpoints, and an interactive dashboard.</a:t>
            </a:r>
          </a:p>
          <a:p>
            <a:pPr lvl="1">
              <a:spcBef>
                <a:spcPts val="0"/>
              </a:spcBef>
              <a:spcAft>
                <a:spcPts val="700"/>
              </a:spcAft>
            </a:pPr>
            <a:r>
              <a:rPr sz="1420" b="0">
                <a:solidFill>
                  <a:srgbClr val="555F6B"/>
                </a:solidFill>
                <a:latin typeface="Times New Roman"/>
              </a:rPr>
              <a:t>     –  13,914 lines of code, 151 automated tests, 17 self-reported defects found and fixed.</a:t>
            </a:r>
          </a:p>
          <a:p>
            <a:pPr lvl="1">
              <a:spcBef>
                <a:spcPts val="0"/>
              </a:spcBef>
              <a:spcAft>
                <a:spcPts val="700"/>
              </a:spcAft>
            </a:pPr>
            <a:r>
              <a:rPr sz="1420" b="0">
                <a:solidFill>
                  <a:srgbClr val="555F6B"/>
                </a:solidFill>
                <a:latin typeface="Times New Roman"/>
              </a:rPr>
              <a:t>     –  Two extensions beyond the approved scope: document and image ingestion, and a two-framework quantum ML study.</a:t>
            </a:r>
          </a:p>
          <a:p>
            <a:pPr lvl="1">
              <a:spcBef>
                <a:spcPts val="0"/>
              </a:spcBef>
              <a:spcAft>
                <a:spcPts val="700"/>
              </a:spcAft>
            </a:pPr>
            <a:r>
              <a:rPr sz="1420" b="0">
                <a:solidFill>
                  <a:srgbClr val="555F6B"/>
                </a:solidFill>
                <a:latin typeface="Times New Roman"/>
              </a:rPr>
              <a:t>     –  The interim report is complete in IEEE format with 14 references.</a:t>
            </a:r>
          </a:p>
          <a:p>
            <a:pPr>
              <a:spcBef>
                <a:spcPts val="200"/>
              </a:spcBef>
              <a:spcAft>
                <a:spcPts val="700"/>
              </a:spcAft>
            </a:pPr>
            <a:r>
              <a:rPr sz="1550" b="1">
                <a:solidFill>
                  <a:srgbClr val="1A1A1A"/>
                </a:solidFill>
                <a:latin typeface="Times New Roman"/>
              </a:rPr>
              <a:t>▪  The contribution is architectural: prediction and explanation are two problems, and the contract between them is what makes the output trustworthy.</a:t>
            </a:r>
          </a:p>
        </p:txBody>
      </p:sp>
      <p:sp>
        <p:nvSpPr>
          <p:cNvPr id="5" name="TextBox 4"/>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8176"/>
            <a:ext cx="8229600" cy="512064"/>
          </a:xfrm>
          <a:prstGeom prst="rect">
            <a:avLst/>
          </a:prstGeom>
          <a:noFill/>
        </p:spPr>
        <p:txBody>
          <a:bodyPr wrap="square" anchor="t" tIns="0" bIns="0">
            <a:spAutoFit/>
          </a:bodyPr>
          <a:lstStyle/>
          <a:p>
            <a:r>
              <a:rPr sz="2200" b="1">
                <a:solidFill>
                  <a:srgbClr val="1B3A5C"/>
                </a:solidFill>
                <a:latin typeface="Times New Roman"/>
              </a:rPr>
              <a:t>References</a:t>
            </a:r>
          </a:p>
        </p:txBody>
      </p:sp>
      <p:sp>
        <p:nvSpPr>
          <p:cNvPr id="3" name="Rectangle 2"/>
          <p:cNvSpPr/>
          <p:nvPr/>
        </p:nvSpPr>
        <p:spPr>
          <a:xfrm>
            <a:off x="457200" y="1847088"/>
            <a:ext cx="8229600" cy="27940"/>
          </a:xfrm>
          <a:prstGeom prst="rect">
            <a:avLst/>
          </a:prstGeom>
          <a:solidFill>
            <a:srgbClr val="8A6D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938528"/>
            <a:ext cx="8101583" cy="4389120"/>
          </a:xfrm>
          <a:prstGeom prst="rect">
            <a:avLst/>
          </a:prstGeom>
          <a:noFill/>
        </p:spPr>
        <p:txBody>
          <a:bodyPr wrap="square">
            <a:spAutoFit/>
          </a:bodyPr>
          <a:lstStyle/>
          <a:p>
            <a:pPr>
              <a:spcBef>
                <a:spcPts val="200"/>
              </a:spcBef>
              <a:spcAft>
                <a:spcPts val="300"/>
              </a:spcAft>
            </a:pPr>
            <a:r>
              <a:rPr sz="1180" b="0">
                <a:solidFill>
                  <a:srgbClr val="1A1A1A"/>
                </a:solidFill>
                <a:latin typeface="Times New Roman"/>
              </a:rPr>
              <a:t>▪  [1] World Health Organization, “Burn-out an occupational phenomenon,” ICD-11, 2019.</a:t>
            </a:r>
          </a:p>
          <a:p>
            <a:pPr>
              <a:spcBef>
                <a:spcPts val="200"/>
              </a:spcBef>
              <a:spcAft>
                <a:spcPts val="300"/>
              </a:spcAft>
            </a:pPr>
            <a:r>
              <a:rPr sz="1180" b="0">
                <a:solidFill>
                  <a:srgbClr val="1A1A1A"/>
                </a:solidFill>
                <a:latin typeface="Times New Roman"/>
              </a:rPr>
              <a:t>▪  [2] C. Maslach and S. E. Jackson, “The measurement of experienced burnout,” J. Occup. Behav., 1981.</a:t>
            </a:r>
          </a:p>
          <a:p>
            <a:pPr>
              <a:spcBef>
                <a:spcPts val="200"/>
              </a:spcBef>
              <a:spcAft>
                <a:spcPts val="300"/>
              </a:spcAft>
            </a:pPr>
            <a:r>
              <a:rPr sz="1180" b="0">
                <a:solidFill>
                  <a:srgbClr val="1A1A1A"/>
                </a:solidFill>
                <a:latin typeface="Times New Roman"/>
              </a:rPr>
              <a:t>▪  [3] M. D. Xames et al., “Machine learning approaches for employee burnout prediction.”</a:t>
            </a:r>
          </a:p>
          <a:p>
            <a:pPr>
              <a:spcBef>
                <a:spcPts val="200"/>
              </a:spcBef>
              <a:spcAft>
                <a:spcPts val="300"/>
              </a:spcAft>
            </a:pPr>
            <a:r>
              <a:rPr sz="1180" b="0">
                <a:solidFill>
                  <a:srgbClr val="1A1A1A"/>
                </a:solidFill>
                <a:latin typeface="Times New Roman"/>
              </a:rPr>
              <a:t>▪  [4] A. Vaswani et al., “Attention is all you need,” NeurIPS, 2017.</a:t>
            </a:r>
          </a:p>
          <a:p>
            <a:pPr>
              <a:spcBef>
                <a:spcPts val="200"/>
              </a:spcBef>
              <a:spcAft>
                <a:spcPts val="300"/>
              </a:spcAft>
            </a:pPr>
            <a:r>
              <a:rPr sz="1180" b="0">
                <a:solidFill>
                  <a:srgbClr val="1A1A1A"/>
                </a:solidFill>
                <a:latin typeface="Times New Roman"/>
              </a:rPr>
              <a:t>▪  [5] J. Devlin et al., “BERT: Pre-training of deep bidirectional transformers,” NAACL, 2019.</a:t>
            </a:r>
          </a:p>
          <a:p>
            <a:pPr>
              <a:spcBef>
                <a:spcPts val="200"/>
              </a:spcBef>
              <a:spcAft>
                <a:spcPts val="300"/>
              </a:spcAft>
            </a:pPr>
            <a:r>
              <a:rPr sz="1180" b="0">
                <a:solidFill>
                  <a:srgbClr val="1A1A1A"/>
                </a:solidFill>
                <a:latin typeface="Times New Roman"/>
              </a:rPr>
              <a:t>▪  [6] Y. Liu et al., “RoBERTa: A robustly optimized BERT pretraining approach,” 2019.</a:t>
            </a:r>
          </a:p>
          <a:p>
            <a:pPr>
              <a:spcBef>
                <a:spcPts val="200"/>
              </a:spcBef>
              <a:spcAft>
                <a:spcPts val="300"/>
              </a:spcAft>
            </a:pPr>
            <a:r>
              <a:rPr sz="1180" b="0">
                <a:solidFill>
                  <a:srgbClr val="1A1A1A"/>
                </a:solidFill>
                <a:latin typeface="Times New Roman"/>
              </a:rPr>
              <a:t>▪  [7] F. Barbieri et al., “TweetEval: Unified benchmark for tweet classification,” EMNLP Findings, 2020.</a:t>
            </a:r>
          </a:p>
          <a:p>
            <a:pPr>
              <a:spcBef>
                <a:spcPts val="200"/>
              </a:spcBef>
              <a:spcAft>
                <a:spcPts val="300"/>
              </a:spcAft>
            </a:pPr>
            <a:r>
              <a:rPr sz="1180" b="0">
                <a:solidFill>
                  <a:srgbClr val="1A1A1A"/>
                </a:solidFill>
                <a:latin typeface="Times New Roman"/>
              </a:rPr>
              <a:t>▪  [8] S. Mohammad and P. Turney, “Crowdsourcing a word–emotion association lexicon,” 2013.</a:t>
            </a:r>
          </a:p>
          <a:p>
            <a:pPr>
              <a:spcBef>
                <a:spcPts val="200"/>
              </a:spcBef>
              <a:spcAft>
                <a:spcPts val="300"/>
              </a:spcAft>
            </a:pPr>
            <a:r>
              <a:rPr sz="1180" b="0">
                <a:solidFill>
                  <a:srgbClr val="1A1A1A"/>
                </a:solidFill>
                <a:latin typeface="Times New Roman"/>
              </a:rPr>
              <a:t>▪  [9] P. Lewis et al., “Retrieval-augmented generation for knowledge-intensive NLP tasks,” NeurIPS, 2020.</a:t>
            </a:r>
          </a:p>
          <a:p>
            <a:pPr>
              <a:spcBef>
                <a:spcPts val="200"/>
              </a:spcBef>
              <a:spcAft>
                <a:spcPts val="300"/>
              </a:spcAft>
            </a:pPr>
            <a:r>
              <a:rPr sz="1180" b="0">
                <a:solidFill>
                  <a:srgbClr val="1A1A1A"/>
                </a:solidFill>
                <a:latin typeface="Times New Roman"/>
              </a:rPr>
              <a:t>▪  [10] V. Karpukhin et al., “Dense passage retrieval for open-domain question answering,” EMNLP, 2020.</a:t>
            </a:r>
          </a:p>
          <a:p>
            <a:pPr>
              <a:spcBef>
                <a:spcPts val="200"/>
              </a:spcBef>
              <a:spcAft>
                <a:spcPts val="300"/>
              </a:spcAft>
            </a:pPr>
            <a:r>
              <a:rPr sz="1180" b="0">
                <a:solidFill>
                  <a:srgbClr val="1A1A1A"/>
                </a:solidFill>
                <a:latin typeface="Times New Roman"/>
              </a:rPr>
              <a:t>▪  [11] S. Robertson and H. Zaragoza, “The probabilistic relevance framework: BM25 and beyond,” 2009.</a:t>
            </a:r>
          </a:p>
          <a:p>
            <a:pPr>
              <a:spcBef>
                <a:spcPts val="200"/>
              </a:spcBef>
              <a:spcAft>
                <a:spcPts val="300"/>
              </a:spcAft>
            </a:pPr>
            <a:r>
              <a:rPr sz="1180" b="0">
                <a:solidFill>
                  <a:srgbClr val="1A1A1A"/>
                </a:solidFill>
                <a:latin typeface="Times New Roman"/>
              </a:rPr>
              <a:t>▪  [12] Y. Malkov and D. Yashunin, “Efficient and robust approximate nearest neighbor search using HNSW,” 2020.</a:t>
            </a:r>
          </a:p>
          <a:p>
            <a:pPr>
              <a:spcBef>
                <a:spcPts val="200"/>
              </a:spcBef>
              <a:spcAft>
                <a:spcPts val="300"/>
              </a:spcAft>
            </a:pPr>
            <a:r>
              <a:rPr sz="1180" b="0">
                <a:solidFill>
                  <a:srgbClr val="1A1A1A"/>
                </a:solidFill>
                <a:latin typeface="Times New Roman"/>
              </a:rPr>
              <a:t>▪  [13] J. Johnson et al., “Billion-scale similarity search with GPUs,” IEEE Trans. Big Data, 2021.</a:t>
            </a:r>
          </a:p>
          <a:p>
            <a:pPr>
              <a:spcBef>
                <a:spcPts val="200"/>
              </a:spcBef>
              <a:spcAft>
                <a:spcPts val="300"/>
              </a:spcAft>
            </a:pPr>
            <a:r>
              <a:rPr sz="1180" b="0">
                <a:solidFill>
                  <a:srgbClr val="1A1A1A"/>
                </a:solidFill>
                <a:latin typeface="Times New Roman"/>
              </a:rPr>
              <a:t>▪  [14] N. Reimers and I. Gurevych, “Sentence-BERT: Sentence embeddings using siamese BERT-networks,” EMNLP, 2019.</a:t>
            </a:r>
          </a:p>
        </p:txBody>
      </p:sp>
      <p:sp>
        <p:nvSpPr>
          <p:cNvPr id="5" name="TextBox 4"/>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468880"/>
            <a:ext cx="8046720" cy="2011680"/>
          </a:xfrm>
          <a:prstGeom prst="rect">
            <a:avLst/>
          </a:prstGeom>
          <a:noFill/>
        </p:spPr>
        <p:txBody>
          <a:bodyPr wrap="square">
            <a:spAutoFit/>
          </a:bodyPr>
          <a:lstStyle/>
          <a:p>
            <a:pPr algn="ctr"/>
            <a:r>
              <a:rPr sz="4000" b="1">
                <a:solidFill>
                  <a:srgbClr val="1B3A5C"/>
                </a:solidFill>
                <a:latin typeface="Times New Roman"/>
              </a:rPr>
              <a:t>Thank You</a:t>
            </a:r>
          </a:p>
          <a:p>
            <a:pPr algn="ctr"/>
            <a:r>
              <a:rPr sz="1000" b="0">
                <a:solidFill>
                  <a:srgbClr val="1A1A1A"/>
                </a:solidFill>
                <a:latin typeface="Times New Roman"/>
              </a:rPr>
              <a:t/>
            </a:r>
          </a:p>
          <a:p>
            <a:pPr algn="ctr"/>
            <a:r>
              <a:rPr sz="2000" b="0">
                <a:solidFill>
                  <a:srgbClr val="555F6B"/>
                </a:solidFill>
                <a:latin typeface="Times New Roman"/>
              </a:rPr>
              <a:t>Questions and discussion</a:t>
            </a:r>
          </a:p>
          <a:p>
            <a:pPr algn="ctr"/>
            <a:r>
              <a:rPr sz="1000" b="0">
                <a:solidFill>
                  <a:srgbClr val="1A1A1A"/>
                </a:solidFill>
                <a:latin typeface="Times New Roman"/>
              </a:rPr>
              <a:t/>
            </a:r>
          </a:p>
          <a:p>
            <a:pPr algn="ctr"/>
            <a:r>
              <a:rPr sz="1400" b="0">
                <a:solidFill>
                  <a:srgbClr val="1A1A1A"/>
                </a:solidFill>
                <a:latin typeface="Times New Roman"/>
              </a:rPr>
              <a:t>Saumya Shah  ·  Swara Wairkar  ·  Aryaman Giri  ·  Anushree Devarashetty</a:t>
            </a:r>
          </a:p>
          <a:p>
            <a:pPr algn="ctr"/>
            <a:r>
              <a:rPr sz="1400" b="1">
                <a:solidFill>
                  <a:srgbClr val="1A1A1A"/>
                </a:solidFill>
                <a:latin typeface="Times New Roman"/>
              </a:rPr>
              <a:t>Under the guidance of Dr. Shubha Puthran</a:t>
            </a:r>
          </a:p>
          <a:p>
            <a:pPr algn="ctr"/>
            <a:r>
              <a:rPr sz="1100" b="0">
                <a:solidFill>
                  <a:srgbClr val="555F6B"/>
                </a:solidFill>
                <a:latin typeface="Times New Roman"/>
              </a:rPr>
              <a:t>Computer Engineering Department, MPSTME, Mumbai Campus</a:t>
            </a:r>
          </a:p>
        </p:txBody>
      </p:sp>
      <p:sp>
        <p:nvSpPr>
          <p:cNvPr id="3" name="TextBox 2"/>
          <p:cNvSpPr txBox="1"/>
          <p:nvPr/>
        </p:nvSpPr>
        <p:spPr>
          <a:xfrm>
            <a:off x="8229600" y="6428232"/>
            <a:ext cx="566928" cy="274320"/>
          </a:xfrm>
          <a:prstGeom prst="rect">
            <a:avLst/>
          </a:prstGeom>
          <a:noFill/>
        </p:spPr>
        <p:txBody>
          <a:bodyPr wrap="none">
            <a:spAutoFit/>
          </a:bodyPr>
          <a:lstStyle/>
          <a:p>
            <a:pPr algn="r"/>
            <a:r>
              <a:rPr sz="1000">
                <a:solidFill>
                  <a:srgbClr val="555F6B"/>
                </a:solidFill>
                <a:latin typeface="Times New Roman"/>
              </a:rPr>
              <a:t>26</a:t>
            </a:r>
          </a:p>
        </p:txBody>
      </p:sp>
    </p:spTree>
  </p:cSld>
  <p:clrMapOvr>
    <a:masterClrMapping/>
  </p:clrMapOvr>
</p:sld>
</file>

<file path=ppt/theme/theme1.xml><?xml version="1.0" encoding="utf-8"?>
<a:theme xmlns:a="http://schemas.openxmlformats.org/drawingml/2006/main" xmlns:r="http://schemas.openxmlformats.org/officeDocument/2006/relationships"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Shubha Puthran</dc:creator>
</cp:coreProperties>
</file>